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sunum, DC Doktor Klinik yazılımının bugünkü sürümünde çalışan her özelliği, kurulumdan itibaren anlatır. Ekran görüntüleri gerçek uygulamanın uçtan uca testlerinden alınmıştır.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 komutu yalnızca uygulanmamış dosyaları çalıştırır; güncellemelerde yeniden çalıştırmak güvenlidir. Tarayıcı API’ye doğrudan değil, web sunucusunun /api/v1 aktarımıyla bağlanır; bu yüzden CORS gerekmez ve oturum çerezi SameSite=Strict kalabilir.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Tıbbi kayıt görüntüleme ayrıca tedavi ilişkisi şartına bağlıdır: izin olsa bile hekim yalnızca kendi hastasının kaydını açar; diğer durumlar gerekçeli acil erişim veya denetim yetkisiyle mümkündür.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jp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image" Target="../media/image-42-2.jp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image" Target="../media/image-45-2.jp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4F5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731520"/>
            <a:ext cx="1005840" cy="1005840"/>
          </a:xfrm>
          <a:prstGeom prst="rect">
            <a:avLst/>
          </a:prstGeom>
        </p:spPr>
      </p:pic>
      <p:sp>
        <p:nvSpPr>
          <p:cNvPr id="3" name="Text 0"/>
          <p:cNvSpPr txBox="1"/>
          <p:nvPr/>
        </p:nvSpPr>
        <p:spPr>
          <a:xfrm>
            <a:off x="731520" y="2148840"/>
            <a:ext cx="8229600" cy="1005840"/>
          </a:xfrm>
          <a:prstGeom prst="rect">
            <a:avLst/>
          </a:prstGeom>
          <a:noFill/>
          <a:ln/>
        </p:spPr>
        <p:txBody>
          <a:bodyPr wrap="square" lIns="0" tIns="0" rIns="0" bIns="0" rtlCol="0" anchor="t"/>
          <a:lstStyle/>
          <a:p>
            <a:pPr indent="0" marL="0">
              <a:buNone/>
            </a:pPr>
            <a:r>
              <a:rPr lang="en-US" sz="5400" b="1" dirty="0">
                <a:solidFill>
                  <a:srgbClr val="FFFFFF"/>
                </a:solidFill>
                <a:latin typeface="Calibri" pitchFamily="34" charset="0"/>
                <a:ea typeface="Calibri" pitchFamily="34" charset="-122"/>
                <a:cs typeface="Calibri" pitchFamily="34" charset="-120"/>
              </a:rPr>
              <a:t>DC Doktor Klinik</a:t>
            </a:r>
            <a:endParaRPr lang="en-US" sz="5400" dirty="0"/>
          </a:p>
        </p:txBody>
      </p:sp>
      <p:sp>
        <p:nvSpPr>
          <p:cNvPr id="4" name="Text 1"/>
          <p:cNvSpPr txBox="1"/>
          <p:nvPr/>
        </p:nvSpPr>
        <p:spPr>
          <a:xfrm>
            <a:off x="731520" y="3154680"/>
            <a:ext cx="8229600" cy="548640"/>
          </a:xfrm>
          <a:prstGeom prst="rect">
            <a:avLst/>
          </a:prstGeom>
          <a:noFill/>
          <a:ln/>
        </p:spPr>
        <p:txBody>
          <a:bodyPr wrap="square" lIns="0" tIns="0" rIns="0" bIns="0" rtlCol="0" anchor="t"/>
          <a:lstStyle/>
          <a:p>
            <a:pPr indent="0" marL="0">
              <a:buNone/>
            </a:pPr>
            <a:r>
              <a:rPr lang="en-US" sz="2400" i="1" dirty="0">
                <a:solidFill>
                  <a:srgbClr val="CFE6DF"/>
                </a:solidFill>
                <a:latin typeface="Calibri" pitchFamily="34" charset="0"/>
                <a:ea typeface="Calibri" pitchFamily="34" charset="-122"/>
                <a:cs typeface="Calibri" pitchFamily="34" charset="-120"/>
              </a:rPr>
              <a:t>Klinik yönetimi, tek ekranda.</a:t>
            </a:r>
            <a:endParaRPr lang="en-US" sz="2400" dirty="0"/>
          </a:p>
        </p:txBody>
      </p:sp>
      <p:sp>
        <p:nvSpPr>
          <p:cNvPr id="5" name="Text 2"/>
          <p:cNvSpPr txBox="1"/>
          <p:nvPr/>
        </p:nvSpPr>
        <p:spPr>
          <a:xfrm>
            <a:off x="731520" y="3977640"/>
            <a:ext cx="8229600" cy="4572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Kurulumdan günlük kullanıma ayrıntılı ürün kılavuzu</a:t>
            </a:r>
            <a:endParaRPr lang="en-US" sz="1800" dirty="0"/>
          </a:p>
        </p:txBody>
      </p:sp>
      <p:sp>
        <p:nvSpPr>
          <p:cNvPr id="6" name="Text 3"/>
          <p:cNvSpPr txBox="1"/>
          <p:nvPr/>
        </p:nvSpPr>
        <p:spPr>
          <a:xfrm>
            <a:off x="731520" y="4434840"/>
            <a:ext cx="10058400" cy="365760"/>
          </a:xfrm>
          <a:prstGeom prst="rect">
            <a:avLst/>
          </a:prstGeom>
          <a:noFill/>
          <a:ln/>
        </p:spPr>
        <p:txBody>
          <a:bodyPr wrap="square" lIns="0" tIns="0" rIns="0" bIns="0" rtlCol="0" anchor="t"/>
          <a:lstStyle/>
          <a:p>
            <a:pPr indent="0" marL="0">
              <a:buNone/>
            </a:pPr>
            <a:r>
              <a:rPr lang="en-US" sz="1400" dirty="0">
                <a:solidFill>
                  <a:srgbClr val="CFE6DF"/>
                </a:solidFill>
                <a:latin typeface="Calibri" pitchFamily="34" charset="0"/>
                <a:ea typeface="Calibri" pitchFamily="34" charset="-122"/>
                <a:cs typeface="Calibri" pitchFamily="34" charset="-120"/>
              </a:rPr>
              <a:t>Tüm modüller · Roller ve yetkiler · Kurallar ve eşikler · Güvenlik ve uyum · Ekler</a:t>
            </a:r>
            <a:endParaRPr lang="en-US" sz="1400" dirty="0"/>
          </a:p>
        </p:txBody>
      </p:sp>
      <p:sp>
        <p:nvSpPr>
          <p:cNvPr id="7" name="Text 4"/>
          <p:cNvSpPr txBox="1"/>
          <p:nvPr/>
        </p:nvSpPr>
        <p:spPr>
          <a:xfrm>
            <a:off x="731520" y="5943600"/>
            <a:ext cx="5486400" cy="320040"/>
          </a:xfrm>
          <a:prstGeom prst="rect">
            <a:avLst/>
          </a:prstGeom>
          <a:noFill/>
          <a:ln/>
        </p:spPr>
        <p:txBody>
          <a:bodyPr wrap="square" lIns="0" tIns="0" rIns="0" bIns="0" rtlCol="0" anchor="t"/>
          <a:lstStyle/>
          <a:p>
            <a:pPr indent="0" marL="0">
              <a:buNone/>
            </a:pPr>
            <a:r>
              <a:rPr lang="en-US" sz="1200" dirty="0">
                <a:solidFill>
                  <a:srgbClr val="CFE6DF"/>
                </a:solidFill>
                <a:latin typeface="Calibri" pitchFamily="34" charset="0"/>
                <a:ea typeface="Calibri" pitchFamily="34" charset="-122"/>
                <a:cs typeface="Calibri" pitchFamily="34" charset="-120"/>
              </a:rPr>
              <a:t>Sürüm: Eylül 2026 · main dalı</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İçindekiler</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Sunum altı bölüm ve eklerden oluşur; her bölüm ekran görüntüsü, kurallar ve rollerle anlatılır.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554480"/>
            <a:ext cx="3520440" cy="2011680"/>
          </a:xfrm>
          <a:prstGeom prst="roundRect">
            <a:avLst>
              <a:gd name="adj" fmla="val 4545"/>
            </a:avLst>
          </a:prstGeom>
          <a:solidFill>
            <a:srgbClr val="F1F7F5"/>
          </a:solidFill>
          <a:ln w="9525">
            <a:solidFill>
              <a:srgbClr val="CFE6DF"/>
            </a:solidFill>
            <a:prstDash val="solid"/>
          </a:ln>
        </p:spPr>
      </p:sp>
      <p:sp>
        <p:nvSpPr>
          <p:cNvPr id="7" name="Shape 5"/>
          <p:cNvSpPr/>
          <p:nvPr/>
        </p:nvSpPr>
        <p:spPr>
          <a:xfrm>
            <a:off x="777240" y="1783080"/>
            <a:ext cx="420624" cy="420624"/>
          </a:xfrm>
          <a:prstGeom prst="ellipse">
            <a:avLst/>
          </a:prstGeom>
          <a:solidFill>
            <a:srgbClr val="D9694A"/>
          </a:solidFill>
          <a:ln w="12700">
            <a:solidFill>
              <a:srgbClr val="D9694A"/>
            </a:solidFill>
            <a:prstDash val="solid"/>
          </a:ln>
        </p:spPr>
      </p:sp>
      <p:sp>
        <p:nvSpPr>
          <p:cNvPr id="8" name="Text 6"/>
          <p:cNvSpPr txBox="1"/>
          <p:nvPr/>
        </p:nvSpPr>
        <p:spPr>
          <a:xfrm>
            <a:off x="777240" y="17830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25880" y="1801368"/>
            <a:ext cx="2606040" cy="411480"/>
          </a:xfrm>
          <a:prstGeom prst="rect">
            <a:avLst/>
          </a:prstGeom>
          <a:noFill/>
          <a:ln/>
        </p:spPr>
        <p:txBody>
          <a:bodyPr wrap="square" lIns="0" tIns="0" rIns="0" bIns="0" rtlCol="0" anchor="ctr"/>
          <a:lstStyle/>
          <a:p>
            <a:pPr indent="0" marL="0">
              <a:buNone/>
            </a:pPr>
            <a:r>
              <a:rPr lang="en-US" sz="1600" b="1" dirty="0">
                <a:solidFill>
                  <a:srgbClr val="0E4F5C"/>
                </a:solidFill>
                <a:latin typeface="Calibri" pitchFamily="34" charset="0"/>
                <a:ea typeface="Calibri" pitchFamily="34" charset="-122"/>
                <a:cs typeface="Calibri" pitchFamily="34" charset="-120"/>
              </a:rPr>
              <a:t>Ürün ve temel ilkeler</a:t>
            </a:r>
            <a:endParaRPr lang="en-US" sz="1600" dirty="0"/>
          </a:p>
        </p:txBody>
      </p:sp>
      <p:sp>
        <p:nvSpPr>
          <p:cNvPr id="10" name="Text 8"/>
          <p:cNvSpPr txBox="1"/>
          <p:nvPr/>
        </p:nvSpPr>
        <p:spPr>
          <a:xfrm>
            <a:off x="777240" y="2423160"/>
            <a:ext cx="3063240" cy="1005840"/>
          </a:xfrm>
          <a:prstGeom prst="rect">
            <a:avLst/>
          </a:prstGeom>
          <a:noFill/>
          <a:ln/>
        </p:spPr>
        <p:txBody>
          <a:bodyPr wrap="square" lIns="0" tIns="0" rIns="0" bIns="0" rtlCol="0" anchor="t"/>
          <a:lstStyle/>
          <a:p>
            <a:pPr indent="0" marL="0">
              <a:buNone/>
            </a:pPr>
            <a:r>
              <a:rPr lang="en-US" sz="1250" dirty="0">
                <a:solidFill>
                  <a:srgbClr val="3D4F57"/>
                </a:solidFill>
                <a:latin typeface="Calibri" pitchFamily="34" charset="0"/>
                <a:ea typeface="Calibri" pitchFamily="34" charset="-122"/>
                <a:cs typeface="Calibri" pitchFamily="34" charset="-120"/>
              </a:rPr>
              <a:t>Ne işe yarar, kurum tipleri, yönetim ayrımı, mimari</a:t>
            </a:r>
            <a:endParaRPr lang="en-US" sz="1250" dirty="0"/>
          </a:p>
        </p:txBody>
      </p:sp>
      <p:sp>
        <p:nvSpPr>
          <p:cNvPr id="11" name="Shape 9"/>
          <p:cNvSpPr/>
          <p:nvPr/>
        </p:nvSpPr>
        <p:spPr>
          <a:xfrm>
            <a:off x="4297680" y="1554480"/>
            <a:ext cx="3520440" cy="2011680"/>
          </a:xfrm>
          <a:prstGeom prst="roundRect">
            <a:avLst>
              <a:gd name="adj" fmla="val 4545"/>
            </a:avLst>
          </a:prstGeom>
          <a:solidFill>
            <a:srgbClr val="F1F7F5"/>
          </a:solidFill>
          <a:ln w="9525">
            <a:solidFill>
              <a:srgbClr val="CFE6DF"/>
            </a:solidFill>
            <a:prstDash val="solid"/>
          </a:ln>
        </p:spPr>
      </p:sp>
      <p:sp>
        <p:nvSpPr>
          <p:cNvPr id="12" name="Shape 10"/>
          <p:cNvSpPr/>
          <p:nvPr/>
        </p:nvSpPr>
        <p:spPr>
          <a:xfrm>
            <a:off x="4526280" y="1783080"/>
            <a:ext cx="420624" cy="420624"/>
          </a:xfrm>
          <a:prstGeom prst="ellipse">
            <a:avLst/>
          </a:prstGeom>
          <a:solidFill>
            <a:srgbClr val="D9694A"/>
          </a:solidFill>
          <a:ln w="12700">
            <a:solidFill>
              <a:srgbClr val="D9694A"/>
            </a:solidFill>
            <a:prstDash val="solid"/>
          </a:ln>
        </p:spPr>
      </p:sp>
      <p:sp>
        <p:nvSpPr>
          <p:cNvPr id="13" name="Text 11"/>
          <p:cNvSpPr txBox="1"/>
          <p:nvPr/>
        </p:nvSpPr>
        <p:spPr>
          <a:xfrm>
            <a:off x="4526280" y="17830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5074920" y="1801368"/>
            <a:ext cx="2606040" cy="411480"/>
          </a:xfrm>
          <a:prstGeom prst="rect">
            <a:avLst/>
          </a:prstGeom>
          <a:noFill/>
          <a:ln/>
        </p:spPr>
        <p:txBody>
          <a:bodyPr wrap="square" lIns="0" tIns="0" rIns="0" bIns="0" rtlCol="0" anchor="ctr"/>
          <a:lstStyle/>
          <a:p>
            <a:pPr indent="0" marL="0">
              <a:buNone/>
            </a:pPr>
            <a:r>
              <a:rPr lang="en-US" sz="1600" b="1" dirty="0">
                <a:solidFill>
                  <a:srgbClr val="0E4F5C"/>
                </a:solidFill>
                <a:latin typeface="Calibri" pitchFamily="34" charset="0"/>
                <a:ea typeface="Calibri" pitchFamily="34" charset="-122"/>
                <a:cs typeface="Calibri" pitchFamily="34" charset="-120"/>
              </a:rPr>
              <a:t>Kurulum</a:t>
            </a:r>
            <a:endParaRPr lang="en-US" sz="1600" dirty="0"/>
          </a:p>
        </p:txBody>
      </p:sp>
      <p:sp>
        <p:nvSpPr>
          <p:cNvPr id="15" name="Text 13"/>
          <p:cNvSpPr txBox="1"/>
          <p:nvPr/>
        </p:nvSpPr>
        <p:spPr>
          <a:xfrm>
            <a:off x="4526280" y="2423160"/>
            <a:ext cx="3063240" cy="1005840"/>
          </a:xfrm>
          <a:prstGeom prst="rect">
            <a:avLst/>
          </a:prstGeom>
          <a:noFill/>
          <a:ln/>
        </p:spPr>
        <p:txBody>
          <a:bodyPr wrap="square" lIns="0" tIns="0" rIns="0" bIns="0" rtlCol="0" anchor="t"/>
          <a:lstStyle/>
          <a:p>
            <a:pPr indent="0" marL="0">
              <a:buNone/>
            </a:pPr>
            <a:r>
              <a:rPr lang="en-US" sz="1250" dirty="0">
                <a:solidFill>
                  <a:srgbClr val="3D4F57"/>
                </a:solidFill>
                <a:latin typeface="Calibri" pitchFamily="34" charset="0"/>
                <a:ea typeface="Calibri" pitchFamily="34" charset="-122"/>
                <a:cs typeface="Calibri" pitchFamily="34" charset="-120"/>
              </a:rPr>
              <a:t>Gereksinimler, ortam değişkenleri, adım adım kurulum, testler, canlıya çıkış</a:t>
            </a:r>
            <a:endParaRPr lang="en-US" sz="1250" dirty="0"/>
          </a:p>
        </p:txBody>
      </p:sp>
      <p:sp>
        <p:nvSpPr>
          <p:cNvPr id="16" name="Shape 14"/>
          <p:cNvSpPr/>
          <p:nvPr/>
        </p:nvSpPr>
        <p:spPr>
          <a:xfrm>
            <a:off x="8046720" y="1554480"/>
            <a:ext cx="3520440" cy="2011680"/>
          </a:xfrm>
          <a:prstGeom prst="roundRect">
            <a:avLst>
              <a:gd name="adj" fmla="val 4545"/>
            </a:avLst>
          </a:prstGeom>
          <a:solidFill>
            <a:srgbClr val="F1F7F5"/>
          </a:solidFill>
          <a:ln w="9525">
            <a:solidFill>
              <a:srgbClr val="CFE6DF"/>
            </a:solidFill>
            <a:prstDash val="solid"/>
          </a:ln>
        </p:spPr>
      </p:sp>
      <p:sp>
        <p:nvSpPr>
          <p:cNvPr id="17" name="Shape 15"/>
          <p:cNvSpPr/>
          <p:nvPr/>
        </p:nvSpPr>
        <p:spPr>
          <a:xfrm>
            <a:off x="8275320" y="1783080"/>
            <a:ext cx="420624" cy="420624"/>
          </a:xfrm>
          <a:prstGeom prst="ellipse">
            <a:avLst/>
          </a:prstGeom>
          <a:solidFill>
            <a:srgbClr val="D9694A"/>
          </a:solidFill>
          <a:ln w="12700">
            <a:solidFill>
              <a:srgbClr val="D9694A"/>
            </a:solidFill>
            <a:prstDash val="solid"/>
          </a:ln>
        </p:spPr>
      </p:sp>
      <p:sp>
        <p:nvSpPr>
          <p:cNvPr id="18" name="Text 16"/>
          <p:cNvSpPr txBox="1"/>
          <p:nvPr/>
        </p:nvSpPr>
        <p:spPr>
          <a:xfrm>
            <a:off x="8275320" y="17830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823960" y="1801368"/>
            <a:ext cx="2606040" cy="411480"/>
          </a:xfrm>
          <a:prstGeom prst="rect">
            <a:avLst/>
          </a:prstGeom>
          <a:noFill/>
          <a:ln/>
        </p:spPr>
        <p:txBody>
          <a:bodyPr wrap="square" lIns="0" tIns="0" rIns="0" bIns="0" rtlCol="0" anchor="ctr"/>
          <a:lstStyle/>
          <a:p>
            <a:pPr indent="0" marL="0">
              <a:buNone/>
            </a:pPr>
            <a:r>
              <a:rPr lang="en-US" sz="1600" b="1" dirty="0">
                <a:solidFill>
                  <a:srgbClr val="0E4F5C"/>
                </a:solidFill>
                <a:latin typeface="Calibri" pitchFamily="34" charset="0"/>
                <a:ea typeface="Calibri" pitchFamily="34" charset="-122"/>
                <a:cs typeface="Calibri" pitchFamily="34" charset="-120"/>
              </a:rPr>
              <a:t>İlk kurulum ve yetkiler</a:t>
            </a:r>
            <a:endParaRPr lang="en-US" sz="1600" dirty="0"/>
          </a:p>
        </p:txBody>
      </p:sp>
      <p:sp>
        <p:nvSpPr>
          <p:cNvPr id="20" name="Text 18"/>
          <p:cNvSpPr txBox="1"/>
          <p:nvPr/>
        </p:nvSpPr>
        <p:spPr>
          <a:xfrm>
            <a:off x="8275320" y="2423160"/>
            <a:ext cx="3063240" cy="1005840"/>
          </a:xfrm>
          <a:prstGeom prst="rect">
            <a:avLst/>
          </a:prstGeom>
          <a:noFill/>
          <a:ln/>
        </p:spPr>
        <p:txBody>
          <a:bodyPr wrap="square" lIns="0" tIns="0" rIns="0" bIns="0" rtlCol="0" anchor="t"/>
          <a:lstStyle/>
          <a:p>
            <a:pPr indent="0" marL="0">
              <a:buNone/>
            </a:pPr>
            <a:r>
              <a:rPr lang="en-US" sz="1250" dirty="0">
                <a:solidFill>
                  <a:srgbClr val="3D4F57"/>
                </a:solidFill>
                <a:latin typeface="Calibri" pitchFamily="34" charset="0"/>
                <a:ea typeface="Calibri" pitchFamily="34" charset="-122"/>
                <a:cs typeface="Calibri" pitchFamily="34" charset="-120"/>
              </a:rPr>
              <a:t>Kayıt sihirbazı, kullanıcılar, roller, yetki matrisi, şube kapsamı</a:t>
            </a:r>
            <a:endParaRPr lang="en-US" sz="1250" dirty="0"/>
          </a:p>
        </p:txBody>
      </p:sp>
      <p:sp>
        <p:nvSpPr>
          <p:cNvPr id="21" name="Shape 19"/>
          <p:cNvSpPr/>
          <p:nvPr/>
        </p:nvSpPr>
        <p:spPr>
          <a:xfrm>
            <a:off x="548640" y="3794760"/>
            <a:ext cx="3520440" cy="2011680"/>
          </a:xfrm>
          <a:prstGeom prst="roundRect">
            <a:avLst>
              <a:gd name="adj" fmla="val 4545"/>
            </a:avLst>
          </a:prstGeom>
          <a:solidFill>
            <a:srgbClr val="F1F7F5"/>
          </a:solidFill>
          <a:ln w="9525">
            <a:solidFill>
              <a:srgbClr val="CFE6DF"/>
            </a:solidFill>
            <a:prstDash val="solid"/>
          </a:ln>
        </p:spPr>
      </p:sp>
      <p:sp>
        <p:nvSpPr>
          <p:cNvPr id="22" name="Shape 20"/>
          <p:cNvSpPr/>
          <p:nvPr/>
        </p:nvSpPr>
        <p:spPr>
          <a:xfrm>
            <a:off x="777240" y="4023360"/>
            <a:ext cx="420624" cy="420624"/>
          </a:xfrm>
          <a:prstGeom prst="ellipse">
            <a:avLst/>
          </a:prstGeom>
          <a:solidFill>
            <a:srgbClr val="D9694A"/>
          </a:solidFill>
          <a:ln w="12700">
            <a:solidFill>
              <a:srgbClr val="D9694A"/>
            </a:solidFill>
            <a:prstDash val="solid"/>
          </a:ln>
        </p:spPr>
      </p:sp>
      <p:sp>
        <p:nvSpPr>
          <p:cNvPr id="23" name="Text 21"/>
          <p:cNvSpPr txBox="1"/>
          <p:nvPr/>
        </p:nvSpPr>
        <p:spPr>
          <a:xfrm>
            <a:off x="777240" y="40233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1325880" y="4041648"/>
            <a:ext cx="2606040" cy="411480"/>
          </a:xfrm>
          <a:prstGeom prst="rect">
            <a:avLst/>
          </a:prstGeom>
          <a:noFill/>
          <a:ln/>
        </p:spPr>
        <p:txBody>
          <a:bodyPr wrap="square" lIns="0" tIns="0" rIns="0" bIns="0" rtlCol="0" anchor="ctr"/>
          <a:lstStyle/>
          <a:p>
            <a:pPr indent="0" marL="0">
              <a:buNone/>
            </a:pPr>
            <a:r>
              <a:rPr lang="en-US" sz="1600" b="1" dirty="0">
                <a:solidFill>
                  <a:srgbClr val="0E4F5C"/>
                </a:solidFill>
                <a:latin typeface="Calibri" pitchFamily="34" charset="0"/>
                <a:ea typeface="Calibri" pitchFamily="34" charset="-122"/>
                <a:cs typeface="Calibri" pitchFamily="34" charset="-120"/>
              </a:rPr>
              <a:t>Günlük operasyon</a:t>
            </a:r>
            <a:endParaRPr lang="en-US" sz="1600" dirty="0"/>
          </a:p>
        </p:txBody>
      </p:sp>
      <p:sp>
        <p:nvSpPr>
          <p:cNvPr id="25" name="Text 23"/>
          <p:cNvSpPr txBox="1"/>
          <p:nvPr/>
        </p:nvSpPr>
        <p:spPr>
          <a:xfrm>
            <a:off x="777240" y="4663440"/>
            <a:ext cx="3063240" cy="1005840"/>
          </a:xfrm>
          <a:prstGeom prst="rect">
            <a:avLst/>
          </a:prstGeom>
          <a:noFill/>
          <a:ln/>
        </p:spPr>
        <p:txBody>
          <a:bodyPr wrap="square" lIns="0" tIns="0" rIns="0" bIns="0" rtlCol="0" anchor="t"/>
          <a:lstStyle/>
          <a:p>
            <a:pPr indent="0" marL="0">
              <a:buNone/>
            </a:pPr>
            <a:r>
              <a:rPr lang="en-US" sz="1250" dirty="0">
                <a:solidFill>
                  <a:srgbClr val="3D4F57"/>
                </a:solidFill>
                <a:latin typeface="Calibri" pitchFamily="34" charset="0"/>
                <a:ea typeface="Calibri" pitchFamily="34" charset="-122"/>
                <a:cs typeface="Calibri" pitchFamily="34" charset="-120"/>
              </a:rPr>
              <a:t>Komuta Merkezi, hasta, randevu, muayene, finans</a:t>
            </a:r>
            <a:endParaRPr lang="en-US" sz="1250" dirty="0"/>
          </a:p>
        </p:txBody>
      </p:sp>
      <p:sp>
        <p:nvSpPr>
          <p:cNvPr id="26" name="Shape 24"/>
          <p:cNvSpPr/>
          <p:nvPr/>
        </p:nvSpPr>
        <p:spPr>
          <a:xfrm>
            <a:off x="4297680" y="3794760"/>
            <a:ext cx="3520440" cy="2011680"/>
          </a:xfrm>
          <a:prstGeom prst="roundRect">
            <a:avLst>
              <a:gd name="adj" fmla="val 4545"/>
            </a:avLst>
          </a:prstGeom>
          <a:solidFill>
            <a:srgbClr val="F1F7F5"/>
          </a:solidFill>
          <a:ln w="9525">
            <a:solidFill>
              <a:srgbClr val="CFE6DF"/>
            </a:solidFill>
            <a:prstDash val="solid"/>
          </a:ln>
        </p:spPr>
      </p:sp>
      <p:sp>
        <p:nvSpPr>
          <p:cNvPr id="27" name="Shape 25"/>
          <p:cNvSpPr/>
          <p:nvPr/>
        </p:nvSpPr>
        <p:spPr>
          <a:xfrm>
            <a:off x="4526280" y="4023360"/>
            <a:ext cx="420624" cy="420624"/>
          </a:xfrm>
          <a:prstGeom prst="ellipse">
            <a:avLst/>
          </a:prstGeom>
          <a:solidFill>
            <a:srgbClr val="D9694A"/>
          </a:solidFill>
          <a:ln w="12700">
            <a:solidFill>
              <a:srgbClr val="D9694A"/>
            </a:solidFill>
            <a:prstDash val="solid"/>
          </a:ln>
        </p:spPr>
      </p:sp>
      <p:sp>
        <p:nvSpPr>
          <p:cNvPr id="28" name="Text 26"/>
          <p:cNvSpPr txBox="1"/>
          <p:nvPr/>
        </p:nvSpPr>
        <p:spPr>
          <a:xfrm>
            <a:off x="4526280" y="40233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5074920" y="4041648"/>
            <a:ext cx="2606040" cy="411480"/>
          </a:xfrm>
          <a:prstGeom prst="rect">
            <a:avLst/>
          </a:prstGeom>
          <a:noFill/>
          <a:ln/>
        </p:spPr>
        <p:txBody>
          <a:bodyPr wrap="square" lIns="0" tIns="0" rIns="0" bIns="0" rtlCol="0" anchor="ctr"/>
          <a:lstStyle/>
          <a:p>
            <a:pPr indent="0" marL="0">
              <a:buNone/>
            </a:pPr>
            <a:r>
              <a:rPr lang="en-US" sz="1600" b="1" dirty="0">
                <a:solidFill>
                  <a:srgbClr val="0E4F5C"/>
                </a:solidFill>
                <a:latin typeface="Calibri" pitchFamily="34" charset="0"/>
                <a:ea typeface="Calibri" pitchFamily="34" charset="-122"/>
                <a:cs typeface="Calibri" pitchFamily="34" charset="-120"/>
              </a:rPr>
              <a:t>Kurum yönetimi</a:t>
            </a:r>
            <a:endParaRPr lang="en-US" sz="1600" dirty="0"/>
          </a:p>
        </p:txBody>
      </p:sp>
      <p:sp>
        <p:nvSpPr>
          <p:cNvPr id="30" name="Text 28"/>
          <p:cNvSpPr txBox="1"/>
          <p:nvPr/>
        </p:nvSpPr>
        <p:spPr>
          <a:xfrm>
            <a:off x="4526280" y="4663440"/>
            <a:ext cx="3063240" cy="1005840"/>
          </a:xfrm>
          <a:prstGeom prst="rect">
            <a:avLst/>
          </a:prstGeom>
          <a:noFill/>
          <a:ln/>
        </p:spPr>
        <p:txBody>
          <a:bodyPr wrap="square" lIns="0" tIns="0" rIns="0" bIns="0" rtlCol="0" anchor="t"/>
          <a:lstStyle/>
          <a:p>
            <a:pPr indent="0" marL="0">
              <a:buNone/>
            </a:pPr>
            <a:r>
              <a:rPr lang="en-US" sz="1250" dirty="0">
                <a:solidFill>
                  <a:srgbClr val="3D4F57"/>
                </a:solidFill>
                <a:latin typeface="Calibri" pitchFamily="34" charset="0"/>
                <a:ea typeface="Calibri" pitchFamily="34" charset="-122"/>
                <a:cs typeface="Calibri" pitchFamily="34" charset="-120"/>
              </a:rPr>
              <a:t>Personel ve belgeler, nöbet, stok ve ilaç, kalite, alarmlar</a:t>
            </a:r>
            <a:endParaRPr lang="en-US" sz="1250" dirty="0"/>
          </a:p>
        </p:txBody>
      </p:sp>
      <p:sp>
        <p:nvSpPr>
          <p:cNvPr id="31" name="Shape 29"/>
          <p:cNvSpPr/>
          <p:nvPr/>
        </p:nvSpPr>
        <p:spPr>
          <a:xfrm>
            <a:off x="8046720" y="3794760"/>
            <a:ext cx="3520440" cy="2011680"/>
          </a:xfrm>
          <a:prstGeom prst="roundRect">
            <a:avLst>
              <a:gd name="adj" fmla="val 4545"/>
            </a:avLst>
          </a:prstGeom>
          <a:solidFill>
            <a:srgbClr val="F1F7F5"/>
          </a:solidFill>
          <a:ln w="9525">
            <a:solidFill>
              <a:srgbClr val="CFE6DF"/>
            </a:solidFill>
            <a:prstDash val="solid"/>
          </a:ln>
        </p:spPr>
      </p:sp>
      <p:sp>
        <p:nvSpPr>
          <p:cNvPr id="32" name="Shape 30"/>
          <p:cNvSpPr/>
          <p:nvPr/>
        </p:nvSpPr>
        <p:spPr>
          <a:xfrm>
            <a:off x="8275320" y="4023360"/>
            <a:ext cx="420624" cy="420624"/>
          </a:xfrm>
          <a:prstGeom prst="ellipse">
            <a:avLst/>
          </a:prstGeom>
          <a:solidFill>
            <a:srgbClr val="D9694A"/>
          </a:solidFill>
          <a:ln w="12700">
            <a:solidFill>
              <a:srgbClr val="D9694A"/>
            </a:solidFill>
            <a:prstDash val="solid"/>
          </a:ln>
        </p:spPr>
      </p:sp>
      <p:sp>
        <p:nvSpPr>
          <p:cNvPr id="33" name="Text 31"/>
          <p:cNvSpPr txBox="1"/>
          <p:nvPr/>
        </p:nvSpPr>
        <p:spPr>
          <a:xfrm>
            <a:off x="8275320" y="40233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txBox="1"/>
          <p:nvPr/>
        </p:nvSpPr>
        <p:spPr>
          <a:xfrm>
            <a:off x="8823960" y="4041648"/>
            <a:ext cx="2606040" cy="411480"/>
          </a:xfrm>
          <a:prstGeom prst="rect">
            <a:avLst/>
          </a:prstGeom>
          <a:noFill/>
          <a:ln/>
        </p:spPr>
        <p:txBody>
          <a:bodyPr wrap="square" lIns="0" tIns="0" rIns="0" bIns="0" rtlCol="0" anchor="ctr"/>
          <a:lstStyle/>
          <a:p>
            <a:pPr indent="0" marL="0">
              <a:buNone/>
            </a:pPr>
            <a:r>
              <a:rPr lang="en-US" sz="1600" b="1" dirty="0">
                <a:solidFill>
                  <a:srgbClr val="0E4F5C"/>
                </a:solidFill>
                <a:latin typeface="Calibri" pitchFamily="34" charset="0"/>
                <a:ea typeface="Calibri" pitchFamily="34" charset="-122"/>
                <a:cs typeface="Calibri" pitchFamily="34" charset="-120"/>
              </a:rPr>
              <a:t>Güvenlik, uyum ve kalite</a:t>
            </a:r>
            <a:endParaRPr lang="en-US" sz="1600" dirty="0"/>
          </a:p>
        </p:txBody>
      </p:sp>
      <p:sp>
        <p:nvSpPr>
          <p:cNvPr id="35" name="Text 33"/>
          <p:cNvSpPr txBox="1"/>
          <p:nvPr/>
        </p:nvSpPr>
        <p:spPr>
          <a:xfrm>
            <a:off x="8275320" y="4663440"/>
            <a:ext cx="3063240" cy="1005840"/>
          </a:xfrm>
          <a:prstGeom prst="rect">
            <a:avLst/>
          </a:prstGeom>
          <a:noFill/>
          <a:ln/>
        </p:spPr>
        <p:txBody>
          <a:bodyPr wrap="square" lIns="0" tIns="0" rIns="0" bIns="0" rtlCol="0" anchor="t"/>
          <a:lstStyle/>
          <a:p>
            <a:pPr indent="0" marL="0">
              <a:buNone/>
            </a:pPr>
            <a:r>
              <a:rPr lang="en-US" sz="1250" dirty="0">
                <a:solidFill>
                  <a:srgbClr val="3D4F57"/>
                </a:solidFill>
                <a:latin typeface="Calibri" pitchFamily="34" charset="0"/>
                <a:ea typeface="Calibri" pitchFamily="34" charset="-122"/>
                <a:cs typeface="Calibri" pitchFamily="34" charset="-120"/>
              </a:rPr>
              <a:t>Veri güvenliği, denetim izi, dört göz, KVKK, testler, yol haritası</a:t>
            </a:r>
            <a:endParaRPr lang="en-US" sz="1250" dirty="0"/>
          </a:p>
        </p:txBody>
      </p:sp>
      <p:sp>
        <p:nvSpPr>
          <p:cNvPr id="36" name="Text 34"/>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200" i="1" dirty="0">
                <a:solidFill>
                  <a:srgbClr val="B4502F"/>
                </a:solidFill>
                <a:latin typeface="Calibri" pitchFamily="34" charset="0"/>
                <a:ea typeface="Calibri" pitchFamily="34" charset="-122"/>
                <a:cs typeface="Calibri" pitchFamily="34" charset="-120"/>
              </a:rPr>
              <a:t>Ekler: izin kataloğu · rol izinleri · belge katalogları · kurum tipi profilleri · denetim kaydı türleri · hata mesajları · API uç noktaları · alınan kararlar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4F5C"/>
        </a:solidFill>
      </p:bgPr>
    </p:bg>
    <p:spTree>
      <p:nvGrpSpPr>
        <p:cNvPr id="1" name=""/>
        <p:cNvGrpSpPr/>
        <p:nvPr/>
      </p:nvGrpSpPr>
      <p:grpSpPr>
        <a:xfrm>
          <a:off x="0" y="0"/>
          <a:ext cx="0" cy="0"/>
          <a:chOff x="0" y="0"/>
          <a:chExt cx="0" cy="0"/>
        </a:xfrm>
      </p:grpSpPr>
      <p:sp>
        <p:nvSpPr>
          <p:cNvPr id="2" name="Text 0"/>
          <p:cNvSpPr txBox="1"/>
          <p:nvPr/>
        </p:nvSpPr>
        <p:spPr>
          <a:xfrm>
            <a:off x="731520" y="1188720"/>
            <a:ext cx="2743200" cy="1280160"/>
          </a:xfrm>
          <a:prstGeom prst="rect">
            <a:avLst/>
          </a:prstGeom>
          <a:noFill/>
          <a:ln/>
        </p:spPr>
        <p:txBody>
          <a:bodyPr wrap="square" lIns="0" tIns="0" rIns="0" bIns="0" rtlCol="0" anchor="t"/>
          <a:lstStyle/>
          <a:p>
            <a:pPr indent="0" marL="0">
              <a:buNone/>
            </a:pPr>
            <a:r>
              <a:rPr lang="en-US" sz="8800" b="1" dirty="0">
                <a:solidFill>
                  <a:srgbClr val="D9694A"/>
                </a:solidFill>
                <a:latin typeface="Calibri" pitchFamily="34" charset="0"/>
                <a:ea typeface="Calibri" pitchFamily="34" charset="-122"/>
                <a:cs typeface="Calibri" pitchFamily="34" charset="-120"/>
              </a:rPr>
              <a:t>01</a:t>
            </a:r>
            <a:endParaRPr lang="en-US" sz="8800" dirty="0"/>
          </a:p>
        </p:txBody>
      </p:sp>
      <p:sp>
        <p:nvSpPr>
          <p:cNvPr id="3" name="Text 1"/>
          <p:cNvSpPr txBox="1"/>
          <p:nvPr/>
        </p:nvSpPr>
        <p:spPr>
          <a:xfrm>
            <a:off x="731520" y="2560320"/>
            <a:ext cx="7315200" cy="9144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Ürün ve temel ilkeler</a:t>
            </a:r>
            <a:endParaRPr lang="en-US" sz="4000" dirty="0"/>
          </a:p>
        </p:txBody>
      </p:sp>
      <p:sp>
        <p:nvSpPr>
          <p:cNvPr id="4" name="Text 2"/>
          <p:cNvSpPr txBox="1"/>
          <p:nvPr/>
        </p:nvSpPr>
        <p:spPr>
          <a:xfrm>
            <a:off x="731520" y="3520440"/>
            <a:ext cx="6766560" cy="1097280"/>
          </a:xfrm>
          <a:prstGeom prst="rect">
            <a:avLst/>
          </a:prstGeom>
          <a:noFill/>
          <a:ln/>
        </p:spPr>
        <p:txBody>
          <a:bodyPr wrap="square" lIns="0" tIns="0" rIns="0" bIns="0" rtlCol="0" anchor="t"/>
          <a:lstStyle/>
          <a:p>
            <a:pPr indent="0" marL="0">
              <a:buNone/>
            </a:pPr>
            <a:r>
              <a:rPr lang="en-US" sz="1600" dirty="0">
                <a:solidFill>
                  <a:srgbClr val="CFE6DF"/>
                </a:solidFill>
                <a:latin typeface="Calibri" pitchFamily="34" charset="0"/>
                <a:ea typeface="Calibri" pitchFamily="34" charset="-122"/>
                <a:cs typeface="Calibri" pitchFamily="34" charset="-120"/>
              </a:rPr>
              <a:t>DC Doktor Klinik; poliklinik, muayenehane, diş, estetik, fizik tedavi, veteriner ve evde sağlık kurumlarının tüm işini tek uygulamada toplayan, çok kurumlu (SaaS) bir yönetim yazılımıdır.</a:t>
            </a:r>
            <a:endParaRPr lang="en-US" sz="1600" dirty="0"/>
          </a:p>
        </p:txBody>
      </p:sp>
      <p:sp>
        <p:nvSpPr>
          <p:cNvPr id="5" name="Text 3"/>
          <p:cNvSpPr txBox="1"/>
          <p:nvPr/>
        </p:nvSpPr>
        <p:spPr>
          <a:xfrm>
            <a:off x="8138160" y="1371600"/>
            <a:ext cx="3566160" cy="4389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Ne işe yarar?</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Kurum tipleri</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Yönetim ayrımı</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Tasarım ilkeleri</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Mimari</a:t>
            </a:r>
            <a:endParaRPr lang="en-US" sz="1500" dirty="0"/>
          </a:p>
        </p:txBody>
      </p:sp>
      <p:pic>
        <p:nvPicPr>
          <p:cNvPr id="6" name="Image 0" descr="preencoded.png">    </p:cNvPr>
          <p:cNvPicPr>
            <a:picLocks noChangeAspect="1"/>
          </p:cNvPicPr>
          <p:nvPr/>
        </p:nvPicPr>
        <p:blipFill>
          <a:blip r:embed="rId1">
            <a:alphaModFix amt="80000"/>
          </a:blip>
          <a:stretch>
            <a:fillRect/>
          </a:stretch>
        </p:blipFill>
        <p:spPr>
          <a:xfrm>
            <a:off x="10957255" y="5806440"/>
            <a:ext cx="640080" cy="6400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Ne işe yarar?</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Kurum sahibi kliniğe uğramasa, hekim olmasa bile işletmeyi tek ekrandan güvenle yönetebilsin diye tasarlandı.</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508760"/>
            <a:ext cx="5394960" cy="2148840"/>
          </a:xfrm>
          <a:prstGeom prst="roundRect">
            <a:avLst>
              <a:gd name="adj" fmla="val 4255"/>
            </a:avLst>
          </a:prstGeom>
          <a:solidFill>
            <a:srgbClr val="F1F7F5"/>
          </a:solidFill>
          <a:ln w="9525">
            <a:solidFill>
              <a:srgbClr val="CFE6DF"/>
            </a:solidFill>
            <a:prstDash val="solid"/>
          </a:ln>
        </p:spPr>
      </p:sp>
      <p:sp>
        <p:nvSpPr>
          <p:cNvPr id="7" name="Text 5"/>
          <p:cNvSpPr txBox="1"/>
          <p:nvPr/>
        </p:nvSpPr>
        <p:spPr>
          <a:xfrm>
            <a:off x="713232" y="1636776"/>
            <a:ext cx="506577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Tek ekrandan yönetim</a:t>
            </a:r>
            <a:endParaRPr lang="en-US" sz="1400" dirty="0"/>
          </a:p>
        </p:txBody>
      </p:sp>
      <p:sp>
        <p:nvSpPr>
          <p:cNvPr id="8" name="Text 6"/>
          <p:cNvSpPr txBox="1"/>
          <p:nvPr/>
        </p:nvSpPr>
        <p:spPr>
          <a:xfrm>
            <a:off x="713232" y="2011680"/>
            <a:ext cx="5065776" cy="1554480"/>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Komuta Merkezi: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bugünkü randevu, ciro, alacak, bekleme süresi, 14 günlük tahsilat, alarmlar</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Alarm motoru: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süresi dolan belge, SKT, kritik stok, nöbet, şikâyet, DÖF — herkese kendi sorumluluğu</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Her şube ayrı veya tümü birlikte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(konsolide) görülebilir</a:t>
            </a:r>
            <a:endParaRPr lang="en-US" sz="1150" dirty="0"/>
          </a:p>
        </p:txBody>
      </p:sp>
      <p:sp>
        <p:nvSpPr>
          <p:cNvPr id="9" name="Shape 7"/>
          <p:cNvSpPr/>
          <p:nvPr/>
        </p:nvSpPr>
        <p:spPr>
          <a:xfrm>
            <a:off x="6245352" y="1508760"/>
            <a:ext cx="5394960" cy="2148840"/>
          </a:xfrm>
          <a:prstGeom prst="roundRect">
            <a:avLst>
              <a:gd name="adj" fmla="val 4255"/>
            </a:avLst>
          </a:prstGeom>
          <a:solidFill>
            <a:srgbClr val="F1F7F5"/>
          </a:solidFill>
          <a:ln w="9525">
            <a:solidFill>
              <a:srgbClr val="CFE6DF"/>
            </a:solidFill>
            <a:prstDash val="solid"/>
          </a:ln>
        </p:spPr>
      </p:sp>
      <p:sp>
        <p:nvSpPr>
          <p:cNvPr id="10" name="Text 8"/>
          <p:cNvSpPr txBox="1"/>
          <p:nvPr/>
        </p:nvSpPr>
        <p:spPr>
          <a:xfrm>
            <a:off x="6409944" y="1636776"/>
            <a:ext cx="506577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Klinik iş akışı</a:t>
            </a:r>
            <a:endParaRPr lang="en-US" sz="1400" dirty="0"/>
          </a:p>
        </p:txBody>
      </p:sp>
      <p:sp>
        <p:nvSpPr>
          <p:cNvPr id="11" name="Text 9"/>
          <p:cNvSpPr txBox="1"/>
          <p:nvPr/>
        </p:nvSpPr>
        <p:spPr>
          <a:xfrm>
            <a:off x="6409944" y="2011680"/>
            <a:ext cx="5065776" cy="1554480"/>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Hasta kaydı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ve KVKK aydınlatma / açık rıza</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Randevu, kabul, bekleme salonu,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muayene kaydı, tanı, reçete taslağı, imza</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Tahsilat, iade, gün sonu kasa;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hizmet ve fiyat kataloğu</a:t>
            </a:r>
            <a:endParaRPr lang="en-US" sz="1150" dirty="0"/>
          </a:p>
        </p:txBody>
      </p:sp>
      <p:sp>
        <p:nvSpPr>
          <p:cNvPr id="12" name="Shape 10"/>
          <p:cNvSpPr/>
          <p:nvPr/>
        </p:nvSpPr>
        <p:spPr>
          <a:xfrm>
            <a:off x="548640" y="3840480"/>
            <a:ext cx="5394960" cy="2286000"/>
          </a:xfrm>
          <a:prstGeom prst="roundRect">
            <a:avLst>
              <a:gd name="adj" fmla="val 4000"/>
            </a:avLst>
          </a:prstGeom>
          <a:solidFill>
            <a:srgbClr val="F1F7F5"/>
          </a:solidFill>
          <a:ln w="9525">
            <a:solidFill>
              <a:srgbClr val="CFE6DF"/>
            </a:solidFill>
            <a:prstDash val="solid"/>
          </a:ln>
        </p:spPr>
      </p:sp>
      <p:sp>
        <p:nvSpPr>
          <p:cNvPr id="13" name="Text 11"/>
          <p:cNvSpPr txBox="1"/>
          <p:nvPr/>
        </p:nvSpPr>
        <p:spPr>
          <a:xfrm>
            <a:off x="713232" y="3968496"/>
            <a:ext cx="506577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Kurum yönetimi</a:t>
            </a:r>
            <a:endParaRPr lang="en-US" sz="1400" dirty="0"/>
          </a:p>
        </p:txBody>
      </p:sp>
      <p:sp>
        <p:nvSpPr>
          <p:cNvPr id="14" name="Text 12"/>
          <p:cNvSpPr txBox="1"/>
          <p:nvPr/>
        </p:nvSpPr>
        <p:spPr>
          <a:xfrm>
            <a:off x="713232" y="4343400"/>
            <a:ext cx="5065776" cy="1691640"/>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Personel ve belgeler: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diploma, ÇKYS, malpraktis, İSG… süre takibi</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Nöbet ve vardiya: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yasal kurallı aylık çizelge, onay, izinler</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Stok ve ilaç: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lot/SKT, FEFO, narkotik şahit, geri çağırma</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Kalite: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isimsiz olay bildirimi, şikâyet, DÖF</a:t>
            </a:r>
            <a:endParaRPr lang="en-US" sz="1150" dirty="0"/>
          </a:p>
        </p:txBody>
      </p:sp>
      <p:sp>
        <p:nvSpPr>
          <p:cNvPr id="15" name="Shape 13"/>
          <p:cNvSpPr/>
          <p:nvPr/>
        </p:nvSpPr>
        <p:spPr>
          <a:xfrm>
            <a:off x="6245352" y="3840480"/>
            <a:ext cx="5394960" cy="2286000"/>
          </a:xfrm>
          <a:prstGeom prst="roundRect">
            <a:avLst>
              <a:gd name="adj" fmla="val 4000"/>
            </a:avLst>
          </a:prstGeom>
          <a:solidFill>
            <a:srgbClr val="F1F7F5"/>
          </a:solidFill>
          <a:ln w="9525">
            <a:solidFill>
              <a:srgbClr val="CFE6DF"/>
            </a:solidFill>
            <a:prstDash val="solid"/>
          </a:ln>
        </p:spPr>
      </p:sp>
      <p:sp>
        <p:nvSpPr>
          <p:cNvPr id="16" name="Text 14"/>
          <p:cNvSpPr txBox="1"/>
          <p:nvPr/>
        </p:nvSpPr>
        <p:spPr>
          <a:xfrm>
            <a:off x="6409944" y="3968496"/>
            <a:ext cx="506577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Güven ve uyum</a:t>
            </a:r>
            <a:endParaRPr lang="en-US" sz="1400" dirty="0"/>
          </a:p>
        </p:txBody>
      </p:sp>
      <p:sp>
        <p:nvSpPr>
          <p:cNvPr id="17" name="Text 15"/>
          <p:cNvSpPr txBox="1"/>
          <p:nvPr/>
        </p:nvSpPr>
        <p:spPr>
          <a:xfrm>
            <a:off x="6409944" y="4343400"/>
            <a:ext cx="5065776" cy="1691640"/>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Yasal yetki kuralları kodda kilitli: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tanıyı yalnız hekim koyar</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Tıbbi kayda erişim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tedavi ilişkisi şartına bağlı; acil erişim gerekçeli</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Her erişim ve işlem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değiştirilemez denetim izinde</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Kritik işlemlerde dört göz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(fiyat, iade, nöbet, DÖF)</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Desteklenen kurum tipleri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Kayıtta seçilen tip; modülleri, rolleri, zorunlu belgeleri ve entegrasyonları otomatik getirir. Birden fazla tip seçilebilir.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737360"/>
                <a:gridCol w="2194560"/>
                <a:gridCol w="4480560"/>
                <a:gridCol w="265176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Kurum tipi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Açıklama</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Açılan modüller (çekirdeğe ek)</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Zorunlu belgeler</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Muayenehane</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Tek hekimli özel muayenehane</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Muayene kaydı ve e-Reçete, Onam formları</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Muayenehane ruhsatı, Oda kaydı, Malpraktis sigortası</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Poliklinik / Tıp Merkezi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Birden fazla hekim ve branş, laboratuvar, görüntüleme</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Muayene kaydı ve e-Reçete, Onam formları, Laboratuvar ve görüntüleme, Personel, nöbet ve vardiya, Stok ve ilaç, Hekim hakedişi, Kalite (SKS) ve olay bildirimi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Faaliyet izin belgesi, Mesul müdür belgesi, Personel çalışma belgeleri (ÇKYS), Tıbbi atık sözleşmesi, Malpraktis sigortası</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Ağız ve Diş Sağlığı</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Diş muayenehanesi, poliklinik veya merkezi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Diş şeması (odontogram), Tedavi planı ve teklif, Protez laboratuvarı takibi, Taksitli ödeme planı, Sterilizasyon takibi, Radyasyon güvenliği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NDK röntgen lisansı, Personel dozimetre takibi, Malpraktis sigortası</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Estetik / Medikal Estetik</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Dolgu, botoks, lazer, cilt uygulamaları</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Seans ve paket yönetimi, Ürün lot takibi (dolgu, botoks), Önce/sonra fotoğraf (rıza kontrollü), Lazer cihaz parametre kaydı, Reklam uyum kontrolü</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İşlem sertifikaları, Lazer cihaz bakım kayıtları</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Fizik Tedavi / Danışmanlık</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Fizyoterapi, diyet, psikoloji, konuşma terapisi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Seans ve program takibi, Paket satış, Ölçek ve ilerleme takibi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Meslek diploması ve sertifikalar</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Veteriner Klinik</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Muayenehane, poliklinik, hayvan hastanesi, pet-shop</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Sahip ve hayvan kaydı, Aşı karnesi ve hatırlatma, Yatılı tedavi ve kafes haritası, Pansiyon, Pet-shop satış, Ötanazi onam süreci, Stok ve ilaç</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Veteriner kuruluş ruhsatı, Oda kaydı</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Evde Sağlık</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Ev ziyareti yapan saha ekipleri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Ziyaret planı ve rota, GPS ile ziyaret doğrulama, Cihaz zimmet ve kiralama, Araç takibi, Uzaktan izlem</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Evde sağlık izin belgesi, Araç muayene ve sigorta</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5806440"/>
            <a:ext cx="11064240" cy="548640"/>
          </a:xfrm>
          <a:prstGeom prst="rect">
            <a:avLst/>
          </a:prstGeom>
          <a:noFill/>
          <a:ln/>
        </p:spPr>
        <p:txBody>
          <a:bodyPr wrap="square" lIns="0" tIns="0" rIns="0" bIns="0" rtlCol="0" anchor="t"/>
          <a:lstStyle/>
          <a:p>
            <a:pPr indent="0" marL="0">
              <a:buNone/>
            </a:pPr>
            <a:r>
              <a:rPr lang="en-US" sz="1150" dirty="0">
                <a:solidFill>
                  <a:srgbClr val="B4502F"/>
                </a:solidFill>
                <a:latin typeface="Calibri" pitchFamily="34" charset="0"/>
                <a:ea typeface="Calibri" pitchFamily="34" charset="-122"/>
                <a:cs typeface="Calibri" pitchFamily="34" charset="-120"/>
              </a:rPr>
              <a:t>Her tipte açılan çekirdek modüller: Komuta Merkezi · Hasta kaydı ve KVKK rızası · Randevu ve kabul · Tahsilat, kasa ve fatura.  Veteriner ile insan sağlığı birlikte seçilirse sistem bunları ayrı şubeler olarak açar (aynı şubede olamaz).</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Yönetim ayrımı: kim neden sorumlu?</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Sahibin hekim olmaması veya kliniğe gelmemesi sorun değildir; tıbbi ve idari sorumluluk ayrı rollerdedir.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554480"/>
            <a:ext cx="2606040" cy="3291840"/>
          </a:xfrm>
          <a:prstGeom prst="roundRect">
            <a:avLst>
              <a:gd name="adj" fmla="val 3509"/>
            </a:avLst>
          </a:prstGeom>
          <a:solidFill>
            <a:srgbClr val="F1F7F5"/>
          </a:solidFill>
          <a:ln w="12700">
            <a:solidFill>
              <a:srgbClr val="CFE6DF"/>
            </a:solidFill>
            <a:prstDash val="solid"/>
          </a:ln>
        </p:spPr>
      </p:sp>
      <p:sp>
        <p:nvSpPr>
          <p:cNvPr id="7" name="Shape 5"/>
          <p:cNvSpPr/>
          <p:nvPr/>
        </p:nvSpPr>
        <p:spPr>
          <a:xfrm>
            <a:off x="731520" y="1737360"/>
            <a:ext cx="548640" cy="548640"/>
          </a:xfrm>
          <a:prstGeom prst="ellipse">
            <a:avLst/>
          </a:prstGeom>
          <a:solidFill>
            <a:srgbClr val="0E4F5C"/>
          </a:solidFill>
          <a:ln w="12700">
            <a:solidFill>
              <a:srgbClr val="0E4F5C"/>
            </a:solidFill>
            <a:prstDash val="solid"/>
          </a:ln>
        </p:spPr>
      </p:sp>
      <p:sp>
        <p:nvSpPr>
          <p:cNvPr id="8" name="Text 6"/>
          <p:cNvSpPr txBox="1"/>
          <p:nvPr/>
        </p:nvSpPr>
        <p:spPr>
          <a:xfrm>
            <a:off x="731520" y="1737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K</a:t>
            </a:r>
            <a:endParaRPr lang="en-US" sz="2000" dirty="0"/>
          </a:p>
        </p:txBody>
      </p:sp>
      <p:sp>
        <p:nvSpPr>
          <p:cNvPr id="9" name="Text 7"/>
          <p:cNvSpPr txBox="1"/>
          <p:nvPr/>
        </p:nvSpPr>
        <p:spPr>
          <a:xfrm>
            <a:off x="731520" y="2395728"/>
            <a:ext cx="2240280" cy="640080"/>
          </a:xfrm>
          <a:prstGeom prst="rect">
            <a:avLst/>
          </a:prstGeom>
          <a:noFill/>
          <a:ln/>
        </p:spPr>
        <p:txBody>
          <a:bodyPr wrap="square" lIns="0" tIns="0" rIns="0" bIns="0" rtlCol="0" anchor="t"/>
          <a:lstStyle/>
          <a:p>
            <a:pPr indent="0" marL="0">
              <a:buNone/>
            </a:pPr>
            <a:r>
              <a:rPr lang="en-US" sz="1500" b="1" dirty="0">
                <a:solidFill>
                  <a:srgbClr val="0E4F5C"/>
                </a:solidFill>
                <a:latin typeface="Calibri" pitchFamily="34" charset="0"/>
                <a:ea typeface="Calibri" pitchFamily="34" charset="-122"/>
                <a:cs typeface="Calibri" pitchFamily="34" charset="-120"/>
              </a:rPr>
              <a:t>Kurum sahibi / ortak</a:t>
            </a:r>
            <a:endParaRPr lang="en-US" sz="1500" dirty="0"/>
          </a:p>
        </p:txBody>
      </p:sp>
      <p:sp>
        <p:nvSpPr>
          <p:cNvPr id="10" name="Text 8"/>
          <p:cNvSpPr txBox="1"/>
          <p:nvPr/>
        </p:nvSpPr>
        <p:spPr>
          <a:xfrm>
            <a:off x="731520" y="3063240"/>
            <a:ext cx="2240280" cy="173736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Finans, fiyat onayı, personel, kurum belgeleri, mesul müdür atama, denetim izi. Tıbbi kayıtları göremez (yalnız anonim istatistik).</a:t>
            </a:r>
            <a:endParaRPr lang="en-US" sz="1150" dirty="0"/>
          </a:p>
        </p:txBody>
      </p:sp>
      <p:sp>
        <p:nvSpPr>
          <p:cNvPr id="11" name="Shape 9"/>
          <p:cNvSpPr/>
          <p:nvPr/>
        </p:nvSpPr>
        <p:spPr>
          <a:xfrm>
            <a:off x="3337560" y="1554480"/>
            <a:ext cx="2606040" cy="3291840"/>
          </a:xfrm>
          <a:prstGeom prst="roundRect">
            <a:avLst>
              <a:gd name="adj" fmla="val 3509"/>
            </a:avLst>
          </a:prstGeom>
          <a:solidFill>
            <a:srgbClr val="F1F7F5"/>
          </a:solidFill>
          <a:ln w="12700">
            <a:solidFill>
              <a:srgbClr val="CFE6DF"/>
            </a:solidFill>
            <a:prstDash val="solid"/>
          </a:ln>
        </p:spPr>
      </p:sp>
      <p:sp>
        <p:nvSpPr>
          <p:cNvPr id="12" name="Shape 10"/>
          <p:cNvSpPr/>
          <p:nvPr/>
        </p:nvSpPr>
        <p:spPr>
          <a:xfrm>
            <a:off x="3520440" y="1737360"/>
            <a:ext cx="548640" cy="548640"/>
          </a:xfrm>
          <a:prstGeom prst="ellipse">
            <a:avLst/>
          </a:prstGeom>
          <a:solidFill>
            <a:srgbClr val="0B4350"/>
          </a:solidFill>
          <a:ln w="12700">
            <a:solidFill>
              <a:srgbClr val="0B4350"/>
            </a:solidFill>
            <a:prstDash val="solid"/>
          </a:ln>
        </p:spPr>
      </p:sp>
      <p:sp>
        <p:nvSpPr>
          <p:cNvPr id="13" name="Text 11"/>
          <p:cNvSpPr txBox="1"/>
          <p:nvPr/>
        </p:nvSpPr>
        <p:spPr>
          <a:xfrm>
            <a:off x="3520440" y="1737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14" name="Text 12"/>
          <p:cNvSpPr txBox="1"/>
          <p:nvPr/>
        </p:nvSpPr>
        <p:spPr>
          <a:xfrm>
            <a:off x="3520440" y="2395728"/>
            <a:ext cx="2240280" cy="640080"/>
          </a:xfrm>
          <a:prstGeom prst="rect">
            <a:avLst/>
          </a:prstGeom>
          <a:noFill/>
          <a:ln/>
        </p:spPr>
        <p:txBody>
          <a:bodyPr wrap="square" lIns="0" tIns="0" rIns="0" bIns="0" rtlCol="0" anchor="t"/>
          <a:lstStyle/>
          <a:p>
            <a:pPr indent="0" marL="0">
              <a:buNone/>
            </a:pPr>
            <a:r>
              <a:rPr lang="en-US" sz="1500" b="1" dirty="0">
                <a:solidFill>
                  <a:srgbClr val="0E4F5C"/>
                </a:solidFill>
                <a:latin typeface="Calibri" pitchFamily="34" charset="0"/>
                <a:ea typeface="Calibri" pitchFamily="34" charset="-122"/>
                <a:cs typeface="Calibri" pitchFamily="34" charset="-120"/>
              </a:rPr>
              <a:t>Genel müdür</a:t>
            </a:r>
            <a:endParaRPr lang="en-US" sz="1500" dirty="0"/>
          </a:p>
        </p:txBody>
      </p:sp>
      <p:sp>
        <p:nvSpPr>
          <p:cNvPr id="15" name="Text 13"/>
          <p:cNvSpPr txBox="1"/>
          <p:nvPr/>
        </p:nvSpPr>
        <p:spPr>
          <a:xfrm>
            <a:off x="3520440" y="3063240"/>
            <a:ext cx="2240280" cy="173736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Günlük operasyon: randevu, finans, fiyat önerisi, personel, nöbet planlama ve onayı, stok, kullanıcı yönetimi. Tıbbi veri görmez.</a:t>
            </a:r>
            <a:endParaRPr lang="en-US" sz="1150" dirty="0"/>
          </a:p>
        </p:txBody>
      </p:sp>
      <p:sp>
        <p:nvSpPr>
          <p:cNvPr id="16" name="Shape 14"/>
          <p:cNvSpPr/>
          <p:nvPr/>
        </p:nvSpPr>
        <p:spPr>
          <a:xfrm>
            <a:off x="6126480" y="1554480"/>
            <a:ext cx="2606040" cy="3291840"/>
          </a:xfrm>
          <a:prstGeom prst="roundRect">
            <a:avLst>
              <a:gd name="adj" fmla="val 3509"/>
            </a:avLst>
          </a:prstGeom>
          <a:solidFill>
            <a:srgbClr val="F1F7F5"/>
          </a:solidFill>
          <a:ln w="12700">
            <a:solidFill>
              <a:srgbClr val="CFE6DF"/>
            </a:solidFill>
            <a:prstDash val="solid"/>
          </a:ln>
        </p:spPr>
      </p:sp>
      <p:sp>
        <p:nvSpPr>
          <p:cNvPr id="17" name="Shape 15"/>
          <p:cNvSpPr/>
          <p:nvPr/>
        </p:nvSpPr>
        <p:spPr>
          <a:xfrm>
            <a:off x="6309360" y="1737360"/>
            <a:ext cx="548640" cy="548640"/>
          </a:xfrm>
          <a:prstGeom prst="ellipse">
            <a:avLst/>
          </a:prstGeom>
          <a:solidFill>
            <a:srgbClr val="D9694A"/>
          </a:solidFill>
          <a:ln w="12700">
            <a:solidFill>
              <a:srgbClr val="D9694A"/>
            </a:solidFill>
            <a:prstDash val="solid"/>
          </a:ln>
        </p:spPr>
      </p:sp>
      <p:sp>
        <p:nvSpPr>
          <p:cNvPr id="18" name="Text 16"/>
          <p:cNvSpPr txBox="1"/>
          <p:nvPr/>
        </p:nvSpPr>
        <p:spPr>
          <a:xfrm>
            <a:off x="6309360" y="1737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a:t>
            </a:r>
            <a:endParaRPr lang="en-US" sz="2000" dirty="0"/>
          </a:p>
        </p:txBody>
      </p:sp>
      <p:sp>
        <p:nvSpPr>
          <p:cNvPr id="19" name="Text 17"/>
          <p:cNvSpPr txBox="1"/>
          <p:nvPr/>
        </p:nvSpPr>
        <p:spPr>
          <a:xfrm>
            <a:off x="6309360" y="2395728"/>
            <a:ext cx="2240280" cy="640080"/>
          </a:xfrm>
          <a:prstGeom prst="rect">
            <a:avLst/>
          </a:prstGeom>
          <a:noFill/>
          <a:ln/>
        </p:spPr>
        <p:txBody>
          <a:bodyPr wrap="square" lIns="0" tIns="0" rIns="0" bIns="0" rtlCol="0" anchor="t"/>
          <a:lstStyle/>
          <a:p>
            <a:pPr indent="0" marL="0">
              <a:buNone/>
            </a:pPr>
            <a:r>
              <a:rPr lang="en-US" sz="1500" b="1" dirty="0">
                <a:solidFill>
                  <a:srgbClr val="0E4F5C"/>
                </a:solidFill>
                <a:latin typeface="Calibri" pitchFamily="34" charset="0"/>
                <a:ea typeface="Calibri" pitchFamily="34" charset="-122"/>
                <a:cs typeface="Calibri" pitchFamily="34" charset="-120"/>
              </a:rPr>
              <a:t>Mesul müdür (hekim)</a:t>
            </a:r>
            <a:endParaRPr lang="en-US" sz="1500" dirty="0"/>
          </a:p>
        </p:txBody>
      </p:sp>
      <p:sp>
        <p:nvSpPr>
          <p:cNvPr id="20" name="Text 18"/>
          <p:cNvSpPr txBox="1"/>
          <p:nvPr/>
        </p:nvSpPr>
        <p:spPr>
          <a:xfrm>
            <a:off x="6309360" y="3063240"/>
            <a:ext cx="2240280" cy="173736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Bakanlığa karşı yasal sorumlu. Sağlık rollerini onaylar, tıbbi kayıt denetimi, narkotik, kalite, personel belgeleri, nöbet onayı.</a:t>
            </a:r>
            <a:endParaRPr lang="en-US" sz="1150" dirty="0"/>
          </a:p>
        </p:txBody>
      </p:sp>
      <p:sp>
        <p:nvSpPr>
          <p:cNvPr id="21" name="Shape 19"/>
          <p:cNvSpPr/>
          <p:nvPr/>
        </p:nvSpPr>
        <p:spPr>
          <a:xfrm>
            <a:off x="8915400" y="1554480"/>
            <a:ext cx="2606040" cy="3291840"/>
          </a:xfrm>
          <a:prstGeom prst="roundRect">
            <a:avLst>
              <a:gd name="adj" fmla="val 3509"/>
            </a:avLst>
          </a:prstGeom>
          <a:solidFill>
            <a:srgbClr val="F1F7F5"/>
          </a:solidFill>
          <a:ln w="12700">
            <a:solidFill>
              <a:srgbClr val="CFE6DF"/>
            </a:solidFill>
            <a:prstDash val="solid"/>
          </a:ln>
        </p:spPr>
      </p:sp>
      <p:sp>
        <p:nvSpPr>
          <p:cNvPr id="22" name="Shape 20"/>
          <p:cNvSpPr/>
          <p:nvPr/>
        </p:nvSpPr>
        <p:spPr>
          <a:xfrm>
            <a:off x="9098280" y="1737360"/>
            <a:ext cx="548640" cy="548640"/>
          </a:xfrm>
          <a:prstGeom prst="ellipse">
            <a:avLst/>
          </a:prstGeom>
          <a:solidFill>
            <a:srgbClr val="B4502F"/>
          </a:solidFill>
          <a:ln w="12700">
            <a:solidFill>
              <a:srgbClr val="B4502F"/>
            </a:solidFill>
            <a:prstDash val="solid"/>
          </a:ln>
        </p:spPr>
      </p:sp>
      <p:sp>
        <p:nvSpPr>
          <p:cNvPr id="23" name="Text 21"/>
          <p:cNvSpPr txBox="1"/>
          <p:nvPr/>
        </p:nvSpPr>
        <p:spPr>
          <a:xfrm>
            <a:off x="9098280" y="1737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24" name="Text 22"/>
          <p:cNvSpPr txBox="1"/>
          <p:nvPr/>
        </p:nvSpPr>
        <p:spPr>
          <a:xfrm>
            <a:off x="9098280" y="2395728"/>
            <a:ext cx="2240280" cy="640080"/>
          </a:xfrm>
          <a:prstGeom prst="rect">
            <a:avLst/>
          </a:prstGeom>
          <a:noFill/>
          <a:ln/>
        </p:spPr>
        <p:txBody>
          <a:bodyPr wrap="square" lIns="0" tIns="0" rIns="0" bIns="0" rtlCol="0" anchor="t"/>
          <a:lstStyle/>
          <a:p>
            <a:pPr indent="0" marL="0">
              <a:buNone/>
            </a:pPr>
            <a:r>
              <a:rPr lang="en-US" sz="1500" b="1" dirty="0">
                <a:solidFill>
                  <a:srgbClr val="0E4F5C"/>
                </a:solidFill>
                <a:latin typeface="Calibri" pitchFamily="34" charset="0"/>
                <a:ea typeface="Calibri" pitchFamily="34" charset="-122"/>
                <a:cs typeface="Calibri" pitchFamily="34" charset="-120"/>
              </a:rPr>
              <a:t>Başhekim (hekim)</a:t>
            </a:r>
            <a:endParaRPr lang="en-US" sz="1500" dirty="0"/>
          </a:p>
        </p:txBody>
      </p:sp>
      <p:sp>
        <p:nvSpPr>
          <p:cNvPr id="25" name="Text 23"/>
          <p:cNvSpPr txBox="1"/>
          <p:nvPr/>
        </p:nvSpPr>
        <p:spPr>
          <a:xfrm>
            <a:off x="9098280" y="3063240"/>
            <a:ext cx="2240280" cy="173736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Klinik kalite: tüm tıbbi kayıtları denetim amaçlı görür, tanı/reçete, nöbet planlama ve onayı, kalite yönetimi.</a:t>
            </a:r>
            <a:endParaRPr lang="en-US" sz="1150" dirty="0"/>
          </a:p>
        </p:txBody>
      </p:sp>
      <p:sp>
        <p:nvSpPr>
          <p:cNvPr id="26" name="Text 24"/>
          <p:cNvSpPr txBox="1"/>
          <p:nvPr/>
        </p:nvSpPr>
        <p:spPr>
          <a:xfrm>
            <a:off x="548640" y="5074920"/>
            <a:ext cx="11064240" cy="1280160"/>
          </a:xfrm>
          <a:prstGeom prst="rect">
            <a:avLst/>
          </a:prstGeom>
          <a:noFill/>
          <a:ln/>
        </p:spPr>
        <p:txBody>
          <a:bodyPr wrap="square" lIns="0" tIns="0" rIns="0" bIns="0" rtlCol="0" anchor="t"/>
          <a:lstStyle/>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Mesul müdürü yalnızca kurum sahibi atar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(işleten atar, Bakanlığa bildirir).</a:t>
            </a:r>
            <a:endParaRPr lang="en-US" sz="1250" dirty="0"/>
          </a:p>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Sağlık rollerini (hekim, hemşire…) mesul müdür onaylar;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idari rolleri kullanıcı yöneticisi atar.</a:t>
            </a:r>
            <a:endParaRPr lang="en-US" sz="1250" dirty="0"/>
          </a:p>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Kimse kendine rol veremez.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Tek istisna: sahip, atadığı mesul müdüre aynı şubede hekim rolü verebilir (yoksa hekimlik rolünü verecek kimse olmaz).</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Tasarım ilkeleri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Ürünün her ekranında geçerli olan altı kural.</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463040"/>
            <a:ext cx="3520440" cy="2240280"/>
          </a:xfrm>
          <a:prstGeom prst="roundRect">
            <a:avLst>
              <a:gd name="adj" fmla="val 4082"/>
            </a:avLst>
          </a:prstGeom>
          <a:solidFill>
            <a:srgbClr val="F1F7F5"/>
          </a:solidFill>
          <a:ln w="12700">
            <a:solidFill>
              <a:srgbClr val="CFE6DF"/>
            </a:solidFill>
            <a:prstDash val="solid"/>
          </a:ln>
        </p:spPr>
      </p:sp>
      <p:sp>
        <p:nvSpPr>
          <p:cNvPr id="7" name="Shape 5"/>
          <p:cNvSpPr/>
          <p:nvPr/>
        </p:nvSpPr>
        <p:spPr>
          <a:xfrm>
            <a:off x="749808" y="1664208"/>
            <a:ext cx="420624" cy="420624"/>
          </a:xfrm>
          <a:prstGeom prst="ellipse">
            <a:avLst/>
          </a:prstGeom>
          <a:solidFill>
            <a:srgbClr val="0E4F5C"/>
          </a:solidFill>
          <a:ln w="12700">
            <a:solidFill>
              <a:srgbClr val="0E4F5C"/>
            </a:solidFill>
            <a:prstDash val="solid"/>
          </a:ln>
        </p:spPr>
      </p:sp>
      <p:sp>
        <p:nvSpPr>
          <p:cNvPr id="8" name="Text 6"/>
          <p:cNvSpPr txBox="1"/>
          <p:nvPr/>
        </p:nvSpPr>
        <p:spPr>
          <a:xfrm>
            <a:off x="749808" y="1664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280160" y="1664208"/>
            <a:ext cx="2651760" cy="420624"/>
          </a:xfrm>
          <a:prstGeom prst="rect">
            <a:avLst/>
          </a:prstGeom>
          <a:noFill/>
          <a:ln/>
        </p:spPr>
        <p:txBody>
          <a:bodyPr wrap="square" lIns="0" tIns="0" rIns="0" bIns="0" rtlCol="0" anchor="ctr"/>
          <a:lstStyle/>
          <a:p>
            <a:pPr indent="0" marL="0">
              <a:buNone/>
            </a:pPr>
            <a:r>
              <a:rPr lang="en-US" sz="1500" b="1" dirty="0">
                <a:solidFill>
                  <a:srgbClr val="0E4F5C"/>
                </a:solidFill>
                <a:latin typeface="Calibri" pitchFamily="34" charset="0"/>
                <a:ea typeface="Calibri" pitchFamily="34" charset="-122"/>
                <a:cs typeface="Calibri" pitchFamily="34" charset="-120"/>
              </a:rPr>
              <a:t>Yasal kural kodda kilitli</a:t>
            </a:r>
            <a:endParaRPr lang="en-US" sz="1500" dirty="0"/>
          </a:p>
        </p:txBody>
      </p:sp>
      <p:sp>
        <p:nvSpPr>
          <p:cNvPr id="10" name="Text 8"/>
          <p:cNvSpPr txBox="1"/>
          <p:nvPr/>
        </p:nvSpPr>
        <p:spPr>
          <a:xfrm>
            <a:off x="749808" y="2240280"/>
            <a:ext cx="3108960" cy="137160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Tanı, reçete, rapor yalnızca hekim mesleğine; tıbbi kayıt yalnızca sağlık meslek mensubuna verilebilir. Kurum rol şablonu ne derse desin bu delinemez.</a:t>
            </a:r>
            <a:endParaRPr lang="en-US" sz="1150" dirty="0"/>
          </a:p>
        </p:txBody>
      </p:sp>
      <p:sp>
        <p:nvSpPr>
          <p:cNvPr id="11" name="Shape 9"/>
          <p:cNvSpPr/>
          <p:nvPr/>
        </p:nvSpPr>
        <p:spPr>
          <a:xfrm>
            <a:off x="4297680" y="1463040"/>
            <a:ext cx="3520440" cy="2240280"/>
          </a:xfrm>
          <a:prstGeom prst="roundRect">
            <a:avLst>
              <a:gd name="adj" fmla="val 4082"/>
            </a:avLst>
          </a:prstGeom>
          <a:solidFill>
            <a:srgbClr val="F1F7F5"/>
          </a:solidFill>
          <a:ln w="12700">
            <a:solidFill>
              <a:srgbClr val="CFE6DF"/>
            </a:solidFill>
            <a:prstDash val="solid"/>
          </a:ln>
        </p:spPr>
      </p:sp>
      <p:sp>
        <p:nvSpPr>
          <p:cNvPr id="12" name="Shape 10"/>
          <p:cNvSpPr/>
          <p:nvPr/>
        </p:nvSpPr>
        <p:spPr>
          <a:xfrm>
            <a:off x="4498848" y="1664208"/>
            <a:ext cx="420624" cy="420624"/>
          </a:xfrm>
          <a:prstGeom prst="ellipse">
            <a:avLst/>
          </a:prstGeom>
          <a:solidFill>
            <a:srgbClr val="0E4F5C"/>
          </a:solidFill>
          <a:ln w="12700">
            <a:solidFill>
              <a:srgbClr val="0E4F5C"/>
            </a:solidFill>
            <a:prstDash val="solid"/>
          </a:ln>
        </p:spPr>
      </p:sp>
      <p:sp>
        <p:nvSpPr>
          <p:cNvPr id="13" name="Text 11"/>
          <p:cNvSpPr txBox="1"/>
          <p:nvPr/>
        </p:nvSpPr>
        <p:spPr>
          <a:xfrm>
            <a:off x="4498848" y="1664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5029200" y="1664208"/>
            <a:ext cx="2651760" cy="420624"/>
          </a:xfrm>
          <a:prstGeom prst="rect">
            <a:avLst/>
          </a:prstGeom>
          <a:noFill/>
          <a:ln/>
        </p:spPr>
        <p:txBody>
          <a:bodyPr wrap="square" lIns="0" tIns="0" rIns="0" bIns="0" rtlCol="0" anchor="ctr"/>
          <a:lstStyle/>
          <a:p>
            <a:pPr indent="0" marL="0">
              <a:buNone/>
            </a:pPr>
            <a:r>
              <a:rPr lang="en-US" sz="1500" b="1" dirty="0">
                <a:solidFill>
                  <a:srgbClr val="0E4F5C"/>
                </a:solidFill>
                <a:latin typeface="Calibri" pitchFamily="34" charset="0"/>
                <a:ea typeface="Calibri" pitchFamily="34" charset="-122"/>
                <a:cs typeface="Calibri" pitchFamily="34" charset="-120"/>
              </a:rPr>
              <a:t>Gerektiği kadar erişim</a:t>
            </a:r>
            <a:endParaRPr lang="en-US" sz="1500" dirty="0"/>
          </a:p>
        </p:txBody>
      </p:sp>
      <p:sp>
        <p:nvSpPr>
          <p:cNvPr id="15" name="Text 13"/>
          <p:cNvSpPr txBox="1"/>
          <p:nvPr/>
        </p:nvSpPr>
        <p:spPr>
          <a:xfrm>
            <a:off x="4498848" y="2240280"/>
            <a:ext cx="3108960" cy="137160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Sekreter tanıyı, muhasebe muayene notunu, sahip hasta dosyasını göremez. Hekim yalnızca kendi hastasının kaydını açar.</a:t>
            </a:r>
            <a:endParaRPr lang="en-US" sz="1150" dirty="0"/>
          </a:p>
        </p:txBody>
      </p:sp>
      <p:sp>
        <p:nvSpPr>
          <p:cNvPr id="16" name="Shape 14"/>
          <p:cNvSpPr/>
          <p:nvPr/>
        </p:nvSpPr>
        <p:spPr>
          <a:xfrm>
            <a:off x="8046720" y="1463040"/>
            <a:ext cx="3520440" cy="2240280"/>
          </a:xfrm>
          <a:prstGeom prst="roundRect">
            <a:avLst>
              <a:gd name="adj" fmla="val 4082"/>
            </a:avLst>
          </a:prstGeom>
          <a:solidFill>
            <a:srgbClr val="F1F7F5"/>
          </a:solidFill>
          <a:ln w="12700">
            <a:solidFill>
              <a:srgbClr val="CFE6DF"/>
            </a:solidFill>
            <a:prstDash val="solid"/>
          </a:ln>
        </p:spPr>
      </p:sp>
      <p:sp>
        <p:nvSpPr>
          <p:cNvPr id="17" name="Shape 15"/>
          <p:cNvSpPr/>
          <p:nvPr/>
        </p:nvSpPr>
        <p:spPr>
          <a:xfrm>
            <a:off x="8247888" y="1664208"/>
            <a:ext cx="420624" cy="420624"/>
          </a:xfrm>
          <a:prstGeom prst="ellipse">
            <a:avLst/>
          </a:prstGeom>
          <a:solidFill>
            <a:srgbClr val="0E4F5C"/>
          </a:solidFill>
          <a:ln w="12700">
            <a:solidFill>
              <a:srgbClr val="0E4F5C"/>
            </a:solidFill>
            <a:prstDash val="solid"/>
          </a:ln>
        </p:spPr>
      </p:sp>
      <p:sp>
        <p:nvSpPr>
          <p:cNvPr id="18" name="Text 16"/>
          <p:cNvSpPr txBox="1"/>
          <p:nvPr/>
        </p:nvSpPr>
        <p:spPr>
          <a:xfrm>
            <a:off x="8247888" y="1664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778240" y="1664208"/>
            <a:ext cx="2651760" cy="420624"/>
          </a:xfrm>
          <a:prstGeom prst="rect">
            <a:avLst/>
          </a:prstGeom>
          <a:noFill/>
          <a:ln/>
        </p:spPr>
        <p:txBody>
          <a:bodyPr wrap="square" lIns="0" tIns="0" rIns="0" bIns="0" rtlCol="0" anchor="ctr"/>
          <a:lstStyle/>
          <a:p>
            <a:pPr indent="0" marL="0">
              <a:buNone/>
            </a:pPr>
            <a:r>
              <a:rPr lang="en-US" sz="1500" b="1" dirty="0">
                <a:solidFill>
                  <a:srgbClr val="0E4F5C"/>
                </a:solidFill>
                <a:latin typeface="Calibri" pitchFamily="34" charset="0"/>
                <a:ea typeface="Calibri" pitchFamily="34" charset="-122"/>
                <a:cs typeface="Calibri" pitchFamily="34" charset="-120"/>
              </a:rPr>
              <a:t>Her iz kayıtlı</a:t>
            </a:r>
            <a:endParaRPr lang="en-US" sz="1500" dirty="0"/>
          </a:p>
        </p:txBody>
      </p:sp>
      <p:sp>
        <p:nvSpPr>
          <p:cNvPr id="20" name="Text 18"/>
          <p:cNvSpPr txBox="1"/>
          <p:nvPr/>
        </p:nvSpPr>
        <p:spPr>
          <a:xfrm>
            <a:off x="8247888" y="2240280"/>
            <a:ext cx="3108960" cy="137160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Görüntüleme dahil her erişim ve işlem, değiştirilemez ve silinemez (hash zincirli) denetim izine yazılır. Reddedilen erişimler de.</a:t>
            </a:r>
            <a:endParaRPr lang="en-US" sz="1150" dirty="0"/>
          </a:p>
        </p:txBody>
      </p:sp>
      <p:sp>
        <p:nvSpPr>
          <p:cNvPr id="21" name="Shape 19"/>
          <p:cNvSpPr/>
          <p:nvPr/>
        </p:nvSpPr>
        <p:spPr>
          <a:xfrm>
            <a:off x="548640" y="3886200"/>
            <a:ext cx="3520440" cy="2240280"/>
          </a:xfrm>
          <a:prstGeom prst="roundRect">
            <a:avLst>
              <a:gd name="adj" fmla="val 4082"/>
            </a:avLst>
          </a:prstGeom>
          <a:solidFill>
            <a:srgbClr val="F1F7F5"/>
          </a:solidFill>
          <a:ln w="12700">
            <a:solidFill>
              <a:srgbClr val="CFE6DF"/>
            </a:solidFill>
            <a:prstDash val="solid"/>
          </a:ln>
        </p:spPr>
      </p:sp>
      <p:sp>
        <p:nvSpPr>
          <p:cNvPr id="22" name="Shape 20"/>
          <p:cNvSpPr/>
          <p:nvPr/>
        </p:nvSpPr>
        <p:spPr>
          <a:xfrm>
            <a:off x="749808" y="4087368"/>
            <a:ext cx="420624" cy="420624"/>
          </a:xfrm>
          <a:prstGeom prst="ellipse">
            <a:avLst/>
          </a:prstGeom>
          <a:solidFill>
            <a:srgbClr val="0E4F5C"/>
          </a:solidFill>
          <a:ln w="12700">
            <a:solidFill>
              <a:srgbClr val="0E4F5C"/>
            </a:solidFill>
            <a:prstDash val="solid"/>
          </a:ln>
        </p:spPr>
      </p:sp>
      <p:sp>
        <p:nvSpPr>
          <p:cNvPr id="23" name="Text 21"/>
          <p:cNvSpPr txBox="1"/>
          <p:nvPr/>
        </p:nvSpPr>
        <p:spPr>
          <a:xfrm>
            <a:off x="749808" y="4087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1280160" y="4087368"/>
            <a:ext cx="2651760" cy="420624"/>
          </a:xfrm>
          <a:prstGeom prst="rect">
            <a:avLst/>
          </a:prstGeom>
          <a:noFill/>
          <a:ln/>
        </p:spPr>
        <p:txBody>
          <a:bodyPr wrap="square" lIns="0" tIns="0" rIns="0" bIns="0" rtlCol="0" anchor="ctr"/>
          <a:lstStyle/>
          <a:p>
            <a:pPr indent="0" marL="0">
              <a:buNone/>
            </a:pPr>
            <a:r>
              <a:rPr lang="en-US" sz="1500" b="1" dirty="0">
                <a:solidFill>
                  <a:srgbClr val="0E4F5C"/>
                </a:solidFill>
                <a:latin typeface="Calibri" pitchFamily="34" charset="0"/>
                <a:ea typeface="Calibri" pitchFamily="34" charset="-122"/>
                <a:cs typeface="Calibri" pitchFamily="34" charset="-120"/>
              </a:rPr>
              <a:t>Silme yok, düzeltme var</a:t>
            </a:r>
            <a:endParaRPr lang="en-US" sz="1500" dirty="0"/>
          </a:p>
        </p:txBody>
      </p:sp>
      <p:sp>
        <p:nvSpPr>
          <p:cNvPr id="25" name="Text 23"/>
          <p:cNvSpPr txBox="1"/>
          <p:nvPr/>
        </p:nvSpPr>
        <p:spPr>
          <a:xfrm>
            <a:off x="749808" y="4663440"/>
            <a:ext cx="3108960" cy="137160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İmzalı muayene, tahsilat, stok hareketi, belge silinmez; düzeltme ek not, ters kayıt, gerekçeli iptal/kaldırma ile yapılır.</a:t>
            </a:r>
            <a:endParaRPr lang="en-US" sz="1150" dirty="0"/>
          </a:p>
        </p:txBody>
      </p:sp>
      <p:sp>
        <p:nvSpPr>
          <p:cNvPr id="26" name="Shape 24"/>
          <p:cNvSpPr/>
          <p:nvPr/>
        </p:nvSpPr>
        <p:spPr>
          <a:xfrm>
            <a:off x="4297680" y="3886200"/>
            <a:ext cx="3520440" cy="2240280"/>
          </a:xfrm>
          <a:prstGeom prst="roundRect">
            <a:avLst>
              <a:gd name="adj" fmla="val 4082"/>
            </a:avLst>
          </a:prstGeom>
          <a:solidFill>
            <a:srgbClr val="F1F7F5"/>
          </a:solidFill>
          <a:ln w="12700">
            <a:solidFill>
              <a:srgbClr val="CFE6DF"/>
            </a:solidFill>
            <a:prstDash val="solid"/>
          </a:ln>
        </p:spPr>
      </p:sp>
      <p:sp>
        <p:nvSpPr>
          <p:cNvPr id="27" name="Shape 25"/>
          <p:cNvSpPr/>
          <p:nvPr/>
        </p:nvSpPr>
        <p:spPr>
          <a:xfrm>
            <a:off x="4498848" y="4087368"/>
            <a:ext cx="420624" cy="420624"/>
          </a:xfrm>
          <a:prstGeom prst="ellipse">
            <a:avLst/>
          </a:prstGeom>
          <a:solidFill>
            <a:srgbClr val="0E4F5C"/>
          </a:solidFill>
          <a:ln w="12700">
            <a:solidFill>
              <a:srgbClr val="0E4F5C"/>
            </a:solidFill>
            <a:prstDash val="solid"/>
          </a:ln>
        </p:spPr>
      </p:sp>
      <p:sp>
        <p:nvSpPr>
          <p:cNvPr id="28" name="Text 26"/>
          <p:cNvSpPr txBox="1"/>
          <p:nvPr/>
        </p:nvSpPr>
        <p:spPr>
          <a:xfrm>
            <a:off x="4498848" y="4087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5029200" y="4087368"/>
            <a:ext cx="2651760" cy="420624"/>
          </a:xfrm>
          <a:prstGeom prst="rect">
            <a:avLst/>
          </a:prstGeom>
          <a:noFill/>
          <a:ln/>
        </p:spPr>
        <p:txBody>
          <a:bodyPr wrap="square" lIns="0" tIns="0" rIns="0" bIns="0" rtlCol="0" anchor="ctr"/>
          <a:lstStyle/>
          <a:p>
            <a:pPr indent="0" marL="0">
              <a:buNone/>
            </a:pPr>
            <a:r>
              <a:rPr lang="en-US" sz="1500" b="1" dirty="0">
                <a:solidFill>
                  <a:srgbClr val="0E4F5C"/>
                </a:solidFill>
                <a:latin typeface="Calibri" pitchFamily="34" charset="0"/>
                <a:ea typeface="Calibri" pitchFamily="34" charset="-122"/>
                <a:cs typeface="Calibri" pitchFamily="34" charset="-120"/>
              </a:rPr>
              <a:t>Dört göz</a:t>
            </a:r>
            <a:endParaRPr lang="en-US" sz="1500" dirty="0"/>
          </a:p>
        </p:txBody>
      </p:sp>
      <p:sp>
        <p:nvSpPr>
          <p:cNvPr id="30" name="Text 28"/>
          <p:cNvSpPr txBox="1"/>
          <p:nvPr/>
        </p:nvSpPr>
        <p:spPr>
          <a:xfrm>
            <a:off x="4498848" y="4663440"/>
            <a:ext cx="3108960" cy="137160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Fiyatı öneren onaylamaz, tahsilatı alan iade etmez, çizelgeyi gönderen yayınlamaz, DÖF’ü tamamlayan doğrulamaz.</a:t>
            </a:r>
            <a:endParaRPr lang="en-US" sz="1150" dirty="0"/>
          </a:p>
        </p:txBody>
      </p:sp>
      <p:sp>
        <p:nvSpPr>
          <p:cNvPr id="31" name="Shape 29"/>
          <p:cNvSpPr/>
          <p:nvPr/>
        </p:nvSpPr>
        <p:spPr>
          <a:xfrm>
            <a:off x="8046720" y="3886200"/>
            <a:ext cx="3520440" cy="2240280"/>
          </a:xfrm>
          <a:prstGeom prst="roundRect">
            <a:avLst>
              <a:gd name="adj" fmla="val 4082"/>
            </a:avLst>
          </a:prstGeom>
          <a:solidFill>
            <a:srgbClr val="F1F7F5"/>
          </a:solidFill>
          <a:ln w="12700">
            <a:solidFill>
              <a:srgbClr val="CFE6DF"/>
            </a:solidFill>
            <a:prstDash val="solid"/>
          </a:ln>
        </p:spPr>
      </p:sp>
      <p:sp>
        <p:nvSpPr>
          <p:cNvPr id="32" name="Shape 30"/>
          <p:cNvSpPr/>
          <p:nvPr/>
        </p:nvSpPr>
        <p:spPr>
          <a:xfrm>
            <a:off x="8247888" y="4087368"/>
            <a:ext cx="420624" cy="420624"/>
          </a:xfrm>
          <a:prstGeom prst="ellipse">
            <a:avLst/>
          </a:prstGeom>
          <a:solidFill>
            <a:srgbClr val="0E4F5C"/>
          </a:solidFill>
          <a:ln w="12700">
            <a:solidFill>
              <a:srgbClr val="0E4F5C"/>
            </a:solidFill>
            <a:prstDash val="solid"/>
          </a:ln>
        </p:spPr>
      </p:sp>
      <p:sp>
        <p:nvSpPr>
          <p:cNvPr id="33" name="Text 31"/>
          <p:cNvSpPr txBox="1"/>
          <p:nvPr/>
        </p:nvSpPr>
        <p:spPr>
          <a:xfrm>
            <a:off x="8247888" y="4087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txBox="1"/>
          <p:nvPr/>
        </p:nvSpPr>
        <p:spPr>
          <a:xfrm>
            <a:off x="8778240" y="4087368"/>
            <a:ext cx="2651760" cy="420624"/>
          </a:xfrm>
          <a:prstGeom prst="rect">
            <a:avLst/>
          </a:prstGeom>
          <a:noFill/>
          <a:ln/>
        </p:spPr>
        <p:txBody>
          <a:bodyPr wrap="square" lIns="0" tIns="0" rIns="0" bIns="0" rtlCol="0" anchor="ctr"/>
          <a:lstStyle/>
          <a:p>
            <a:pPr indent="0" marL="0">
              <a:buNone/>
            </a:pPr>
            <a:r>
              <a:rPr lang="en-US" sz="1500" b="1" dirty="0">
                <a:solidFill>
                  <a:srgbClr val="0E4F5C"/>
                </a:solidFill>
                <a:latin typeface="Calibri" pitchFamily="34" charset="0"/>
                <a:ea typeface="Calibri" pitchFamily="34" charset="-122"/>
                <a:cs typeface="Calibri" pitchFamily="34" charset="-120"/>
              </a:rPr>
              <a:t>Önce güvenlik ve KVKK</a:t>
            </a:r>
            <a:endParaRPr lang="en-US" sz="1500" dirty="0"/>
          </a:p>
        </p:txBody>
      </p:sp>
      <p:sp>
        <p:nvSpPr>
          <p:cNvPr id="35" name="Text 33"/>
          <p:cNvSpPr txBox="1"/>
          <p:nvPr/>
        </p:nvSpPr>
        <p:spPr>
          <a:xfrm>
            <a:off x="8247888" y="4663440"/>
            <a:ext cx="3108960" cy="137160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Kiracı izolasyonu veritabanında (RLS), kimlik no ve belgeler şifreli, aydınlatma olmadan hasta kaydı yok, isimsiz olay bildirimi.</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Mimari ve teknoloji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TypeScript ile tek dil: web, API ve kurallar aynı paylaşılan paketi kullanır.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554480"/>
            <a:ext cx="3017520" cy="1920240"/>
          </a:xfrm>
          <a:prstGeom prst="roundRect">
            <a:avLst>
              <a:gd name="adj" fmla="val 4762"/>
            </a:avLst>
          </a:prstGeom>
          <a:solidFill>
            <a:srgbClr val="0E4F5C"/>
          </a:solidFill>
          <a:ln w="12700">
            <a:solidFill>
              <a:srgbClr val="0E4F5C"/>
            </a:solidFill>
            <a:prstDash val="solid"/>
          </a:ln>
        </p:spPr>
      </p:sp>
      <p:sp>
        <p:nvSpPr>
          <p:cNvPr id="7" name="Text 5"/>
          <p:cNvSpPr txBox="1"/>
          <p:nvPr/>
        </p:nvSpPr>
        <p:spPr>
          <a:xfrm>
            <a:off x="731520" y="1691640"/>
            <a:ext cx="265176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Tarayıcı (web)</a:t>
            </a:r>
            <a:endParaRPr lang="en-US" sz="1500" dirty="0"/>
          </a:p>
        </p:txBody>
      </p:sp>
      <p:sp>
        <p:nvSpPr>
          <p:cNvPr id="8" name="Text 6"/>
          <p:cNvSpPr txBox="1"/>
          <p:nvPr/>
        </p:nvSpPr>
        <p:spPr>
          <a:xfrm>
            <a:off x="731520" y="2103120"/>
            <a:ext cx="2651760"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Next.js 16 + React 19 · port 3001</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Tablet ve telefon uyumlu</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Oturum httpOnly çerezde; betik anahtarı göremez</a:t>
            </a:r>
            <a:endParaRPr lang="en-US" sz="1100" dirty="0"/>
          </a:p>
        </p:txBody>
      </p:sp>
      <p:sp>
        <p:nvSpPr>
          <p:cNvPr id="9" name="Shape 7"/>
          <p:cNvSpPr/>
          <p:nvPr/>
        </p:nvSpPr>
        <p:spPr>
          <a:xfrm>
            <a:off x="4480560" y="1554480"/>
            <a:ext cx="3200400" cy="1920240"/>
          </a:xfrm>
          <a:prstGeom prst="roundRect">
            <a:avLst>
              <a:gd name="adj" fmla="val 4762"/>
            </a:avLst>
          </a:prstGeom>
          <a:solidFill>
            <a:srgbClr val="0B4350"/>
          </a:solidFill>
          <a:ln w="12700">
            <a:solidFill>
              <a:srgbClr val="0B4350"/>
            </a:solidFill>
            <a:prstDash val="solid"/>
          </a:ln>
        </p:spPr>
      </p:sp>
      <p:sp>
        <p:nvSpPr>
          <p:cNvPr id="10" name="Text 8"/>
          <p:cNvSpPr txBox="1"/>
          <p:nvPr/>
        </p:nvSpPr>
        <p:spPr>
          <a:xfrm>
            <a:off x="4663440" y="1691640"/>
            <a:ext cx="28346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API</a:t>
            </a:r>
            <a:endParaRPr lang="en-US" sz="1500" dirty="0"/>
          </a:p>
        </p:txBody>
      </p:sp>
      <p:sp>
        <p:nvSpPr>
          <p:cNvPr id="11" name="Text 9"/>
          <p:cNvSpPr txBox="1"/>
          <p:nvPr/>
        </p:nvSpPr>
        <p:spPr>
          <a:xfrm>
            <a:off x="4663440" y="2103120"/>
            <a:ext cx="2834640"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NestJS 11 · port 3000 · /api/v1</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Her istekte kimlik + yetki + şube bağlamı denetlenir; reddedilenler kayda geçer</a:t>
            </a:r>
            <a:endParaRPr lang="en-US" sz="1100" dirty="0"/>
          </a:p>
        </p:txBody>
      </p:sp>
      <p:sp>
        <p:nvSpPr>
          <p:cNvPr id="12" name="Shape 10"/>
          <p:cNvSpPr/>
          <p:nvPr/>
        </p:nvSpPr>
        <p:spPr>
          <a:xfrm>
            <a:off x="8595360" y="1554480"/>
            <a:ext cx="3017520" cy="1920240"/>
          </a:xfrm>
          <a:prstGeom prst="roundRect">
            <a:avLst>
              <a:gd name="adj" fmla="val 4762"/>
            </a:avLst>
          </a:prstGeom>
          <a:solidFill>
            <a:srgbClr val="13232A"/>
          </a:solidFill>
          <a:ln w="12700">
            <a:solidFill>
              <a:srgbClr val="13232A"/>
            </a:solidFill>
            <a:prstDash val="solid"/>
          </a:ln>
        </p:spPr>
      </p:sp>
      <p:sp>
        <p:nvSpPr>
          <p:cNvPr id="13" name="Text 11"/>
          <p:cNvSpPr txBox="1"/>
          <p:nvPr/>
        </p:nvSpPr>
        <p:spPr>
          <a:xfrm>
            <a:off x="8778240" y="1691640"/>
            <a:ext cx="265176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Veritabanı</a:t>
            </a:r>
            <a:endParaRPr lang="en-US" sz="1500" dirty="0"/>
          </a:p>
        </p:txBody>
      </p:sp>
      <p:sp>
        <p:nvSpPr>
          <p:cNvPr id="14" name="Text 12"/>
          <p:cNvSpPr txBox="1"/>
          <p:nvPr/>
        </p:nvSpPr>
        <p:spPr>
          <a:xfrm>
            <a:off x="8778240" y="2103120"/>
            <a:ext cx="2651760"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PostgreSQL 16 · Drizzle ORM</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Satır düzeyi güvenlik (RLS) ile kiracı izolasyonu</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9 migration dosyası</a:t>
            </a:r>
            <a:endParaRPr lang="en-US" sz="1100" dirty="0"/>
          </a:p>
        </p:txBody>
      </p:sp>
      <p:sp>
        <p:nvSpPr>
          <p:cNvPr id="15" name="Shape 13"/>
          <p:cNvSpPr/>
          <p:nvPr/>
        </p:nvSpPr>
        <p:spPr>
          <a:xfrm>
            <a:off x="3611880" y="2514600"/>
            <a:ext cx="822960" cy="0"/>
          </a:xfrm>
          <a:prstGeom prst="line">
            <a:avLst/>
          </a:prstGeom>
          <a:noFill/>
          <a:ln w="31750">
            <a:solidFill>
              <a:srgbClr val="D9694A"/>
            </a:solidFill>
            <a:prstDash val="solid"/>
            <a:tailEnd type="triangle"/>
          </a:ln>
        </p:spPr>
      </p:sp>
      <p:sp>
        <p:nvSpPr>
          <p:cNvPr id="16" name="Shape 14"/>
          <p:cNvSpPr/>
          <p:nvPr/>
        </p:nvSpPr>
        <p:spPr>
          <a:xfrm>
            <a:off x="7726680" y="2514600"/>
            <a:ext cx="822960" cy="0"/>
          </a:xfrm>
          <a:prstGeom prst="line">
            <a:avLst/>
          </a:prstGeom>
          <a:noFill/>
          <a:ln w="31750">
            <a:solidFill>
              <a:srgbClr val="D9694A"/>
            </a:solidFill>
            <a:prstDash val="solid"/>
            <a:tailEnd type="triangle"/>
          </a:ln>
        </p:spPr>
      </p:sp>
      <p:sp>
        <p:nvSpPr>
          <p:cNvPr id="17" name="Text 15"/>
          <p:cNvSpPr txBox="1"/>
          <p:nvPr/>
        </p:nvSpPr>
        <p:spPr>
          <a:xfrm>
            <a:off x="3611880" y="2606040"/>
            <a:ext cx="822960" cy="457200"/>
          </a:xfrm>
          <a:prstGeom prst="rect">
            <a:avLst/>
          </a:prstGeom>
          <a:noFill/>
          <a:ln/>
        </p:spPr>
        <p:txBody>
          <a:bodyPr wrap="square" lIns="0" tIns="0" rIns="0" bIns="0" rtlCol="0" anchor="t"/>
          <a:lstStyle/>
          <a:p>
            <a:pPr algn="ctr" indent="0" marL="0">
              <a:buNone/>
            </a:pPr>
            <a:r>
              <a:rPr lang="en-US" sz="850" dirty="0">
                <a:solidFill>
                  <a:srgbClr val="B4502F"/>
                </a:solidFill>
                <a:latin typeface="Calibri" pitchFamily="34" charset="0"/>
                <a:ea typeface="Calibri" pitchFamily="34" charset="-122"/>
                <a:cs typeface="Calibri" pitchFamily="34" charset="-120"/>
              </a:rPr>
              <a:t>/api/v1</a:t>
            </a:r>
            <a:endParaRPr lang="en-US" sz="850" dirty="0"/>
          </a:p>
          <a:p>
            <a:pPr algn="ctr" indent="0" marL="0">
              <a:buNone/>
            </a:pPr>
            <a:r>
              <a:rPr lang="en-US" sz="850" dirty="0">
                <a:solidFill>
                  <a:srgbClr val="B4502F"/>
                </a:solidFill>
                <a:latin typeface="Calibri" pitchFamily="34" charset="0"/>
                <a:ea typeface="Calibri" pitchFamily="34" charset="-122"/>
                <a:cs typeface="Calibri" pitchFamily="34" charset="-120"/>
              </a:rPr>
              <a:t>(aynı adres)</a:t>
            </a:r>
            <a:endParaRPr lang="en-US" sz="850" dirty="0"/>
          </a:p>
        </p:txBody>
      </p:sp>
      <p:sp>
        <p:nvSpPr>
          <p:cNvPr id="18" name="Text 16"/>
          <p:cNvSpPr txBox="1"/>
          <p:nvPr/>
        </p:nvSpPr>
        <p:spPr>
          <a:xfrm>
            <a:off x="7726680" y="2606040"/>
            <a:ext cx="822960" cy="274320"/>
          </a:xfrm>
          <a:prstGeom prst="rect">
            <a:avLst/>
          </a:prstGeom>
          <a:noFill/>
          <a:ln/>
        </p:spPr>
        <p:txBody>
          <a:bodyPr wrap="square" lIns="0" tIns="0" rIns="0" bIns="0" rtlCol="0" anchor="t"/>
          <a:lstStyle/>
          <a:p>
            <a:pPr algn="ctr" indent="0" marL="0">
              <a:buNone/>
            </a:pPr>
            <a:r>
              <a:rPr lang="en-US" sz="850" dirty="0">
                <a:solidFill>
                  <a:srgbClr val="B4502F"/>
                </a:solidFill>
                <a:latin typeface="Calibri" pitchFamily="34" charset="0"/>
                <a:ea typeface="Calibri" pitchFamily="34" charset="-122"/>
                <a:cs typeface="Calibri" pitchFamily="34" charset="-120"/>
              </a:rPr>
              <a:t>SQL + RLS</a:t>
            </a:r>
            <a:endParaRPr lang="en-US" sz="850" dirty="0"/>
          </a:p>
        </p:txBody>
      </p:sp>
      <p:sp>
        <p:nvSpPr>
          <p:cNvPr id="19" name="Shape 17"/>
          <p:cNvSpPr/>
          <p:nvPr/>
        </p:nvSpPr>
        <p:spPr>
          <a:xfrm>
            <a:off x="548640" y="3840480"/>
            <a:ext cx="7132320" cy="1417320"/>
          </a:xfrm>
          <a:prstGeom prst="roundRect">
            <a:avLst>
              <a:gd name="adj" fmla="val 6452"/>
            </a:avLst>
          </a:prstGeom>
          <a:solidFill>
            <a:srgbClr val="F1F7F5"/>
          </a:solidFill>
          <a:ln w="12700">
            <a:solidFill>
              <a:srgbClr val="F1F7F5"/>
            </a:solidFill>
            <a:prstDash val="solid"/>
          </a:ln>
        </p:spPr>
      </p:sp>
      <p:sp>
        <p:nvSpPr>
          <p:cNvPr id="20" name="Text 18"/>
          <p:cNvSpPr txBox="1"/>
          <p:nvPr/>
        </p:nvSpPr>
        <p:spPr>
          <a:xfrm>
            <a:off x="731520" y="3977640"/>
            <a:ext cx="6766560" cy="365760"/>
          </a:xfrm>
          <a:prstGeom prst="rect">
            <a:avLst/>
          </a:prstGeom>
          <a:noFill/>
          <a:ln/>
        </p:spPr>
        <p:txBody>
          <a:bodyPr wrap="square" lIns="0" tIns="0" rIns="0" bIns="0" rtlCol="0" anchor="t"/>
          <a:lstStyle/>
          <a:p>
            <a:pPr indent="0" marL="0">
              <a:buNone/>
            </a:pPr>
            <a:r>
              <a:rPr lang="en-US" sz="1500" b="1" dirty="0">
                <a:solidFill>
                  <a:srgbClr val="13232A"/>
                </a:solidFill>
                <a:latin typeface="Calibri" pitchFamily="34" charset="0"/>
                <a:ea typeface="Calibri" pitchFamily="34" charset="-122"/>
                <a:cs typeface="Calibri" pitchFamily="34" charset="-120"/>
              </a:rPr>
              <a:t>packages/shared — ortak kurallar</a:t>
            </a:r>
            <a:endParaRPr lang="en-US" sz="1500" dirty="0"/>
          </a:p>
        </p:txBody>
      </p:sp>
      <p:sp>
        <p:nvSpPr>
          <p:cNvPr id="21" name="Text 19"/>
          <p:cNvSpPr txBox="1"/>
          <p:nvPr/>
        </p:nvSpPr>
        <p:spPr>
          <a:xfrm>
            <a:off x="731520" y="4389120"/>
            <a:ext cx="6766560" cy="777240"/>
          </a:xfrm>
          <a:prstGeom prst="rect">
            <a:avLst/>
          </a:prstGeom>
          <a:noFill/>
          <a:ln/>
        </p:spPr>
        <p:txBody>
          <a:bodyPr wrap="square" lIns="0" tIns="0" rIns="0" bIns="0" rtlCol="0" anchor="t"/>
          <a:lstStyle/>
          <a:p>
            <a:pPr indent="0" marL="0">
              <a:buNone/>
            </a:pPr>
            <a:r>
              <a:rPr lang="en-US" sz="1100" dirty="0">
                <a:solidFill>
                  <a:srgbClr val="13232A"/>
                </a:solidFill>
                <a:latin typeface="Calibri" pitchFamily="34" charset="0"/>
                <a:ea typeface="Calibri" pitchFamily="34" charset="-122"/>
                <a:cs typeface="Calibri" pitchFamily="34" charset="-120"/>
              </a:rPr>
              <a:t>Meslekler, izin ve rol katalogları, kilitli yasal kurallar, kurum tipi profilleri, TC doğrulama, randevu durum akışı, vital aralıkları, finans hesapları, belge/nöbet/stok/kalite kuralları. Hem API hem web aynı kodu kullanır → kural tek yerde.</a:t>
            </a:r>
            <a:endParaRPr lang="en-US" sz="1100" dirty="0"/>
          </a:p>
        </p:txBody>
      </p:sp>
      <p:sp>
        <p:nvSpPr>
          <p:cNvPr id="22" name="Shape 20"/>
          <p:cNvSpPr/>
          <p:nvPr/>
        </p:nvSpPr>
        <p:spPr>
          <a:xfrm>
            <a:off x="8138160" y="3840480"/>
            <a:ext cx="3474720" cy="1417320"/>
          </a:xfrm>
          <a:prstGeom prst="roundRect">
            <a:avLst>
              <a:gd name="adj" fmla="val 6452"/>
            </a:avLst>
          </a:prstGeom>
          <a:solidFill>
            <a:srgbClr val="F1F7F5"/>
          </a:solidFill>
          <a:ln w="12700">
            <a:solidFill>
              <a:srgbClr val="F1F7F5"/>
            </a:solidFill>
            <a:prstDash val="solid"/>
          </a:ln>
        </p:spPr>
      </p:sp>
      <p:sp>
        <p:nvSpPr>
          <p:cNvPr id="23" name="Text 21"/>
          <p:cNvSpPr txBox="1"/>
          <p:nvPr/>
        </p:nvSpPr>
        <p:spPr>
          <a:xfrm>
            <a:off x="8321040" y="3977640"/>
            <a:ext cx="3108960" cy="365760"/>
          </a:xfrm>
          <a:prstGeom prst="rect">
            <a:avLst/>
          </a:prstGeom>
          <a:noFill/>
          <a:ln/>
        </p:spPr>
        <p:txBody>
          <a:bodyPr wrap="square" lIns="0" tIns="0" rIns="0" bIns="0" rtlCol="0" anchor="t"/>
          <a:lstStyle/>
          <a:p>
            <a:pPr indent="0" marL="0">
              <a:buNone/>
            </a:pPr>
            <a:r>
              <a:rPr lang="en-US" sz="1500" b="1" dirty="0">
                <a:solidFill>
                  <a:srgbClr val="13232A"/>
                </a:solidFill>
                <a:latin typeface="Calibri" pitchFamily="34" charset="0"/>
                <a:ea typeface="Calibri" pitchFamily="34" charset="-122"/>
                <a:cs typeface="Calibri" pitchFamily="34" charset="-120"/>
              </a:rPr>
              <a:t>Testler</a:t>
            </a:r>
            <a:endParaRPr lang="en-US" sz="1500" dirty="0"/>
          </a:p>
        </p:txBody>
      </p:sp>
      <p:sp>
        <p:nvSpPr>
          <p:cNvPr id="24" name="Text 22"/>
          <p:cNvSpPr txBox="1"/>
          <p:nvPr/>
        </p:nvSpPr>
        <p:spPr>
          <a:xfrm>
            <a:off x="8321040" y="4389120"/>
            <a:ext cx="3108960" cy="777240"/>
          </a:xfrm>
          <a:prstGeom prst="rect">
            <a:avLst/>
          </a:prstGeom>
          <a:noFill/>
          <a:ln/>
        </p:spPr>
        <p:txBody>
          <a:bodyPr wrap="square" lIns="0" tIns="0" rIns="0" bIns="0" rtlCol="0" anchor="t"/>
          <a:lstStyle/>
          <a:p>
            <a:pPr indent="0" marL="0">
              <a:buNone/>
            </a:pPr>
            <a:r>
              <a:rPr lang="en-US" sz="1100" dirty="0">
                <a:solidFill>
                  <a:srgbClr val="13232A"/>
                </a:solidFill>
                <a:latin typeface="Calibri" pitchFamily="34" charset="0"/>
                <a:ea typeface="Calibri" pitchFamily="34" charset="-122"/>
                <a:cs typeface="Calibri" pitchFamily="34" charset="-120"/>
              </a:rPr>
              <a:t>Jest (kurallar + API, gerçek PostgreSQL)</a:t>
            </a:r>
            <a:endParaRPr lang="en-US" sz="1100" dirty="0"/>
          </a:p>
          <a:p>
            <a:pPr indent="0" marL="0">
              <a:buNone/>
            </a:pPr>
            <a:r>
              <a:rPr lang="en-US" sz="1100" dirty="0">
                <a:solidFill>
                  <a:srgbClr val="13232A"/>
                </a:solidFill>
                <a:latin typeface="Calibri" pitchFamily="34" charset="0"/>
                <a:ea typeface="Calibri" pitchFamily="34" charset="-122"/>
                <a:cs typeface="Calibri" pitchFamily="34" charset="-120"/>
              </a:rPr>
              <a:t>Playwright (tarayıcı akışları)</a:t>
            </a:r>
            <a:endParaRPr lang="en-US" sz="1100" dirty="0"/>
          </a:p>
        </p:txBody>
      </p:sp>
      <p:sp>
        <p:nvSpPr>
          <p:cNvPr id="25" name="Text 23"/>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200" dirty="0">
                <a:solidFill>
                  <a:srgbClr val="3D4F57"/>
                </a:solidFill>
                <a:latin typeface="Calibri" pitchFamily="34" charset="0"/>
                <a:ea typeface="Calibri" pitchFamily="34" charset="-122"/>
                <a:cs typeface="Calibri" pitchFamily="34" charset="-120"/>
              </a:rPr>
              <a:t>Klasörler: apps/web · apps/api (src, migrations, test) · apps/web/e2e · packages/shared · docs (tasarım) · marka (logo) · scripts (veritabanı rolleri) · pnpm monorepo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4F5C"/>
        </a:solidFill>
      </p:bgPr>
    </p:bg>
    <p:spTree>
      <p:nvGrpSpPr>
        <p:cNvPr id="1" name=""/>
        <p:cNvGrpSpPr/>
        <p:nvPr/>
      </p:nvGrpSpPr>
      <p:grpSpPr>
        <a:xfrm>
          <a:off x="0" y="0"/>
          <a:ext cx="0" cy="0"/>
          <a:chOff x="0" y="0"/>
          <a:chExt cx="0" cy="0"/>
        </a:xfrm>
      </p:grpSpPr>
      <p:sp>
        <p:nvSpPr>
          <p:cNvPr id="2" name="Text 0"/>
          <p:cNvSpPr txBox="1"/>
          <p:nvPr/>
        </p:nvSpPr>
        <p:spPr>
          <a:xfrm>
            <a:off x="731520" y="1188720"/>
            <a:ext cx="2743200" cy="1280160"/>
          </a:xfrm>
          <a:prstGeom prst="rect">
            <a:avLst/>
          </a:prstGeom>
          <a:noFill/>
          <a:ln/>
        </p:spPr>
        <p:txBody>
          <a:bodyPr wrap="square" lIns="0" tIns="0" rIns="0" bIns="0" rtlCol="0" anchor="t"/>
          <a:lstStyle/>
          <a:p>
            <a:pPr indent="0" marL="0">
              <a:buNone/>
            </a:pPr>
            <a:r>
              <a:rPr lang="en-US" sz="8800" b="1" dirty="0">
                <a:solidFill>
                  <a:srgbClr val="D9694A"/>
                </a:solidFill>
                <a:latin typeface="Calibri" pitchFamily="34" charset="0"/>
                <a:ea typeface="Calibri" pitchFamily="34" charset="-122"/>
                <a:cs typeface="Calibri" pitchFamily="34" charset="-120"/>
              </a:rPr>
              <a:t>02</a:t>
            </a:r>
            <a:endParaRPr lang="en-US" sz="8800" dirty="0"/>
          </a:p>
        </p:txBody>
      </p:sp>
      <p:sp>
        <p:nvSpPr>
          <p:cNvPr id="3" name="Text 1"/>
          <p:cNvSpPr txBox="1"/>
          <p:nvPr/>
        </p:nvSpPr>
        <p:spPr>
          <a:xfrm>
            <a:off x="731520" y="2560320"/>
            <a:ext cx="7315200" cy="9144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Kurulum</a:t>
            </a:r>
            <a:endParaRPr lang="en-US" sz="4000" dirty="0"/>
          </a:p>
        </p:txBody>
      </p:sp>
      <p:sp>
        <p:nvSpPr>
          <p:cNvPr id="4" name="Text 2"/>
          <p:cNvSpPr txBox="1"/>
          <p:nvPr/>
        </p:nvSpPr>
        <p:spPr>
          <a:xfrm>
            <a:off x="731520" y="3520440"/>
            <a:ext cx="6766560" cy="1097280"/>
          </a:xfrm>
          <a:prstGeom prst="rect">
            <a:avLst/>
          </a:prstGeom>
          <a:noFill/>
          <a:ln/>
        </p:spPr>
        <p:txBody>
          <a:bodyPr wrap="square" lIns="0" tIns="0" rIns="0" bIns="0" rtlCol="0" anchor="t"/>
          <a:lstStyle/>
          <a:p>
            <a:pPr indent="0" marL="0">
              <a:buNone/>
            </a:pPr>
            <a:r>
              <a:rPr lang="en-US" sz="1600" dirty="0">
                <a:solidFill>
                  <a:srgbClr val="CFE6DF"/>
                </a:solidFill>
                <a:latin typeface="Calibri" pitchFamily="34" charset="0"/>
                <a:ea typeface="Calibri" pitchFamily="34" charset="-122"/>
                <a:cs typeface="Calibri" pitchFamily="34" charset="-120"/>
              </a:rPr>
              <a:t>Geliştirme bilgisayarında veya sunucuda sıfırdan çalışır hâle getirme: gereksinimler, ortam değişkenleri, veritabanı, derleme, başlatma ve doğrulama.</a:t>
            </a:r>
            <a:endParaRPr lang="en-US" sz="1600" dirty="0"/>
          </a:p>
        </p:txBody>
      </p:sp>
      <p:sp>
        <p:nvSpPr>
          <p:cNvPr id="5" name="Text 3"/>
          <p:cNvSpPr txBox="1"/>
          <p:nvPr/>
        </p:nvSpPr>
        <p:spPr>
          <a:xfrm>
            <a:off x="8138160" y="1371600"/>
            <a:ext cx="3566160" cy="4389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Gereksinimler</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Ortam değişkenleri</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Adım adım kurulum</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Veritabanı yapısı</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Testlerle doğrulama</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Canlıya çıkış listesi</a:t>
            </a:r>
            <a:endParaRPr lang="en-US" sz="1500" dirty="0"/>
          </a:p>
        </p:txBody>
      </p:sp>
      <p:pic>
        <p:nvPicPr>
          <p:cNvPr id="6" name="Image 0" descr="preencoded.png">    </p:cNvPr>
          <p:cNvPicPr>
            <a:picLocks noChangeAspect="1"/>
          </p:cNvPicPr>
          <p:nvPr/>
        </p:nvPicPr>
        <p:blipFill>
          <a:blip r:embed="rId1">
            <a:alphaModFix amt="80000"/>
          </a:blip>
          <a:stretch>
            <a:fillRect/>
          </a:stretch>
        </p:blipFill>
        <p:spPr>
          <a:xfrm>
            <a:off x="10957255" y="5806440"/>
            <a:ext cx="640080" cy="640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Gereksinimler ve ortam değişkenleri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Kurulumdan önce hazırlanması gerekenler.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48640" y="1463040"/>
            <a:ext cx="3840480" cy="2926080"/>
          </a:xfrm>
          <a:prstGeom prst="roundRect">
            <a:avLst>
              <a:gd name="adj" fmla="val 3125"/>
            </a:avLst>
          </a:prstGeom>
          <a:solidFill>
            <a:srgbClr val="F1F7F5"/>
          </a:solidFill>
          <a:ln w="9525">
            <a:solidFill>
              <a:srgbClr val="CFE6DF"/>
            </a:solidFill>
            <a:prstDash val="solid"/>
          </a:ln>
        </p:spPr>
      </p:sp>
      <p:sp>
        <p:nvSpPr>
          <p:cNvPr id="7" name="Text 5"/>
          <p:cNvSpPr txBox="1"/>
          <p:nvPr/>
        </p:nvSpPr>
        <p:spPr>
          <a:xfrm>
            <a:off x="713232" y="1591056"/>
            <a:ext cx="351129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Yazılım gereksinimleri</a:t>
            </a:r>
            <a:endParaRPr lang="en-US" sz="1400" dirty="0"/>
          </a:p>
        </p:txBody>
      </p:sp>
      <p:sp>
        <p:nvSpPr>
          <p:cNvPr id="8" name="Text 6"/>
          <p:cNvSpPr txBox="1"/>
          <p:nvPr/>
        </p:nvSpPr>
        <p:spPr>
          <a:xfrm>
            <a:off x="713232" y="1965960"/>
            <a:ext cx="3511296" cy="2331720"/>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Node.js 22+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(API ve web)</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pnpm 10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(monorepo paket yöneticisi)</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PostgreSQL 16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veya Docker (docker compose ile hazır gelir)</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Chromium + Playwright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(yalnızca tarayıcı testleri için)</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Git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(depo: DC-Doktor-Klinik, dal: main)</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663440" y="1463040"/>
          <a:ext cx="6949440" cy="914400"/>
        </p:xfrm>
        <a:graphic>
          <a:graphicData uri="http://schemas.openxmlformats.org/drawingml/2006/table">
            <a:tbl>
              <a:tblPr/>
              <a:tblGrid>
                <a:gridCol w="2331720"/>
                <a:gridCol w="777240"/>
                <a:gridCol w="384048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Değişken</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Nerede</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Açıklama</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DATABASE_URL</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API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Uygulama kullanıcısı dc_app (RLS’e tabi, tablo sahibi değil)</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MIGRATION_DATABASE_URL</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API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Tablo sahibi dc_owner; yalnız migration çalıştırır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JWT_SECRET</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API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En az 32 karakter rastgele; kısa olursa API başlamaz</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PORT</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API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Varsayılan 3000</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ALAN_SIFRELEME_ANAHTARI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API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openssl rand -base64 32 ile üretilen 32 bayt; TC no ve belge dosyalarını şifreler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NODE_ENV=production / COOKIE_SECURE=true</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API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Oturum çerezi yalnızca HTTPS ile gönderilir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API_URL</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Web</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Web’in /api/v1 isteklerini aktardığı API adresi (vars. http://localhost:3000)</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
        <p:nvSpPr>
          <p:cNvPr id="10" name="Shape 7"/>
          <p:cNvSpPr/>
          <p:nvPr/>
        </p:nvSpPr>
        <p:spPr>
          <a:xfrm>
            <a:off x="548640" y="4663440"/>
            <a:ext cx="11064240" cy="1463040"/>
          </a:xfrm>
          <a:prstGeom prst="roundRect">
            <a:avLst>
              <a:gd name="adj" fmla="val 6250"/>
            </a:avLst>
          </a:prstGeom>
          <a:solidFill>
            <a:srgbClr val="FBEAE8"/>
          </a:solidFill>
          <a:ln w="12700">
            <a:solidFill>
              <a:srgbClr val="FBEAE8"/>
            </a:solidFill>
            <a:prstDash val="solid"/>
          </a:ln>
        </p:spPr>
      </p:sp>
      <p:sp>
        <p:nvSpPr>
          <p:cNvPr id="11" name="Text 8"/>
          <p:cNvSpPr txBox="1"/>
          <p:nvPr/>
        </p:nvSpPr>
        <p:spPr>
          <a:xfrm>
            <a:off x="731520" y="4773168"/>
            <a:ext cx="10698480" cy="320040"/>
          </a:xfrm>
          <a:prstGeom prst="rect">
            <a:avLst/>
          </a:prstGeom>
          <a:noFill/>
          <a:ln/>
        </p:spPr>
        <p:txBody>
          <a:bodyPr wrap="square" lIns="0" tIns="0" rIns="0" bIns="0" rtlCol="0" anchor="t"/>
          <a:lstStyle/>
          <a:p>
            <a:pPr indent="0" marL="0">
              <a:buNone/>
            </a:pPr>
            <a:r>
              <a:rPr lang="en-US" sz="1400" b="1" dirty="0">
                <a:solidFill>
                  <a:srgbClr val="B42318"/>
                </a:solidFill>
                <a:latin typeface="Calibri" pitchFamily="34" charset="0"/>
                <a:ea typeface="Calibri" pitchFamily="34" charset="-122"/>
                <a:cs typeface="Calibri" pitchFamily="34" charset="-120"/>
              </a:rPr>
              <a:t>Dikkat: şifreleme anahtarı</a:t>
            </a:r>
            <a:endParaRPr lang="en-US" sz="1400" dirty="0"/>
          </a:p>
        </p:txBody>
      </p:sp>
      <p:sp>
        <p:nvSpPr>
          <p:cNvPr id="12" name="Text 9"/>
          <p:cNvSpPr txBox="1"/>
          <p:nvPr/>
        </p:nvSpPr>
        <p:spPr>
          <a:xfrm>
            <a:off x="731520" y="5120640"/>
            <a:ext cx="10698480" cy="914400"/>
          </a:xfrm>
          <a:prstGeom prst="rect">
            <a:avLst/>
          </a:prstGeom>
          <a:noFill/>
          <a:ln/>
        </p:spPr>
        <p:txBody>
          <a:bodyPr wrap="square" lIns="0" tIns="0" rIns="0" bIns="0" rtlCol="0" anchor="t"/>
          <a:lstStyle/>
          <a:p>
            <a:pPr indent="0" marL="0">
              <a:buNone/>
            </a:pPr>
            <a:r>
              <a:rPr lang="en-US" sz="1200" dirty="0">
                <a:solidFill>
                  <a:srgbClr val="13232A"/>
                </a:solidFill>
                <a:latin typeface="Calibri" pitchFamily="34" charset="0"/>
                <a:ea typeface="Calibri" pitchFamily="34" charset="-122"/>
                <a:cs typeface="Calibri" pitchFamily="34" charset="-120"/>
              </a:rPr>
              <a:t>ALAN_SIFRELEME_ANAHTARI kaybedilirse şifreli T.C. kimlik numaraları, isimsiz olay bildiren kimlikleri ve yüklenen belge dosyaları bir daha açılamaz. Anahtarı bir gizli kasada (secret manager) saklayın, yedekleyin ve asla depoya koymayın. .env dosyası .gitignore ile dışarıda tutulur.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Adım adım kurulum</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Aşağıdaki komutlar deponun kök klasöründe çalıştırılır.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435608"/>
            <a:ext cx="420624" cy="420624"/>
          </a:xfrm>
          <a:prstGeom prst="ellipse">
            <a:avLst/>
          </a:prstGeom>
          <a:solidFill>
            <a:srgbClr val="D9694A"/>
          </a:solidFill>
          <a:ln w="12700">
            <a:solidFill>
              <a:srgbClr val="D9694A"/>
            </a:solidFill>
            <a:prstDash val="solid"/>
          </a:ln>
        </p:spPr>
      </p:sp>
      <p:sp>
        <p:nvSpPr>
          <p:cNvPr id="7" name="Text 5"/>
          <p:cNvSpPr txBox="1"/>
          <p:nvPr/>
        </p:nvSpPr>
        <p:spPr>
          <a:xfrm>
            <a:off x="548640" y="1435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097280" y="1417320"/>
            <a:ext cx="4846320" cy="420624"/>
          </a:xfrm>
          <a:prstGeom prst="rect">
            <a:avLst/>
          </a:prstGeom>
          <a:noFill/>
          <a:ln/>
        </p:spPr>
        <p:txBody>
          <a:bodyPr wrap="square" lIns="0" tIns="0" rIns="0" bIns="0" rtlCol="0" anchor="ctr"/>
          <a:lstStyle/>
          <a:p>
            <a:pPr indent="0" marL="0">
              <a:buNone/>
            </a:pPr>
            <a:r>
              <a:rPr lang="en-US" sz="1400" b="1" dirty="0">
                <a:solidFill>
                  <a:srgbClr val="0E4F5C"/>
                </a:solidFill>
                <a:latin typeface="Calibri" pitchFamily="34" charset="0"/>
                <a:ea typeface="Calibri" pitchFamily="34" charset="-122"/>
                <a:cs typeface="Calibri" pitchFamily="34" charset="-120"/>
              </a:rPr>
              <a:t>Kodu alın ve bağımlılıkları kurun</a:t>
            </a:r>
            <a:endParaRPr lang="en-US" sz="1400" dirty="0"/>
          </a:p>
        </p:txBody>
      </p:sp>
      <p:sp>
        <p:nvSpPr>
          <p:cNvPr id="9" name="Shape 7"/>
          <p:cNvSpPr/>
          <p:nvPr/>
        </p:nvSpPr>
        <p:spPr>
          <a:xfrm>
            <a:off x="1097280" y="1920240"/>
            <a:ext cx="4892040" cy="987552"/>
          </a:xfrm>
          <a:prstGeom prst="roundRect">
            <a:avLst>
              <a:gd name="adj" fmla="val 7407"/>
            </a:avLst>
          </a:prstGeom>
          <a:solidFill>
            <a:srgbClr val="13232A"/>
          </a:solidFill>
          <a:ln w="12700">
            <a:solidFill>
              <a:srgbClr val="13232A"/>
            </a:solidFill>
            <a:prstDash val="solid"/>
          </a:ln>
        </p:spPr>
      </p:sp>
      <p:sp>
        <p:nvSpPr>
          <p:cNvPr id="10" name="Text 8"/>
          <p:cNvSpPr txBox="1"/>
          <p:nvPr/>
        </p:nvSpPr>
        <p:spPr>
          <a:xfrm>
            <a:off x="1280160" y="2057400"/>
            <a:ext cx="4526280" cy="713232"/>
          </a:xfrm>
          <a:prstGeom prst="rect">
            <a:avLst/>
          </a:prstGeom>
          <a:noFill/>
          <a:ln/>
        </p:spPr>
        <p:txBody>
          <a:bodyPr wrap="square" lIns="0" tIns="0" rIns="0" bIns="0" rtlCol="0" anchor="t"/>
          <a:lstStyle/>
          <a:p>
            <a:pPr indent="0" marL="0">
              <a:buNone/>
            </a:pPr>
            <a:r>
              <a:rPr lang="en-US" sz="1000" dirty="0">
                <a:solidFill>
                  <a:srgbClr val="F1F7F5"/>
                </a:solidFill>
                <a:latin typeface="Courier New" pitchFamily="34" charset="0"/>
                <a:ea typeface="Courier New" pitchFamily="34" charset="-122"/>
                <a:cs typeface="Courier New" pitchFamily="34" charset="-120"/>
              </a:rPr>
              <a:t>git clone https://github.com/emrullahkara/DC-Doktor-Klinik</a:t>
            </a:r>
            <a:endParaRPr lang="en-US" sz="1000" dirty="0"/>
          </a:p>
          <a:p>
            <a:pPr indent="0" marL="0">
              <a:buNone/>
            </a:pPr>
            <a:r>
              <a:rPr lang="en-US" sz="1000" dirty="0">
                <a:solidFill>
                  <a:srgbClr val="F1F7F5"/>
                </a:solidFill>
                <a:latin typeface="Courier New" pitchFamily="34" charset="0"/>
                <a:ea typeface="Courier New" pitchFamily="34" charset="-122"/>
                <a:cs typeface="Courier New" pitchFamily="34" charset="-120"/>
              </a:rPr>
              <a:t>cd DC-Doktor-Klinik &amp;&amp; pnpm install</a:t>
            </a:r>
            <a:endParaRPr lang="en-US" sz="1000" dirty="0"/>
          </a:p>
        </p:txBody>
      </p:sp>
      <p:sp>
        <p:nvSpPr>
          <p:cNvPr id="11" name="Shape 9"/>
          <p:cNvSpPr/>
          <p:nvPr/>
        </p:nvSpPr>
        <p:spPr>
          <a:xfrm>
            <a:off x="6172200" y="1435608"/>
            <a:ext cx="420624" cy="420624"/>
          </a:xfrm>
          <a:prstGeom prst="ellipse">
            <a:avLst/>
          </a:prstGeom>
          <a:solidFill>
            <a:srgbClr val="D9694A"/>
          </a:solidFill>
          <a:ln w="12700">
            <a:solidFill>
              <a:srgbClr val="D9694A"/>
            </a:solidFill>
            <a:prstDash val="solid"/>
          </a:ln>
        </p:spPr>
      </p:sp>
      <p:sp>
        <p:nvSpPr>
          <p:cNvPr id="12" name="Text 10"/>
          <p:cNvSpPr txBox="1"/>
          <p:nvPr/>
        </p:nvSpPr>
        <p:spPr>
          <a:xfrm>
            <a:off x="6172200" y="1435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6720840" y="1417320"/>
            <a:ext cx="4846320" cy="420624"/>
          </a:xfrm>
          <a:prstGeom prst="rect">
            <a:avLst/>
          </a:prstGeom>
          <a:noFill/>
          <a:ln/>
        </p:spPr>
        <p:txBody>
          <a:bodyPr wrap="square" lIns="0" tIns="0" rIns="0" bIns="0" rtlCol="0" anchor="ctr"/>
          <a:lstStyle/>
          <a:p>
            <a:pPr indent="0" marL="0">
              <a:buNone/>
            </a:pPr>
            <a:r>
              <a:rPr lang="en-US" sz="1400" b="1" dirty="0">
                <a:solidFill>
                  <a:srgbClr val="0E4F5C"/>
                </a:solidFill>
                <a:latin typeface="Calibri" pitchFamily="34" charset="0"/>
                <a:ea typeface="Calibri" pitchFamily="34" charset="-122"/>
                <a:cs typeface="Calibri" pitchFamily="34" charset="-120"/>
              </a:rPr>
              <a:t>Ortam dosyasını hazırlayın</a:t>
            </a:r>
            <a:endParaRPr lang="en-US" sz="1400" dirty="0"/>
          </a:p>
        </p:txBody>
      </p:sp>
      <p:sp>
        <p:nvSpPr>
          <p:cNvPr id="14" name="Shape 12"/>
          <p:cNvSpPr/>
          <p:nvPr/>
        </p:nvSpPr>
        <p:spPr>
          <a:xfrm>
            <a:off x="6720840" y="1920240"/>
            <a:ext cx="4892040" cy="987552"/>
          </a:xfrm>
          <a:prstGeom prst="roundRect">
            <a:avLst>
              <a:gd name="adj" fmla="val 7407"/>
            </a:avLst>
          </a:prstGeom>
          <a:solidFill>
            <a:srgbClr val="13232A"/>
          </a:solidFill>
          <a:ln w="12700">
            <a:solidFill>
              <a:srgbClr val="13232A"/>
            </a:solidFill>
            <a:prstDash val="solid"/>
          </a:ln>
        </p:spPr>
      </p:sp>
      <p:sp>
        <p:nvSpPr>
          <p:cNvPr id="15" name="Text 13"/>
          <p:cNvSpPr txBox="1"/>
          <p:nvPr/>
        </p:nvSpPr>
        <p:spPr>
          <a:xfrm>
            <a:off x="6903720" y="2057400"/>
            <a:ext cx="4526280" cy="713232"/>
          </a:xfrm>
          <a:prstGeom prst="rect">
            <a:avLst/>
          </a:prstGeom>
          <a:noFill/>
          <a:ln/>
        </p:spPr>
        <p:txBody>
          <a:bodyPr wrap="square" lIns="0" tIns="0" rIns="0" bIns="0" rtlCol="0" anchor="t"/>
          <a:lstStyle/>
          <a:p>
            <a:pPr indent="0" marL="0">
              <a:buNone/>
            </a:pPr>
            <a:r>
              <a:rPr lang="en-US" sz="1000" dirty="0">
                <a:solidFill>
                  <a:srgbClr val="F1F7F5"/>
                </a:solidFill>
                <a:latin typeface="Courier New" pitchFamily="34" charset="0"/>
                <a:ea typeface="Courier New" pitchFamily="34" charset="-122"/>
                <a:cs typeface="Courier New" pitchFamily="34" charset="-120"/>
              </a:rPr>
              <a:t>cp .env.example .env</a:t>
            </a:r>
            <a:endParaRPr lang="en-US" sz="1000" dirty="0"/>
          </a:p>
          <a:p>
            <a:pPr indent="0" marL="0">
              <a:buNone/>
            </a:pPr>
            <a:r>
              <a:rPr lang="en-US" sz="1000" dirty="0">
                <a:solidFill>
                  <a:srgbClr val="8FB3AA"/>
                </a:solidFill>
                <a:latin typeface="Courier New" pitchFamily="34" charset="0"/>
                <a:ea typeface="Courier New" pitchFamily="34" charset="-122"/>
                <a:cs typeface="Courier New" pitchFamily="34" charset="-120"/>
              </a:rPr>
              <a:t># ALAN_SIFRELEME_ANAHTARI=$(openssl rand -base64 32)</a:t>
            </a:r>
            <a:endParaRPr lang="en-US" sz="1000" dirty="0"/>
          </a:p>
          <a:p>
            <a:pPr indent="0" marL="0">
              <a:buNone/>
            </a:pPr>
            <a:r>
              <a:rPr lang="en-US" sz="1000" dirty="0">
                <a:solidFill>
                  <a:srgbClr val="8FB3AA"/>
                </a:solidFill>
                <a:latin typeface="Courier New" pitchFamily="34" charset="0"/>
                <a:ea typeface="Courier New" pitchFamily="34" charset="-122"/>
                <a:cs typeface="Courier New" pitchFamily="34" charset="-120"/>
              </a:rPr>
              <a:t># JWT_SECRET: en az 32 karakter rastgele</a:t>
            </a:r>
            <a:endParaRPr lang="en-US" sz="1000" dirty="0"/>
          </a:p>
        </p:txBody>
      </p:sp>
      <p:sp>
        <p:nvSpPr>
          <p:cNvPr id="16" name="Shape 14"/>
          <p:cNvSpPr/>
          <p:nvPr/>
        </p:nvSpPr>
        <p:spPr>
          <a:xfrm>
            <a:off x="548640" y="3063240"/>
            <a:ext cx="420624" cy="420624"/>
          </a:xfrm>
          <a:prstGeom prst="ellipse">
            <a:avLst/>
          </a:prstGeom>
          <a:solidFill>
            <a:srgbClr val="D9694A"/>
          </a:solidFill>
          <a:ln w="12700">
            <a:solidFill>
              <a:srgbClr val="D9694A"/>
            </a:solidFill>
            <a:prstDash val="solid"/>
          </a:ln>
        </p:spPr>
      </p:sp>
      <p:sp>
        <p:nvSpPr>
          <p:cNvPr id="17" name="Text 15"/>
          <p:cNvSpPr txBox="1"/>
          <p:nvPr/>
        </p:nvSpPr>
        <p:spPr>
          <a:xfrm>
            <a:off x="548640" y="30632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097280" y="3044952"/>
            <a:ext cx="4846320" cy="420624"/>
          </a:xfrm>
          <a:prstGeom prst="rect">
            <a:avLst/>
          </a:prstGeom>
          <a:noFill/>
          <a:ln/>
        </p:spPr>
        <p:txBody>
          <a:bodyPr wrap="square" lIns="0" tIns="0" rIns="0" bIns="0" rtlCol="0" anchor="ctr"/>
          <a:lstStyle/>
          <a:p>
            <a:pPr indent="0" marL="0">
              <a:buNone/>
            </a:pPr>
            <a:r>
              <a:rPr lang="en-US" sz="1400" b="1" dirty="0">
                <a:solidFill>
                  <a:srgbClr val="0E4F5C"/>
                </a:solidFill>
                <a:latin typeface="Calibri" pitchFamily="34" charset="0"/>
                <a:ea typeface="Calibri" pitchFamily="34" charset="-122"/>
                <a:cs typeface="Calibri" pitchFamily="34" charset="-120"/>
              </a:rPr>
              <a:t>Veritabanını başlatın</a:t>
            </a:r>
            <a:endParaRPr lang="en-US" sz="1400" dirty="0"/>
          </a:p>
        </p:txBody>
      </p:sp>
      <p:sp>
        <p:nvSpPr>
          <p:cNvPr id="19" name="Shape 17"/>
          <p:cNvSpPr/>
          <p:nvPr/>
        </p:nvSpPr>
        <p:spPr>
          <a:xfrm>
            <a:off x="1097280" y="3547872"/>
            <a:ext cx="4892040" cy="987552"/>
          </a:xfrm>
          <a:prstGeom prst="roundRect">
            <a:avLst>
              <a:gd name="adj" fmla="val 7407"/>
            </a:avLst>
          </a:prstGeom>
          <a:solidFill>
            <a:srgbClr val="13232A"/>
          </a:solidFill>
          <a:ln w="12700">
            <a:solidFill>
              <a:srgbClr val="13232A"/>
            </a:solidFill>
            <a:prstDash val="solid"/>
          </a:ln>
        </p:spPr>
      </p:sp>
      <p:sp>
        <p:nvSpPr>
          <p:cNvPr id="20" name="Text 18"/>
          <p:cNvSpPr txBox="1"/>
          <p:nvPr/>
        </p:nvSpPr>
        <p:spPr>
          <a:xfrm>
            <a:off x="1280160" y="3685032"/>
            <a:ext cx="4526280" cy="713232"/>
          </a:xfrm>
          <a:prstGeom prst="rect">
            <a:avLst/>
          </a:prstGeom>
          <a:noFill/>
          <a:ln/>
        </p:spPr>
        <p:txBody>
          <a:bodyPr wrap="square" lIns="0" tIns="0" rIns="0" bIns="0" rtlCol="0" anchor="t"/>
          <a:lstStyle/>
          <a:p>
            <a:pPr indent="0" marL="0">
              <a:buNone/>
            </a:pPr>
            <a:r>
              <a:rPr lang="en-US" sz="1000" dirty="0">
                <a:solidFill>
                  <a:srgbClr val="F1F7F5"/>
                </a:solidFill>
                <a:latin typeface="Courier New" pitchFamily="34" charset="0"/>
                <a:ea typeface="Courier New" pitchFamily="34" charset="-122"/>
                <a:cs typeface="Courier New" pitchFamily="34" charset="-120"/>
              </a:rPr>
              <a:t>docker compose up -d</a:t>
            </a:r>
            <a:endParaRPr lang="en-US" sz="1000" dirty="0"/>
          </a:p>
          <a:p>
            <a:pPr indent="0" marL="0">
              <a:buNone/>
            </a:pPr>
            <a:r>
              <a:rPr lang="en-US" sz="1000" dirty="0">
                <a:solidFill>
                  <a:srgbClr val="8FB3AA"/>
                </a:solidFill>
                <a:latin typeface="Courier New" pitchFamily="34" charset="0"/>
                <a:ea typeface="Courier New" pitchFamily="34" charset="-122"/>
                <a:cs typeface="Courier New" pitchFamily="34" charset="-120"/>
              </a:rPr>
              <a:t># veya: psql -U postgres -f scripts/db-init.sql</a:t>
            </a:r>
            <a:endParaRPr lang="en-US" sz="1000" dirty="0"/>
          </a:p>
          <a:p>
            <a:pPr indent="0" marL="0">
              <a:buNone/>
            </a:pPr>
            <a:r>
              <a:rPr lang="en-US" sz="1000" dirty="0">
                <a:solidFill>
                  <a:srgbClr val="8FB3AA"/>
                </a:solidFill>
                <a:latin typeface="Courier New" pitchFamily="34" charset="0"/>
                <a:ea typeface="Courier New" pitchFamily="34" charset="-122"/>
                <a:cs typeface="Courier New" pitchFamily="34" charset="-120"/>
              </a:rPr>
              <a:t># dc_owner, dc_app, dc_klinik, dc_klinik_test oluşur</a:t>
            </a:r>
            <a:endParaRPr lang="en-US" sz="1000" dirty="0"/>
          </a:p>
        </p:txBody>
      </p:sp>
      <p:sp>
        <p:nvSpPr>
          <p:cNvPr id="21" name="Shape 19"/>
          <p:cNvSpPr/>
          <p:nvPr/>
        </p:nvSpPr>
        <p:spPr>
          <a:xfrm>
            <a:off x="6172200" y="3063240"/>
            <a:ext cx="420624" cy="420624"/>
          </a:xfrm>
          <a:prstGeom prst="ellipse">
            <a:avLst/>
          </a:prstGeom>
          <a:solidFill>
            <a:srgbClr val="D9694A"/>
          </a:solidFill>
          <a:ln w="12700">
            <a:solidFill>
              <a:srgbClr val="D9694A"/>
            </a:solidFill>
            <a:prstDash val="solid"/>
          </a:ln>
        </p:spPr>
      </p:sp>
      <p:sp>
        <p:nvSpPr>
          <p:cNvPr id="22" name="Text 20"/>
          <p:cNvSpPr txBox="1"/>
          <p:nvPr/>
        </p:nvSpPr>
        <p:spPr>
          <a:xfrm>
            <a:off x="6172200" y="30632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6720840" y="3044952"/>
            <a:ext cx="4846320" cy="420624"/>
          </a:xfrm>
          <a:prstGeom prst="rect">
            <a:avLst/>
          </a:prstGeom>
          <a:noFill/>
          <a:ln/>
        </p:spPr>
        <p:txBody>
          <a:bodyPr wrap="square" lIns="0" tIns="0" rIns="0" bIns="0" rtlCol="0" anchor="ctr"/>
          <a:lstStyle/>
          <a:p>
            <a:pPr indent="0" marL="0">
              <a:buNone/>
            </a:pPr>
            <a:r>
              <a:rPr lang="en-US" sz="1400" b="1" dirty="0">
                <a:solidFill>
                  <a:srgbClr val="0E4F5C"/>
                </a:solidFill>
                <a:latin typeface="Calibri" pitchFamily="34" charset="0"/>
                <a:ea typeface="Calibri" pitchFamily="34" charset="-122"/>
                <a:cs typeface="Calibri" pitchFamily="34" charset="-120"/>
              </a:rPr>
              <a:t>Ortak paketi derleyin, tabloları kurun</a:t>
            </a:r>
            <a:endParaRPr lang="en-US" sz="1400" dirty="0"/>
          </a:p>
        </p:txBody>
      </p:sp>
      <p:sp>
        <p:nvSpPr>
          <p:cNvPr id="24" name="Shape 22"/>
          <p:cNvSpPr/>
          <p:nvPr/>
        </p:nvSpPr>
        <p:spPr>
          <a:xfrm>
            <a:off x="6720840" y="3547872"/>
            <a:ext cx="4892040" cy="987552"/>
          </a:xfrm>
          <a:prstGeom prst="roundRect">
            <a:avLst>
              <a:gd name="adj" fmla="val 7407"/>
            </a:avLst>
          </a:prstGeom>
          <a:solidFill>
            <a:srgbClr val="13232A"/>
          </a:solidFill>
          <a:ln w="12700">
            <a:solidFill>
              <a:srgbClr val="13232A"/>
            </a:solidFill>
            <a:prstDash val="solid"/>
          </a:ln>
        </p:spPr>
      </p:sp>
      <p:sp>
        <p:nvSpPr>
          <p:cNvPr id="25" name="Text 23"/>
          <p:cNvSpPr txBox="1"/>
          <p:nvPr/>
        </p:nvSpPr>
        <p:spPr>
          <a:xfrm>
            <a:off x="6903720" y="3685032"/>
            <a:ext cx="4526280" cy="713232"/>
          </a:xfrm>
          <a:prstGeom prst="rect">
            <a:avLst/>
          </a:prstGeom>
          <a:noFill/>
          <a:ln/>
        </p:spPr>
        <p:txBody>
          <a:bodyPr wrap="square" lIns="0" tIns="0" rIns="0" bIns="0" rtlCol="0" anchor="t"/>
          <a:lstStyle/>
          <a:p>
            <a:pPr indent="0" marL="0">
              <a:buNone/>
            </a:pPr>
            <a:r>
              <a:rPr lang="en-US" sz="1000" dirty="0">
                <a:solidFill>
                  <a:srgbClr val="F1F7F5"/>
                </a:solidFill>
                <a:latin typeface="Courier New" pitchFamily="34" charset="0"/>
                <a:ea typeface="Courier New" pitchFamily="34" charset="-122"/>
                <a:cs typeface="Courier New" pitchFamily="34" charset="-120"/>
              </a:rPr>
              <a:t>pnpm --filter @dc/shared build</a:t>
            </a:r>
            <a:endParaRPr lang="en-US" sz="1000" dirty="0"/>
          </a:p>
          <a:p>
            <a:pPr indent="0" marL="0">
              <a:buNone/>
            </a:pPr>
            <a:r>
              <a:rPr lang="en-US" sz="1000" dirty="0">
                <a:solidFill>
                  <a:srgbClr val="F1F7F5"/>
                </a:solidFill>
                <a:latin typeface="Courier New" pitchFamily="34" charset="0"/>
                <a:ea typeface="Courier New" pitchFamily="34" charset="-122"/>
                <a:cs typeface="Courier New" pitchFamily="34" charset="-120"/>
              </a:rPr>
              <a:t>pnpm db:migrate   # 0001–0009 sırayla uygulanır</a:t>
            </a:r>
            <a:endParaRPr lang="en-US" sz="1000" dirty="0"/>
          </a:p>
        </p:txBody>
      </p:sp>
      <p:sp>
        <p:nvSpPr>
          <p:cNvPr id="26" name="Shape 24"/>
          <p:cNvSpPr/>
          <p:nvPr/>
        </p:nvSpPr>
        <p:spPr>
          <a:xfrm>
            <a:off x="548640" y="4690872"/>
            <a:ext cx="420624" cy="420624"/>
          </a:xfrm>
          <a:prstGeom prst="ellipse">
            <a:avLst/>
          </a:prstGeom>
          <a:solidFill>
            <a:srgbClr val="D9694A"/>
          </a:solidFill>
          <a:ln w="12700">
            <a:solidFill>
              <a:srgbClr val="D9694A"/>
            </a:solidFill>
            <a:prstDash val="solid"/>
          </a:ln>
        </p:spPr>
      </p:sp>
      <p:sp>
        <p:nvSpPr>
          <p:cNvPr id="27" name="Text 25"/>
          <p:cNvSpPr txBox="1"/>
          <p:nvPr/>
        </p:nvSpPr>
        <p:spPr>
          <a:xfrm>
            <a:off x="548640" y="4690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txBox="1"/>
          <p:nvPr/>
        </p:nvSpPr>
        <p:spPr>
          <a:xfrm>
            <a:off x="1097280" y="4672584"/>
            <a:ext cx="4846320" cy="420624"/>
          </a:xfrm>
          <a:prstGeom prst="rect">
            <a:avLst/>
          </a:prstGeom>
          <a:noFill/>
          <a:ln/>
        </p:spPr>
        <p:txBody>
          <a:bodyPr wrap="square" lIns="0" tIns="0" rIns="0" bIns="0" rtlCol="0" anchor="ctr"/>
          <a:lstStyle/>
          <a:p>
            <a:pPr indent="0" marL="0">
              <a:buNone/>
            </a:pPr>
            <a:r>
              <a:rPr lang="en-US" sz="1400" b="1" dirty="0">
                <a:solidFill>
                  <a:srgbClr val="0E4F5C"/>
                </a:solidFill>
                <a:latin typeface="Calibri" pitchFamily="34" charset="0"/>
                <a:ea typeface="Calibri" pitchFamily="34" charset="-122"/>
                <a:cs typeface="Calibri" pitchFamily="34" charset="-120"/>
              </a:rPr>
              <a:t>Geliştirme modunda çalıştırın</a:t>
            </a:r>
            <a:endParaRPr lang="en-US" sz="1400" dirty="0"/>
          </a:p>
        </p:txBody>
      </p:sp>
      <p:sp>
        <p:nvSpPr>
          <p:cNvPr id="29" name="Shape 27"/>
          <p:cNvSpPr/>
          <p:nvPr/>
        </p:nvSpPr>
        <p:spPr>
          <a:xfrm>
            <a:off x="1097280" y="5175504"/>
            <a:ext cx="4892040" cy="987552"/>
          </a:xfrm>
          <a:prstGeom prst="roundRect">
            <a:avLst>
              <a:gd name="adj" fmla="val 7407"/>
            </a:avLst>
          </a:prstGeom>
          <a:solidFill>
            <a:srgbClr val="13232A"/>
          </a:solidFill>
          <a:ln w="12700">
            <a:solidFill>
              <a:srgbClr val="13232A"/>
            </a:solidFill>
            <a:prstDash val="solid"/>
          </a:ln>
        </p:spPr>
      </p:sp>
      <p:sp>
        <p:nvSpPr>
          <p:cNvPr id="30" name="Text 28"/>
          <p:cNvSpPr txBox="1"/>
          <p:nvPr/>
        </p:nvSpPr>
        <p:spPr>
          <a:xfrm>
            <a:off x="1280160" y="5312664"/>
            <a:ext cx="4526280" cy="713232"/>
          </a:xfrm>
          <a:prstGeom prst="rect">
            <a:avLst/>
          </a:prstGeom>
          <a:noFill/>
          <a:ln/>
        </p:spPr>
        <p:txBody>
          <a:bodyPr wrap="square" lIns="0" tIns="0" rIns="0" bIns="0" rtlCol="0" anchor="t"/>
          <a:lstStyle/>
          <a:p>
            <a:pPr indent="0" marL="0">
              <a:buNone/>
            </a:pPr>
            <a:r>
              <a:rPr lang="en-US" sz="1000" dirty="0">
                <a:solidFill>
                  <a:srgbClr val="F1F7F5"/>
                </a:solidFill>
                <a:latin typeface="Courier New" pitchFamily="34" charset="0"/>
                <a:ea typeface="Courier New" pitchFamily="34" charset="-122"/>
                <a:cs typeface="Courier New" pitchFamily="34" charset="-120"/>
              </a:rPr>
              <a:t>pnpm dev:api                 # :3000/api/v1</a:t>
            </a:r>
            <a:endParaRPr lang="en-US" sz="1000" dirty="0"/>
          </a:p>
          <a:p>
            <a:pPr indent="0" marL="0">
              <a:buNone/>
            </a:pPr>
            <a:r>
              <a:rPr lang="en-US" sz="1000" dirty="0">
                <a:solidFill>
                  <a:srgbClr val="F1F7F5"/>
                </a:solidFill>
                <a:latin typeface="Courier New" pitchFamily="34" charset="0"/>
                <a:ea typeface="Courier New" pitchFamily="34" charset="-122"/>
                <a:cs typeface="Courier New" pitchFamily="34" charset="-120"/>
              </a:rPr>
              <a:t>pnpm --filter @dc/web dev     # :3001</a:t>
            </a:r>
            <a:endParaRPr lang="en-US" sz="1000" dirty="0"/>
          </a:p>
        </p:txBody>
      </p:sp>
      <p:sp>
        <p:nvSpPr>
          <p:cNvPr id="31" name="Shape 29"/>
          <p:cNvSpPr/>
          <p:nvPr/>
        </p:nvSpPr>
        <p:spPr>
          <a:xfrm>
            <a:off x="6172200" y="4690872"/>
            <a:ext cx="420624" cy="420624"/>
          </a:xfrm>
          <a:prstGeom prst="ellipse">
            <a:avLst/>
          </a:prstGeom>
          <a:solidFill>
            <a:srgbClr val="D9694A"/>
          </a:solidFill>
          <a:ln w="12700">
            <a:solidFill>
              <a:srgbClr val="D9694A"/>
            </a:solidFill>
            <a:prstDash val="solid"/>
          </a:ln>
        </p:spPr>
      </p:sp>
      <p:sp>
        <p:nvSpPr>
          <p:cNvPr id="32" name="Text 30"/>
          <p:cNvSpPr txBox="1"/>
          <p:nvPr/>
        </p:nvSpPr>
        <p:spPr>
          <a:xfrm>
            <a:off x="6172200" y="4690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txBox="1"/>
          <p:nvPr/>
        </p:nvSpPr>
        <p:spPr>
          <a:xfrm>
            <a:off x="6720840" y="4672584"/>
            <a:ext cx="4846320" cy="420624"/>
          </a:xfrm>
          <a:prstGeom prst="rect">
            <a:avLst/>
          </a:prstGeom>
          <a:noFill/>
          <a:ln/>
        </p:spPr>
        <p:txBody>
          <a:bodyPr wrap="square" lIns="0" tIns="0" rIns="0" bIns="0" rtlCol="0" anchor="ctr"/>
          <a:lstStyle/>
          <a:p>
            <a:pPr indent="0" marL="0">
              <a:buNone/>
            </a:pPr>
            <a:r>
              <a:rPr lang="en-US" sz="1400" b="1" dirty="0">
                <a:solidFill>
                  <a:srgbClr val="0E4F5C"/>
                </a:solidFill>
                <a:latin typeface="Calibri" pitchFamily="34" charset="0"/>
                <a:ea typeface="Calibri" pitchFamily="34" charset="-122"/>
                <a:cs typeface="Calibri" pitchFamily="34" charset="-120"/>
              </a:rPr>
              <a:t>Üretim derlemesi</a:t>
            </a:r>
            <a:endParaRPr lang="en-US" sz="1400" dirty="0"/>
          </a:p>
        </p:txBody>
      </p:sp>
      <p:sp>
        <p:nvSpPr>
          <p:cNvPr id="34" name="Shape 32"/>
          <p:cNvSpPr/>
          <p:nvPr/>
        </p:nvSpPr>
        <p:spPr>
          <a:xfrm>
            <a:off x="6720840" y="5175504"/>
            <a:ext cx="4892040" cy="987552"/>
          </a:xfrm>
          <a:prstGeom prst="roundRect">
            <a:avLst>
              <a:gd name="adj" fmla="val 7407"/>
            </a:avLst>
          </a:prstGeom>
          <a:solidFill>
            <a:srgbClr val="13232A"/>
          </a:solidFill>
          <a:ln w="12700">
            <a:solidFill>
              <a:srgbClr val="13232A"/>
            </a:solidFill>
            <a:prstDash val="solid"/>
          </a:ln>
        </p:spPr>
      </p:sp>
      <p:sp>
        <p:nvSpPr>
          <p:cNvPr id="35" name="Text 33"/>
          <p:cNvSpPr txBox="1"/>
          <p:nvPr/>
        </p:nvSpPr>
        <p:spPr>
          <a:xfrm>
            <a:off x="6903720" y="5312664"/>
            <a:ext cx="4526280" cy="713232"/>
          </a:xfrm>
          <a:prstGeom prst="rect">
            <a:avLst/>
          </a:prstGeom>
          <a:noFill/>
          <a:ln/>
        </p:spPr>
        <p:txBody>
          <a:bodyPr wrap="square" lIns="0" tIns="0" rIns="0" bIns="0" rtlCol="0" anchor="t"/>
          <a:lstStyle/>
          <a:p>
            <a:pPr indent="0" marL="0">
              <a:buNone/>
            </a:pPr>
            <a:r>
              <a:rPr lang="en-US" sz="1000" dirty="0">
                <a:solidFill>
                  <a:srgbClr val="F1F7F5"/>
                </a:solidFill>
                <a:latin typeface="Courier New" pitchFamily="34" charset="0"/>
                <a:ea typeface="Courier New" pitchFamily="34" charset="-122"/>
                <a:cs typeface="Courier New" pitchFamily="34" charset="-120"/>
              </a:rPr>
              <a:t>pnpm build</a:t>
            </a:r>
            <a:endParaRPr lang="en-US" sz="1000" dirty="0"/>
          </a:p>
          <a:p>
            <a:pPr indent="0" marL="0">
              <a:buNone/>
            </a:pPr>
            <a:r>
              <a:rPr lang="en-US" sz="1000" dirty="0">
                <a:solidFill>
                  <a:srgbClr val="F1F7F5"/>
                </a:solidFill>
                <a:latin typeface="Courier New" pitchFamily="34" charset="0"/>
                <a:ea typeface="Courier New" pitchFamily="34" charset="-122"/>
                <a:cs typeface="Courier New" pitchFamily="34" charset="-120"/>
              </a:rPr>
              <a:t>node --env-file=.env apps/api/dist/src/main.js</a:t>
            </a:r>
            <a:endParaRPr lang="en-US" sz="1000" dirty="0"/>
          </a:p>
          <a:p>
            <a:pPr indent="0" marL="0">
              <a:buNone/>
            </a:pPr>
            <a:r>
              <a:rPr lang="en-US" sz="1000" dirty="0">
                <a:solidFill>
                  <a:srgbClr val="F1F7F5"/>
                </a:solidFill>
                <a:latin typeface="Courier New" pitchFamily="34" charset="0"/>
                <a:ea typeface="Courier New" pitchFamily="34" charset="-122"/>
                <a:cs typeface="Courier New" pitchFamily="34" charset="-120"/>
              </a:rPr>
              <a:t>API_URL=http://api:3000 pnpm --filter @dc/web start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Veritabanı yapısı (migration dosyaları)</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Her tablo kiracı (işletme) sütunu taşır ve RLS politikasıyla korunur. Değiştirilemez tablolarda uygulama kullanıcısının güncelleme/silme izni yoktur.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828800"/>
                <a:gridCol w="4206240"/>
                <a:gridCol w="502920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Dosya</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Tablolar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Öne çıkan korumalar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0001_cekirdek</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isletmeler, subeler, kullanicilar, rol_atamalari, denetim_izi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RLS; SECURITY DEFINER giriş fonksiyonu; denetim izi hash zinciri, güncelleme/silme engeli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0002_hastalar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kisiler, hayvanlar, hasta_uyarilari, aydinlatma_kayitlari, rizalar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Şifreli kimlik no + kör indeks tekilliği; aydınlatma kaydı zorunlu</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0003_randevular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kaynaklar, randevular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Hekim ve oda/cihaz için çakışma engeli (exclusion constraint)</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0004_muayeneler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muayeneler, muayene_ekleri, acil_erisimler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İmzalı kayıt tetikleyiciyle kilitli; yalnız ek not</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0005_finans</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hizmetler, fiyat_talepleri, hesap_kalemleri, tahsilatlar, kasa_kapanislari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Tutarlar kuruş; talep eden onaylayamaz; tahsilat değiştirilemez</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0006_personel_belgeler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personel_bilgileri, dosyalar, belgeler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Belge içeriği kilitli (yalnız kaldırma); dosyalar şifreli bytea</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0007_nobet</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nobet_ayarlari, cizelgeler, gorevler, personel_izinleri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Kişi başı görev çakışma engeli; onaylanan çizelgede görev değişmez</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0008_stok</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urunler, stok_hareketleri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Hareket defteri değiştirilemez; şahit ≠ yapan; kullanımda hasta zorunlu</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0009_kalite</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olay_bildirimleri, sikayetler, dofler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İsimsiz bildirimde açık kimlik sütunu boş; DÖF’ü tamamlayan doğrulayamaz</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Kurulumu doğrulama: testler</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Kurulumdan sonra aşağıdaki testler tüm kuralların çalıştığını kanıtlar. API testleri dc_klinik_test veritabanını her seferinde sıfırlar.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508760"/>
            <a:ext cx="5760720" cy="2194560"/>
          </a:xfrm>
          <a:prstGeom prst="roundRect">
            <a:avLst>
              <a:gd name="adj" fmla="val 3333"/>
            </a:avLst>
          </a:prstGeom>
          <a:solidFill>
            <a:srgbClr val="13232A"/>
          </a:solidFill>
          <a:ln w="12700">
            <a:solidFill>
              <a:srgbClr val="13232A"/>
            </a:solidFill>
            <a:prstDash val="solid"/>
          </a:ln>
        </p:spPr>
      </p:sp>
      <p:sp>
        <p:nvSpPr>
          <p:cNvPr id="7" name="Text 5"/>
          <p:cNvSpPr txBox="1"/>
          <p:nvPr/>
        </p:nvSpPr>
        <p:spPr>
          <a:xfrm>
            <a:off x="731520" y="1645920"/>
            <a:ext cx="5394960" cy="1920240"/>
          </a:xfrm>
          <a:prstGeom prst="rect">
            <a:avLst/>
          </a:prstGeom>
          <a:noFill/>
          <a:ln/>
        </p:spPr>
        <p:txBody>
          <a:bodyPr wrap="square" lIns="0" tIns="0" rIns="0" bIns="0" rtlCol="0" anchor="t"/>
          <a:lstStyle/>
          <a:p>
            <a:pPr indent="0" marL="0">
              <a:buNone/>
            </a:pPr>
            <a:r>
              <a:rPr lang="en-US" sz="1050" dirty="0">
                <a:solidFill>
                  <a:srgbClr val="8FB3AA"/>
                </a:solidFill>
                <a:latin typeface="Courier New" pitchFamily="34" charset="0"/>
                <a:ea typeface="Courier New" pitchFamily="34" charset="-122"/>
                <a:cs typeface="Courier New" pitchFamily="34" charset="-120"/>
              </a:rPr>
              <a:t># Kurallar + API (gerçek PostgreSQL ile)</a:t>
            </a:r>
            <a:endParaRPr lang="en-US" sz="1050" dirty="0"/>
          </a:p>
          <a:p>
            <a:pPr indent="0" marL="0">
              <a:buNone/>
            </a:pPr>
            <a:r>
              <a:rPr lang="en-US" sz="1050" dirty="0">
                <a:solidFill>
                  <a:srgbClr val="F1F7F5"/>
                </a:solidFill>
                <a:latin typeface="Courier New" pitchFamily="34" charset="0"/>
                <a:ea typeface="Courier New" pitchFamily="34" charset="-122"/>
                <a:cs typeface="Courier New" pitchFamily="34" charset="-120"/>
              </a:rPr>
              <a:t>pnpm test</a:t>
            </a:r>
            <a:endParaRPr lang="en-US" sz="1050" dirty="0"/>
          </a:p>
          <a:p>
            <a:pPr indent="0" marL="0">
              <a:buNone/>
            </a:pPr>
            <a:endParaRPr lang="en-US" sz="1050" dirty="0"/>
          </a:p>
          <a:p>
            <a:pPr indent="0" marL="0">
              <a:buNone/>
            </a:pPr>
            <a:r>
              <a:rPr lang="en-US" sz="1050" dirty="0">
                <a:solidFill>
                  <a:srgbClr val="8FB3AA"/>
                </a:solidFill>
                <a:latin typeface="Courier New" pitchFamily="34" charset="0"/>
                <a:ea typeface="Courier New" pitchFamily="34" charset="-122"/>
                <a:cs typeface="Courier New" pitchFamily="34" charset="-120"/>
              </a:rPr>
              <a:t># Tarayıcı akışları (API :3000 ve web :3001 açıkken)</a:t>
            </a:r>
            <a:endParaRPr lang="en-US" sz="1050" dirty="0"/>
          </a:p>
          <a:p>
            <a:pPr indent="0" marL="0">
              <a:buNone/>
            </a:pPr>
            <a:r>
              <a:rPr lang="en-US" sz="1050" dirty="0">
                <a:solidFill>
                  <a:srgbClr val="F1F7F5"/>
                </a:solidFill>
                <a:latin typeface="Courier New" pitchFamily="34" charset="0"/>
                <a:ea typeface="Courier New" pitchFamily="34" charset="-122"/>
                <a:cs typeface="Courier New" pitchFamily="34" charset="-120"/>
              </a:rPr>
              <a:t>node apps/web/e2e/akis.e2e.js</a:t>
            </a:r>
            <a:endParaRPr lang="en-US" sz="1050" dirty="0"/>
          </a:p>
          <a:p>
            <a:pPr indent="0" marL="0">
              <a:buNone/>
            </a:pPr>
            <a:r>
              <a:rPr lang="en-US" sz="1050" dirty="0">
                <a:solidFill>
                  <a:srgbClr val="F1F7F5"/>
                </a:solidFill>
                <a:latin typeface="Courier New" pitchFamily="34" charset="0"/>
                <a:ea typeface="Courier New" pitchFamily="34" charset="-122"/>
                <a:cs typeface="Courier New" pitchFamily="34" charset="-120"/>
              </a:rPr>
              <a:t>node apps/web/e2e/personel.e2e.js   # … 9 dosya</a:t>
            </a:r>
            <a:endParaRPr lang="en-US" sz="1050" dirty="0"/>
          </a:p>
          <a:p>
            <a:pPr indent="0" marL="0">
              <a:buNone/>
            </a:pPr>
            <a:r>
              <a:rPr lang="en-US" sz="1050" dirty="0">
                <a:solidFill>
                  <a:srgbClr val="8FB3AA"/>
                </a:solidFill>
                <a:latin typeface="Courier New" pitchFamily="34" charset="0"/>
                <a:ea typeface="Courier New" pitchFamily="34" charset="-122"/>
                <a:cs typeface="Courier New" pitchFamily="34" charset="-120"/>
              </a:rPr>
              <a:t># Ekran görüntüleri: E2E_CIKTI klasörüne</a:t>
            </a:r>
            <a:endParaRPr lang="en-US" sz="1050" dirty="0"/>
          </a:p>
        </p:txBody>
      </p:sp>
      <p:sp>
        <p:nvSpPr>
          <p:cNvPr id="8" name="Text 6"/>
          <p:cNvSpPr txBox="1"/>
          <p:nvPr/>
        </p:nvSpPr>
        <p:spPr>
          <a:xfrm>
            <a:off x="6675120" y="1463040"/>
            <a:ext cx="1554480" cy="914400"/>
          </a:xfrm>
          <a:prstGeom prst="rect">
            <a:avLst/>
          </a:prstGeom>
          <a:noFill/>
          <a:ln/>
        </p:spPr>
        <p:txBody>
          <a:bodyPr wrap="square" lIns="0" tIns="0" rIns="0" bIns="0" rtlCol="0" anchor="t"/>
          <a:lstStyle/>
          <a:p>
            <a:pPr algn="ctr" indent="0" marL="0">
              <a:buNone/>
            </a:pPr>
            <a:r>
              <a:rPr lang="en-US" sz="5400" b="1" dirty="0">
                <a:solidFill>
                  <a:srgbClr val="D9694A"/>
                </a:solidFill>
                <a:latin typeface="Calibri" pitchFamily="34" charset="0"/>
                <a:ea typeface="Calibri" pitchFamily="34" charset="-122"/>
                <a:cs typeface="Calibri" pitchFamily="34" charset="-120"/>
              </a:rPr>
              <a:t>57</a:t>
            </a:r>
            <a:endParaRPr lang="en-US" sz="5400" dirty="0"/>
          </a:p>
        </p:txBody>
      </p:sp>
      <p:sp>
        <p:nvSpPr>
          <p:cNvPr id="9" name="Text 7"/>
          <p:cNvSpPr txBox="1"/>
          <p:nvPr/>
        </p:nvSpPr>
        <p:spPr>
          <a:xfrm>
            <a:off x="6675120" y="2423160"/>
            <a:ext cx="1554480" cy="320040"/>
          </a:xfrm>
          <a:prstGeom prst="rect">
            <a:avLst/>
          </a:prstGeom>
          <a:noFill/>
          <a:ln/>
        </p:spPr>
        <p:txBody>
          <a:bodyPr wrap="square" lIns="0" tIns="0" rIns="0" bIns="0" rtlCol="0" anchor="t"/>
          <a:lstStyle/>
          <a:p>
            <a:pPr algn="ctr" indent="0" marL="0">
              <a:buNone/>
            </a:pPr>
            <a:r>
              <a:rPr lang="en-US" sz="1300" b="1" dirty="0">
                <a:solidFill>
                  <a:srgbClr val="0E4F5C"/>
                </a:solidFill>
                <a:latin typeface="Calibri" pitchFamily="34" charset="0"/>
                <a:ea typeface="Calibri" pitchFamily="34" charset="-122"/>
                <a:cs typeface="Calibri" pitchFamily="34" charset="-120"/>
              </a:rPr>
              <a:t>kural testi</a:t>
            </a:r>
            <a:endParaRPr lang="en-US" sz="1300" dirty="0"/>
          </a:p>
        </p:txBody>
      </p:sp>
      <p:sp>
        <p:nvSpPr>
          <p:cNvPr id="10" name="Text 8"/>
          <p:cNvSpPr txBox="1"/>
          <p:nvPr/>
        </p:nvSpPr>
        <p:spPr>
          <a:xfrm>
            <a:off x="6675120" y="2743200"/>
            <a:ext cx="1554480" cy="457200"/>
          </a:xfrm>
          <a:prstGeom prst="rect">
            <a:avLst/>
          </a:prstGeom>
          <a:noFill/>
          <a:ln/>
        </p:spPr>
        <p:txBody>
          <a:bodyPr wrap="square" lIns="0" tIns="0" rIns="0" bIns="0" rtlCol="0" anchor="t"/>
          <a:lstStyle/>
          <a:p>
            <a:pPr algn="ctr" indent="0" marL="0">
              <a:buNone/>
            </a:pPr>
            <a:r>
              <a:rPr lang="en-US" sz="1000" dirty="0">
                <a:solidFill>
                  <a:srgbClr val="3D4F57"/>
                </a:solidFill>
                <a:latin typeface="Calibri" pitchFamily="34" charset="0"/>
                <a:ea typeface="Calibri" pitchFamily="34" charset="-122"/>
                <a:cs typeface="Calibri" pitchFamily="34" charset="-120"/>
              </a:rPr>
              <a:t>paylaşılan paket</a:t>
            </a:r>
            <a:endParaRPr lang="en-US" sz="1000" dirty="0"/>
          </a:p>
        </p:txBody>
      </p:sp>
      <p:sp>
        <p:nvSpPr>
          <p:cNvPr id="11" name="Text 9"/>
          <p:cNvSpPr txBox="1"/>
          <p:nvPr/>
        </p:nvSpPr>
        <p:spPr>
          <a:xfrm>
            <a:off x="8366760" y="1463040"/>
            <a:ext cx="1554480" cy="914400"/>
          </a:xfrm>
          <a:prstGeom prst="rect">
            <a:avLst/>
          </a:prstGeom>
          <a:noFill/>
          <a:ln/>
        </p:spPr>
        <p:txBody>
          <a:bodyPr wrap="square" lIns="0" tIns="0" rIns="0" bIns="0" rtlCol="0" anchor="t"/>
          <a:lstStyle/>
          <a:p>
            <a:pPr algn="ctr" indent="0" marL="0">
              <a:buNone/>
            </a:pPr>
            <a:r>
              <a:rPr lang="en-US" sz="5400" b="1" dirty="0">
                <a:solidFill>
                  <a:srgbClr val="D9694A"/>
                </a:solidFill>
                <a:latin typeface="Calibri" pitchFamily="34" charset="0"/>
                <a:ea typeface="Calibri" pitchFamily="34" charset="-122"/>
                <a:cs typeface="Calibri" pitchFamily="34" charset="-120"/>
              </a:rPr>
              <a:t>95</a:t>
            </a:r>
            <a:endParaRPr lang="en-US" sz="5400" dirty="0"/>
          </a:p>
        </p:txBody>
      </p:sp>
      <p:sp>
        <p:nvSpPr>
          <p:cNvPr id="12" name="Text 10"/>
          <p:cNvSpPr txBox="1"/>
          <p:nvPr/>
        </p:nvSpPr>
        <p:spPr>
          <a:xfrm>
            <a:off x="8366760" y="2423160"/>
            <a:ext cx="1554480" cy="320040"/>
          </a:xfrm>
          <a:prstGeom prst="rect">
            <a:avLst/>
          </a:prstGeom>
          <a:noFill/>
          <a:ln/>
        </p:spPr>
        <p:txBody>
          <a:bodyPr wrap="square" lIns="0" tIns="0" rIns="0" bIns="0" rtlCol="0" anchor="t"/>
          <a:lstStyle/>
          <a:p>
            <a:pPr algn="ctr" indent="0" marL="0">
              <a:buNone/>
            </a:pPr>
            <a:r>
              <a:rPr lang="en-US" sz="1300" b="1" dirty="0">
                <a:solidFill>
                  <a:srgbClr val="0E4F5C"/>
                </a:solidFill>
                <a:latin typeface="Calibri" pitchFamily="34" charset="0"/>
                <a:ea typeface="Calibri" pitchFamily="34" charset="-122"/>
                <a:cs typeface="Calibri" pitchFamily="34" charset="-120"/>
              </a:rPr>
              <a:t>API testi</a:t>
            </a:r>
            <a:endParaRPr lang="en-US" sz="1300" dirty="0"/>
          </a:p>
        </p:txBody>
      </p:sp>
      <p:sp>
        <p:nvSpPr>
          <p:cNvPr id="13" name="Text 11"/>
          <p:cNvSpPr txBox="1"/>
          <p:nvPr/>
        </p:nvSpPr>
        <p:spPr>
          <a:xfrm>
            <a:off x="8366760" y="2743200"/>
            <a:ext cx="1554480" cy="457200"/>
          </a:xfrm>
          <a:prstGeom prst="rect">
            <a:avLst/>
          </a:prstGeom>
          <a:noFill/>
          <a:ln/>
        </p:spPr>
        <p:txBody>
          <a:bodyPr wrap="square" lIns="0" tIns="0" rIns="0" bIns="0" rtlCol="0" anchor="t"/>
          <a:lstStyle/>
          <a:p>
            <a:pPr algn="ctr" indent="0" marL="0">
              <a:buNone/>
            </a:pPr>
            <a:r>
              <a:rPr lang="en-US" sz="1000" dirty="0">
                <a:solidFill>
                  <a:srgbClr val="3D4F57"/>
                </a:solidFill>
                <a:latin typeface="Calibri" pitchFamily="34" charset="0"/>
                <a:ea typeface="Calibri" pitchFamily="34" charset="-122"/>
                <a:cs typeface="Calibri" pitchFamily="34" charset="-120"/>
              </a:rPr>
              <a:t>uçtan uca, RLS dahil</a:t>
            </a:r>
            <a:endParaRPr lang="en-US" sz="1000" dirty="0"/>
          </a:p>
        </p:txBody>
      </p:sp>
      <p:sp>
        <p:nvSpPr>
          <p:cNvPr id="14" name="Text 12"/>
          <p:cNvSpPr txBox="1"/>
          <p:nvPr/>
        </p:nvSpPr>
        <p:spPr>
          <a:xfrm>
            <a:off x="10058400" y="1463040"/>
            <a:ext cx="1554480" cy="914400"/>
          </a:xfrm>
          <a:prstGeom prst="rect">
            <a:avLst/>
          </a:prstGeom>
          <a:noFill/>
          <a:ln/>
        </p:spPr>
        <p:txBody>
          <a:bodyPr wrap="square" lIns="0" tIns="0" rIns="0" bIns="0" rtlCol="0" anchor="t"/>
          <a:lstStyle/>
          <a:p>
            <a:pPr algn="ctr" indent="0" marL="0">
              <a:buNone/>
            </a:pPr>
            <a:r>
              <a:rPr lang="en-US" sz="5400" b="1" dirty="0">
                <a:solidFill>
                  <a:srgbClr val="D9694A"/>
                </a:solidFill>
                <a:latin typeface="Calibri" pitchFamily="34" charset="0"/>
                <a:ea typeface="Calibri" pitchFamily="34" charset="-122"/>
                <a:cs typeface="Calibri" pitchFamily="34" charset="-120"/>
              </a:rPr>
              <a:t>9</a:t>
            </a:r>
            <a:endParaRPr lang="en-US" sz="5400" dirty="0"/>
          </a:p>
        </p:txBody>
      </p:sp>
      <p:sp>
        <p:nvSpPr>
          <p:cNvPr id="15" name="Text 13"/>
          <p:cNvSpPr txBox="1"/>
          <p:nvPr/>
        </p:nvSpPr>
        <p:spPr>
          <a:xfrm>
            <a:off x="10058400" y="2423160"/>
            <a:ext cx="1554480" cy="320040"/>
          </a:xfrm>
          <a:prstGeom prst="rect">
            <a:avLst/>
          </a:prstGeom>
          <a:noFill/>
          <a:ln/>
        </p:spPr>
        <p:txBody>
          <a:bodyPr wrap="square" lIns="0" tIns="0" rIns="0" bIns="0" rtlCol="0" anchor="t"/>
          <a:lstStyle/>
          <a:p>
            <a:pPr algn="ctr" indent="0" marL="0">
              <a:buNone/>
            </a:pPr>
            <a:r>
              <a:rPr lang="en-US" sz="1300" b="1" dirty="0">
                <a:solidFill>
                  <a:srgbClr val="0E4F5C"/>
                </a:solidFill>
                <a:latin typeface="Calibri" pitchFamily="34" charset="0"/>
                <a:ea typeface="Calibri" pitchFamily="34" charset="-122"/>
                <a:cs typeface="Calibri" pitchFamily="34" charset="-120"/>
              </a:rPr>
              <a:t>tarayıcı akışı</a:t>
            </a:r>
            <a:endParaRPr lang="en-US" sz="1300" dirty="0"/>
          </a:p>
        </p:txBody>
      </p:sp>
      <p:sp>
        <p:nvSpPr>
          <p:cNvPr id="16" name="Text 14"/>
          <p:cNvSpPr txBox="1"/>
          <p:nvPr/>
        </p:nvSpPr>
        <p:spPr>
          <a:xfrm>
            <a:off x="10058400" y="2743200"/>
            <a:ext cx="1554480" cy="457200"/>
          </a:xfrm>
          <a:prstGeom prst="rect">
            <a:avLst/>
          </a:prstGeom>
          <a:noFill/>
          <a:ln/>
        </p:spPr>
        <p:txBody>
          <a:bodyPr wrap="square" lIns="0" tIns="0" rIns="0" bIns="0" rtlCol="0" anchor="t"/>
          <a:lstStyle/>
          <a:p>
            <a:pPr algn="ctr" indent="0" marL="0">
              <a:buNone/>
            </a:pPr>
            <a:r>
              <a:rPr lang="en-US" sz="1000" dirty="0">
                <a:solidFill>
                  <a:srgbClr val="3D4F57"/>
                </a:solidFill>
                <a:latin typeface="Calibri" pitchFamily="34" charset="0"/>
                <a:ea typeface="Calibri" pitchFamily="34" charset="-122"/>
                <a:cs typeface="Calibri" pitchFamily="34" charset="-120"/>
              </a:rPr>
              <a:t>mobil taşma denetimi dahil</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64240" cy="914400"/>
        </p:xfrm>
        <a:graphic>
          <a:graphicData uri="http://schemas.openxmlformats.org/drawingml/2006/table">
            <a:tbl>
              <a:tblPr/>
              <a:tblGrid>
                <a:gridCol w="2377440"/>
                <a:gridCol w="868680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Tarayıcı akışı</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Neyi kanıtlar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akis</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Giriş yönlendirmesi, kayıt sihirbazı, kullanıcı ekleme, rol kuralları, denetim izi, mobil görünüm</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hasta</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Yeni hasta, TC doğrulama, KVKK, Türkçe arama, mükerrer kayıt yönlendirmesi, uyarılar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randevu</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Takvim, çakışma, kabul/sıra no, bekleme salonu, muayeneye alma</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muayene</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Tedavi ilişkisi, vital + VKİ, ICD-10, alerji uyarısı, parolalı imza, kilit, ek not</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finans</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Hizmet, indirim eşiği, tahsilat, iade, Komuta göstergeleri, farklı kasa kapanışı</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personel · nobet · stok · kalite</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Belge askısı, çizelge onayı, FEFO ve lot izleme, isimsiz bildirim ve DÖF doğrulaması</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Canlıya çıkış kontrol listesi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Gerçek hasta verisiyle çalışmadan önce tamamlanması gerekenler.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463040"/>
            <a:ext cx="5440680" cy="1051560"/>
          </a:xfrm>
          <a:prstGeom prst="roundRect">
            <a:avLst>
              <a:gd name="adj" fmla="val 6957"/>
            </a:avLst>
          </a:prstGeom>
          <a:solidFill>
            <a:srgbClr val="F1F7F5"/>
          </a:solidFill>
          <a:ln w="12700">
            <a:solidFill>
              <a:srgbClr val="CFE6DF"/>
            </a:solidFill>
            <a:prstDash val="solid"/>
          </a:ln>
        </p:spPr>
      </p:sp>
      <p:sp>
        <p:nvSpPr>
          <p:cNvPr id="7" name="Shape 5"/>
          <p:cNvSpPr/>
          <p:nvPr/>
        </p:nvSpPr>
        <p:spPr>
          <a:xfrm>
            <a:off x="713232" y="1645920"/>
            <a:ext cx="274320" cy="274320"/>
          </a:xfrm>
          <a:prstGeom prst="roundRect">
            <a:avLst>
              <a:gd name="adj" fmla="val 16667"/>
            </a:avLst>
          </a:prstGeom>
          <a:solidFill>
            <a:srgbClr val="FFFFFF"/>
          </a:solidFill>
          <a:ln w="19050">
            <a:solidFill>
              <a:srgbClr val="0E4F5C"/>
            </a:solidFill>
            <a:prstDash val="solid"/>
          </a:ln>
        </p:spPr>
      </p:sp>
      <p:sp>
        <p:nvSpPr>
          <p:cNvPr id="8" name="Text 6"/>
          <p:cNvSpPr txBox="1"/>
          <p:nvPr/>
        </p:nvSpPr>
        <p:spPr>
          <a:xfrm>
            <a:off x="1115568" y="1581912"/>
            <a:ext cx="4754880" cy="365760"/>
          </a:xfrm>
          <a:prstGeom prst="rect">
            <a:avLst/>
          </a:prstGeom>
          <a:noFill/>
          <a:ln/>
        </p:spPr>
        <p:txBody>
          <a:bodyPr wrap="square" lIns="0" tIns="0" rIns="0" bIns="0" rtlCol="0" anchor="t"/>
          <a:lstStyle/>
          <a:p>
            <a:pPr indent="0" marL="0">
              <a:buNone/>
            </a:pPr>
            <a:r>
              <a:rPr lang="en-US" sz="1350" b="1" dirty="0">
                <a:solidFill>
                  <a:srgbClr val="0E4F5C"/>
                </a:solidFill>
                <a:latin typeface="Calibri" pitchFamily="34" charset="0"/>
                <a:ea typeface="Calibri" pitchFamily="34" charset="-122"/>
                <a:cs typeface="Calibri" pitchFamily="34" charset="-120"/>
              </a:rPr>
              <a:t>HTTPS ve güvenli çerez</a:t>
            </a:r>
            <a:endParaRPr lang="en-US" sz="1350" dirty="0"/>
          </a:p>
        </p:txBody>
      </p:sp>
      <p:sp>
        <p:nvSpPr>
          <p:cNvPr id="9" name="Text 7"/>
          <p:cNvSpPr txBox="1"/>
          <p:nvPr/>
        </p:nvSpPr>
        <p:spPr>
          <a:xfrm>
            <a:off x="1115568" y="1920240"/>
            <a:ext cx="4754880" cy="566928"/>
          </a:xfrm>
          <a:prstGeom prst="rect">
            <a:avLst/>
          </a:prstGeom>
          <a:noFill/>
          <a:ln/>
        </p:spPr>
        <p:txBody>
          <a:bodyPr wrap="square" lIns="0" tIns="0" rIns="0" bIns="0" rtlCol="0" anchor="t"/>
          <a:lstStyle/>
          <a:p>
            <a:pPr indent="0" marL="0">
              <a:buNone/>
            </a:pPr>
            <a:r>
              <a:rPr lang="en-US" sz="1100" dirty="0">
                <a:solidFill>
                  <a:srgbClr val="3D4F57"/>
                </a:solidFill>
                <a:latin typeface="Calibri" pitchFamily="34" charset="0"/>
                <a:ea typeface="Calibri" pitchFamily="34" charset="-122"/>
                <a:cs typeface="Calibri" pitchFamily="34" charset="-120"/>
              </a:rPr>
              <a:t>NODE_ENV=production ile çerez yalnızca HTTPS’ten gider; ters vekil (reverse proxy) TLS sonlandırır.</a:t>
            </a:r>
            <a:endParaRPr lang="en-US" sz="1100" dirty="0"/>
          </a:p>
        </p:txBody>
      </p:sp>
      <p:sp>
        <p:nvSpPr>
          <p:cNvPr id="10" name="Shape 8"/>
          <p:cNvSpPr/>
          <p:nvPr/>
        </p:nvSpPr>
        <p:spPr>
          <a:xfrm>
            <a:off x="6172200" y="1463040"/>
            <a:ext cx="5440680" cy="1051560"/>
          </a:xfrm>
          <a:prstGeom prst="roundRect">
            <a:avLst>
              <a:gd name="adj" fmla="val 6957"/>
            </a:avLst>
          </a:prstGeom>
          <a:solidFill>
            <a:srgbClr val="F1F7F5"/>
          </a:solidFill>
          <a:ln w="12700">
            <a:solidFill>
              <a:srgbClr val="CFE6DF"/>
            </a:solidFill>
            <a:prstDash val="solid"/>
          </a:ln>
        </p:spPr>
      </p:sp>
      <p:sp>
        <p:nvSpPr>
          <p:cNvPr id="11" name="Shape 9"/>
          <p:cNvSpPr/>
          <p:nvPr/>
        </p:nvSpPr>
        <p:spPr>
          <a:xfrm>
            <a:off x="6336792" y="1645920"/>
            <a:ext cx="274320" cy="274320"/>
          </a:xfrm>
          <a:prstGeom prst="roundRect">
            <a:avLst>
              <a:gd name="adj" fmla="val 16667"/>
            </a:avLst>
          </a:prstGeom>
          <a:solidFill>
            <a:srgbClr val="FFFFFF"/>
          </a:solidFill>
          <a:ln w="19050">
            <a:solidFill>
              <a:srgbClr val="0E4F5C"/>
            </a:solidFill>
            <a:prstDash val="solid"/>
          </a:ln>
        </p:spPr>
      </p:sp>
      <p:sp>
        <p:nvSpPr>
          <p:cNvPr id="12" name="Text 10"/>
          <p:cNvSpPr txBox="1"/>
          <p:nvPr/>
        </p:nvSpPr>
        <p:spPr>
          <a:xfrm>
            <a:off x="6739128" y="1581912"/>
            <a:ext cx="4754880" cy="365760"/>
          </a:xfrm>
          <a:prstGeom prst="rect">
            <a:avLst/>
          </a:prstGeom>
          <a:noFill/>
          <a:ln/>
        </p:spPr>
        <p:txBody>
          <a:bodyPr wrap="square" lIns="0" tIns="0" rIns="0" bIns="0" rtlCol="0" anchor="t"/>
          <a:lstStyle/>
          <a:p>
            <a:pPr indent="0" marL="0">
              <a:buNone/>
            </a:pPr>
            <a:r>
              <a:rPr lang="en-US" sz="1350" b="1" dirty="0">
                <a:solidFill>
                  <a:srgbClr val="0E4F5C"/>
                </a:solidFill>
                <a:latin typeface="Calibri" pitchFamily="34" charset="0"/>
                <a:ea typeface="Calibri" pitchFamily="34" charset="-122"/>
                <a:cs typeface="Calibri" pitchFamily="34" charset="-120"/>
              </a:rPr>
              <a:t>Türkiye’de barındırma (K10)</a:t>
            </a:r>
            <a:endParaRPr lang="en-US" sz="1350" dirty="0"/>
          </a:p>
        </p:txBody>
      </p:sp>
      <p:sp>
        <p:nvSpPr>
          <p:cNvPr id="13" name="Text 11"/>
          <p:cNvSpPr txBox="1"/>
          <p:nvPr/>
        </p:nvSpPr>
        <p:spPr>
          <a:xfrm>
            <a:off x="6739128" y="1920240"/>
            <a:ext cx="4754880" cy="566928"/>
          </a:xfrm>
          <a:prstGeom prst="rect">
            <a:avLst/>
          </a:prstGeom>
          <a:noFill/>
          <a:ln/>
        </p:spPr>
        <p:txBody>
          <a:bodyPr wrap="square" lIns="0" tIns="0" rIns="0" bIns="0" rtlCol="0" anchor="t"/>
          <a:lstStyle/>
          <a:p>
            <a:pPr indent="0" marL="0">
              <a:buNone/>
            </a:pPr>
            <a:r>
              <a:rPr lang="en-US" sz="1100" dirty="0">
                <a:solidFill>
                  <a:srgbClr val="3D4F57"/>
                </a:solidFill>
                <a:latin typeface="Calibri" pitchFamily="34" charset="0"/>
                <a:ea typeface="Calibri" pitchFamily="34" charset="-122"/>
                <a:cs typeface="Calibri" pitchFamily="34" charset="-120"/>
              </a:rPr>
              <a:t>Sağlık verisi yurt içinde; sağlayıcı canlıya yakın seçilecek. Konteyner + altyapı kodu ile sağlayıcıdan bağımsız.</a:t>
            </a:r>
            <a:endParaRPr lang="en-US" sz="1100" dirty="0"/>
          </a:p>
        </p:txBody>
      </p:sp>
      <p:sp>
        <p:nvSpPr>
          <p:cNvPr id="14" name="Shape 12"/>
          <p:cNvSpPr/>
          <p:nvPr/>
        </p:nvSpPr>
        <p:spPr>
          <a:xfrm>
            <a:off x="548640" y="2651760"/>
            <a:ext cx="5440680" cy="1051560"/>
          </a:xfrm>
          <a:prstGeom prst="roundRect">
            <a:avLst>
              <a:gd name="adj" fmla="val 6957"/>
            </a:avLst>
          </a:prstGeom>
          <a:solidFill>
            <a:srgbClr val="F1F7F5"/>
          </a:solidFill>
          <a:ln w="12700">
            <a:solidFill>
              <a:srgbClr val="CFE6DF"/>
            </a:solidFill>
            <a:prstDash val="solid"/>
          </a:ln>
        </p:spPr>
      </p:sp>
      <p:sp>
        <p:nvSpPr>
          <p:cNvPr id="15" name="Shape 13"/>
          <p:cNvSpPr/>
          <p:nvPr/>
        </p:nvSpPr>
        <p:spPr>
          <a:xfrm>
            <a:off x="713232" y="2834640"/>
            <a:ext cx="274320" cy="274320"/>
          </a:xfrm>
          <a:prstGeom prst="roundRect">
            <a:avLst>
              <a:gd name="adj" fmla="val 16667"/>
            </a:avLst>
          </a:prstGeom>
          <a:solidFill>
            <a:srgbClr val="FFFFFF"/>
          </a:solidFill>
          <a:ln w="19050">
            <a:solidFill>
              <a:srgbClr val="0E4F5C"/>
            </a:solidFill>
            <a:prstDash val="solid"/>
          </a:ln>
        </p:spPr>
      </p:sp>
      <p:sp>
        <p:nvSpPr>
          <p:cNvPr id="16" name="Text 14"/>
          <p:cNvSpPr txBox="1"/>
          <p:nvPr/>
        </p:nvSpPr>
        <p:spPr>
          <a:xfrm>
            <a:off x="1115568" y="2770632"/>
            <a:ext cx="4754880" cy="365760"/>
          </a:xfrm>
          <a:prstGeom prst="rect">
            <a:avLst/>
          </a:prstGeom>
          <a:noFill/>
          <a:ln/>
        </p:spPr>
        <p:txBody>
          <a:bodyPr wrap="square" lIns="0" tIns="0" rIns="0" bIns="0" rtlCol="0" anchor="t"/>
          <a:lstStyle/>
          <a:p>
            <a:pPr indent="0" marL="0">
              <a:buNone/>
            </a:pPr>
            <a:r>
              <a:rPr lang="en-US" sz="1350" b="1" dirty="0">
                <a:solidFill>
                  <a:srgbClr val="0E4F5C"/>
                </a:solidFill>
                <a:latin typeface="Calibri" pitchFamily="34" charset="0"/>
                <a:ea typeface="Calibri" pitchFamily="34" charset="-122"/>
                <a:cs typeface="Calibri" pitchFamily="34" charset="-120"/>
              </a:rPr>
              <a:t>Gizli anahtarlar</a:t>
            </a:r>
            <a:endParaRPr lang="en-US" sz="1350" dirty="0"/>
          </a:p>
        </p:txBody>
      </p:sp>
      <p:sp>
        <p:nvSpPr>
          <p:cNvPr id="17" name="Text 15"/>
          <p:cNvSpPr txBox="1"/>
          <p:nvPr/>
        </p:nvSpPr>
        <p:spPr>
          <a:xfrm>
            <a:off x="1115568" y="3108960"/>
            <a:ext cx="4754880" cy="566928"/>
          </a:xfrm>
          <a:prstGeom prst="rect">
            <a:avLst/>
          </a:prstGeom>
          <a:noFill/>
          <a:ln/>
        </p:spPr>
        <p:txBody>
          <a:bodyPr wrap="square" lIns="0" tIns="0" rIns="0" bIns="0" rtlCol="0" anchor="t"/>
          <a:lstStyle/>
          <a:p>
            <a:pPr indent="0" marL="0">
              <a:buNone/>
            </a:pPr>
            <a:r>
              <a:rPr lang="en-US" sz="1100" dirty="0">
                <a:solidFill>
                  <a:srgbClr val="3D4F57"/>
                </a:solidFill>
                <a:latin typeface="Calibri" pitchFamily="34" charset="0"/>
                <a:ea typeface="Calibri" pitchFamily="34" charset="-122"/>
                <a:cs typeface="Calibri" pitchFamily="34" charset="-120"/>
              </a:rPr>
              <a:t>JWT_SECRET ve ALAN_SIFRELEME_ANAHTARI gizli kasada; yedekli; erişimi kısıtlı.</a:t>
            </a:r>
            <a:endParaRPr lang="en-US" sz="1100" dirty="0"/>
          </a:p>
        </p:txBody>
      </p:sp>
      <p:sp>
        <p:nvSpPr>
          <p:cNvPr id="18" name="Shape 16"/>
          <p:cNvSpPr/>
          <p:nvPr/>
        </p:nvSpPr>
        <p:spPr>
          <a:xfrm>
            <a:off x="6172200" y="2651760"/>
            <a:ext cx="5440680" cy="1051560"/>
          </a:xfrm>
          <a:prstGeom prst="roundRect">
            <a:avLst>
              <a:gd name="adj" fmla="val 6957"/>
            </a:avLst>
          </a:prstGeom>
          <a:solidFill>
            <a:srgbClr val="F1F7F5"/>
          </a:solidFill>
          <a:ln w="12700">
            <a:solidFill>
              <a:srgbClr val="CFE6DF"/>
            </a:solidFill>
            <a:prstDash val="solid"/>
          </a:ln>
        </p:spPr>
      </p:sp>
      <p:sp>
        <p:nvSpPr>
          <p:cNvPr id="19" name="Shape 17"/>
          <p:cNvSpPr/>
          <p:nvPr/>
        </p:nvSpPr>
        <p:spPr>
          <a:xfrm>
            <a:off x="6336792" y="2834640"/>
            <a:ext cx="274320" cy="274320"/>
          </a:xfrm>
          <a:prstGeom prst="roundRect">
            <a:avLst>
              <a:gd name="adj" fmla="val 16667"/>
            </a:avLst>
          </a:prstGeom>
          <a:solidFill>
            <a:srgbClr val="FFFFFF"/>
          </a:solidFill>
          <a:ln w="19050">
            <a:solidFill>
              <a:srgbClr val="0E4F5C"/>
            </a:solidFill>
            <a:prstDash val="solid"/>
          </a:ln>
        </p:spPr>
      </p:sp>
      <p:sp>
        <p:nvSpPr>
          <p:cNvPr id="20" name="Text 18"/>
          <p:cNvSpPr txBox="1"/>
          <p:nvPr/>
        </p:nvSpPr>
        <p:spPr>
          <a:xfrm>
            <a:off x="6739128" y="2770632"/>
            <a:ext cx="4754880" cy="365760"/>
          </a:xfrm>
          <a:prstGeom prst="rect">
            <a:avLst/>
          </a:prstGeom>
          <a:noFill/>
          <a:ln/>
        </p:spPr>
        <p:txBody>
          <a:bodyPr wrap="square" lIns="0" tIns="0" rIns="0" bIns="0" rtlCol="0" anchor="t"/>
          <a:lstStyle/>
          <a:p>
            <a:pPr indent="0" marL="0">
              <a:buNone/>
            </a:pPr>
            <a:r>
              <a:rPr lang="en-US" sz="1350" b="1" dirty="0">
                <a:solidFill>
                  <a:srgbClr val="0E4F5C"/>
                </a:solidFill>
                <a:latin typeface="Calibri" pitchFamily="34" charset="0"/>
                <a:ea typeface="Calibri" pitchFamily="34" charset="-122"/>
                <a:cs typeface="Calibri" pitchFamily="34" charset="-120"/>
              </a:rPr>
              <a:t>Yedekleme</a:t>
            </a:r>
            <a:endParaRPr lang="en-US" sz="1350" dirty="0"/>
          </a:p>
        </p:txBody>
      </p:sp>
      <p:sp>
        <p:nvSpPr>
          <p:cNvPr id="21" name="Text 19"/>
          <p:cNvSpPr txBox="1"/>
          <p:nvPr/>
        </p:nvSpPr>
        <p:spPr>
          <a:xfrm>
            <a:off x="6739128" y="3108960"/>
            <a:ext cx="4754880" cy="566928"/>
          </a:xfrm>
          <a:prstGeom prst="rect">
            <a:avLst/>
          </a:prstGeom>
          <a:noFill/>
          <a:ln/>
        </p:spPr>
        <p:txBody>
          <a:bodyPr wrap="square" lIns="0" tIns="0" rIns="0" bIns="0" rtlCol="0" anchor="t"/>
          <a:lstStyle/>
          <a:p>
            <a:pPr indent="0" marL="0">
              <a:buNone/>
            </a:pPr>
            <a:r>
              <a:rPr lang="en-US" sz="1100" dirty="0">
                <a:solidFill>
                  <a:srgbClr val="3D4F57"/>
                </a:solidFill>
                <a:latin typeface="Calibri" pitchFamily="34" charset="0"/>
                <a:ea typeface="Calibri" pitchFamily="34" charset="-122"/>
                <a:cs typeface="Calibri" pitchFamily="34" charset="-120"/>
              </a:rPr>
              <a:t>PostgreSQL günlük yedek + nokta-zaman kurtarma; geri yükleme tatbikatı. Anahtar yedeği ayrı.</a:t>
            </a:r>
            <a:endParaRPr lang="en-US" sz="1100" dirty="0"/>
          </a:p>
        </p:txBody>
      </p:sp>
      <p:sp>
        <p:nvSpPr>
          <p:cNvPr id="22" name="Shape 20"/>
          <p:cNvSpPr/>
          <p:nvPr/>
        </p:nvSpPr>
        <p:spPr>
          <a:xfrm>
            <a:off x="548640" y="3840480"/>
            <a:ext cx="5440680" cy="1051560"/>
          </a:xfrm>
          <a:prstGeom prst="roundRect">
            <a:avLst>
              <a:gd name="adj" fmla="val 6957"/>
            </a:avLst>
          </a:prstGeom>
          <a:solidFill>
            <a:srgbClr val="F1F7F5"/>
          </a:solidFill>
          <a:ln w="12700">
            <a:solidFill>
              <a:srgbClr val="CFE6DF"/>
            </a:solidFill>
            <a:prstDash val="solid"/>
          </a:ln>
        </p:spPr>
      </p:sp>
      <p:sp>
        <p:nvSpPr>
          <p:cNvPr id="23" name="Shape 21"/>
          <p:cNvSpPr/>
          <p:nvPr/>
        </p:nvSpPr>
        <p:spPr>
          <a:xfrm>
            <a:off x="713232" y="4023360"/>
            <a:ext cx="274320" cy="274320"/>
          </a:xfrm>
          <a:prstGeom prst="roundRect">
            <a:avLst>
              <a:gd name="adj" fmla="val 16667"/>
            </a:avLst>
          </a:prstGeom>
          <a:solidFill>
            <a:srgbClr val="FFFFFF"/>
          </a:solidFill>
          <a:ln w="19050">
            <a:solidFill>
              <a:srgbClr val="0E4F5C"/>
            </a:solidFill>
            <a:prstDash val="solid"/>
          </a:ln>
        </p:spPr>
      </p:sp>
      <p:sp>
        <p:nvSpPr>
          <p:cNvPr id="24" name="Text 22"/>
          <p:cNvSpPr txBox="1"/>
          <p:nvPr/>
        </p:nvSpPr>
        <p:spPr>
          <a:xfrm>
            <a:off x="1115568" y="3959352"/>
            <a:ext cx="4754880" cy="365760"/>
          </a:xfrm>
          <a:prstGeom prst="rect">
            <a:avLst/>
          </a:prstGeom>
          <a:noFill/>
          <a:ln/>
        </p:spPr>
        <p:txBody>
          <a:bodyPr wrap="square" lIns="0" tIns="0" rIns="0" bIns="0" rtlCol="0" anchor="t"/>
          <a:lstStyle/>
          <a:p>
            <a:pPr indent="0" marL="0">
              <a:buNone/>
            </a:pPr>
            <a:r>
              <a:rPr lang="en-US" sz="1350" b="1" dirty="0">
                <a:solidFill>
                  <a:srgbClr val="0E4F5C"/>
                </a:solidFill>
                <a:latin typeface="Calibri" pitchFamily="34" charset="0"/>
                <a:ea typeface="Calibri" pitchFamily="34" charset="-122"/>
                <a:cs typeface="Calibri" pitchFamily="34" charset="-120"/>
              </a:rPr>
              <a:t>Hukuki onay (K8)</a:t>
            </a:r>
            <a:endParaRPr lang="en-US" sz="1350" dirty="0"/>
          </a:p>
        </p:txBody>
      </p:sp>
      <p:sp>
        <p:nvSpPr>
          <p:cNvPr id="25" name="Text 23"/>
          <p:cNvSpPr txBox="1"/>
          <p:nvPr/>
        </p:nvSpPr>
        <p:spPr>
          <a:xfrm>
            <a:off x="1115568" y="4297680"/>
            <a:ext cx="4754880" cy="566928"/>
          </a:xfrm>
          <a:prstGeom prst="rect">
            <a:avLst/>
          </a:prstGeom>
          <a:noFill/>
          <a:ln/>
        </p:spPr>
        <p:txBody>
          <a:bodyPr wrap="square" lIns="0" tIns="0" rIns="0" bIns="0" rtlCol="0" anchor="t"/>
          <a:lstStyle/>
          <a:p>
            <a:pPr indent="0" marL="0">
              <a:buNone/>
            </a:pPr>
            <a:r>
              <a:rPr lang="en-US" sz="1100" dirty="0">
                <a:solidFill>
                  <a:srgbClr val="3D4F57"/>
                </a:solidFill>
                <a:latin typeface="Calibri" pitchFamily="34" charset="0"/>
                <a:ea typeface="Calibri" pitchFamily="34" charset="-122"/>
                <a:cs typeface="Calibri" pitchFamily="34" charset="-120"/>
              </a:rPr>
              <a:t>Aydınlatma metni, rıza metinleri, şikâyet cevap süreleri “taslak”: sağlık hukuku ve KVKK uzmanı onaylamalı.</a:t>
            </a:r>
            <a:endParaRPr lang="en-US" sz="1100" dirty="0"/>
          </a:p>
        </p:txBody>
      </p:sp>
      <p:sp>
        <p:nvSpPr>
          <p:cNvPr id="26" name="Shape 24"/>
          <p:cNvSpPr/>
          <p:nvPr/>
        </p:nvSpPr>
        <p:spPr>
          <a:xfrm>
            <a:off x="6172200" y="3840480"/>
            <a:ext cx="5440680" cy="1051560"/>
          </a:xfrm>
          <a:prstGeom prst="roundRect">
            <a:avLst>
              <a:gd name="adj" fmla="val 6957"/>
            </a:avLst>
          </a:prstGeom>
          <a:solidFill>
            <a:srgbClr val="F1F7F5"/>
          </a:solidFill>
          <a:ln w="12700">
            <a:solidFill>
              <a:srgbClr val="CFE6DF"/>
            </a:solidFill>
            <a:prstDash val="solid"/>
          </a:ln>
        </p:spPr>
      </p:sp>
      <p:sp>
        <p:nvSpPr>
          <p:cNvPr id="27" name="Shape 25"/>
          <p:cNvSpPr/>
          <p:nvPr/>
        </p:nvSpPr>
        <p:spPr>
          <a:xfrm>
            <a:off x="6336792" y="4023360"/>
            <a:ext cx="274320" cy="274320"/>
          </a:xfrm>
          <a:prstGeom prst="roundRect">
            <a:avLst>
              <a:gd name="adj" fmla="val 16667"/>
            </a:avLst>
          </a:prstGeom>
          <a:solidFill>
            <a:srgbClr val="FFFFFF"/>
          </a:solidFill>
          <a:ln w="19050">
            <a:solidFill>
              <a:srgbClr val="0E4F5C"/>
            </a:solidFill>
            <a:prstDash val="solid"/>
          </a:ln>
        </p:spPr>
      </p:sp>
      <p:sp>
        <p:nvSpPr>
          <p:cNvPr id="28" name="Text 26"/>
          <p:cNvSpPr txBox="1"/>
          <p:nvPr/>
        </p:nvSpPr>
        <p:spPr>
          <a:xfrm>
            <a:off x="6739128" y="3959352"/>
            <a:ext cx="4754880" cy="365760"/>
          </a:xfrm>
          <a:prstGeom prst="rect">
            <a:avLst/>
          </a:prstGeom>
          <a:noFill/>
          <a:ln/>
        </p:spPr>
        <p:txBody>
          <a:bodyPr wrap="square" lIns="0" tIns="0" rIns="0" bIns="0" rtlCol="0" anchor="t"/>
          <a:lstStyle/>
          <a:p>
            <a:pPr indent="0" marL="0">
              <a:buNone/>
            </a:pPr>
            <a:r>
              <a:rPr lang="en-US" sz="1350" b="1" dirty="0">
                <a:solidFill>
                  <a:srgbClr val="0E4F5C"/>
                </a:solidFill>
                <a:latin typeface="Calibri" pitchFamily="34" charset="0"/>
                <a:ea typeface="Calibri" pitchFamily="34" charset="-122"/>
                <a:cs typeface="Calibri" pitchFamily="34" charset="-120"/>
              </a:rPr>
              <a:t>Veritabanı kullanıcıları</a:t>
            </a:r>
            <a:endParaRPr lang="en-US" sz="1350" dirty="0"/>
          </a:p>
        </p:txBody>
      </p:sp>
      <p:sp>
        <p:nvSpPr>
          <p:cNvPr id="29" name="Text 27"/>
          <p:cNvSpPr txBox="1"/>
          <p:nvPr/>
        </p:nvSpPr>
        <p:spPr>
          <a:xfrm>
            <a:off x="6739128" y="4297680"/>
            <a:ext cx="4754880" cy="566928"/>
          </a:xfrm>
          <a:prstGeom prst="rect">
            <a:avLst/>
          </a:prstGeom>
          <a:noFill/>
          <a:ln/>
        </p:spPr>
        <p:txBody>
          <a:bodyPr wrap="square" lIns="0" tIns="0" rIns="0" bIns="0" rtlCol="0" anchor="t"/>
          <a:lstStyle/>
          <a:p>
            <a:pPr indent="0" marL="0">
              <a:buNone/>
            </a:pPr>
            <a:r>
              <a:rPr lang="en-US" sz="1100" dirty="0">
                <a:solidFill>
                  <a:srgbClr val="3D4F57"/>
                </a:solidFill>
                <a:latin typeface="Calibri" pitchFamily="34" charset="0"/>
                <a:ea typeface="Calibri" pitchFamily="34" charset="-122"/>
                <a:cs typeface="Calibri" pitchFamily="34" charset="-120"/>
              </a:rPr>
              <a:t>Uygulama dc_app ile bağlanır (tablo sahibi değil); migration yalnız dc_owner ile; parolalar değiştirilir.</a:t>
            </a:r>
            <a:endParaRPr lang="en-US" sz="1100" dirty="0"/>
          </a:p>
        </p:txBody>
      </p:sp>
      <p:sp>
        <p:nvSpPr>
          <p:cNvPr id="30" name="Shape 28"/>
          <p:cNvSpPr/>
          <p:nvPr/>
        </p:nvSpPr>
        <p:spPr>
          <a:xfrm>
            <a:off x="548640" y="5029200"/>
            <a:ext cx="5440680" cy="1051560"/>
          </a:xfrm>
          <a:prstGeom prst="roundRect">
            <a:avLst>
              <a:gd name="adj" fmla="val 6957"/>
            </a:avLst>
          </a:prstGeom>
          <a:solidFill>
            <a:srgbClr val="F1F7F5"/>
          </a:solidFill>
          <a:ln w="12700">
            <a:solidFill>
              <a:srgbClr val="CFE6DF"/>
            </a:solidFill>
            <a:prstDash val="solid"/>
          </a:ln>
        </p:spPr>
      </p:sp>
      <p:sp>
        <p:nvSpPr>
          <p:cNvPr id="31" name="Shape 29"/>
          <p:cNvSpPr/>
          <p:nvPr/>
        </p:nvSpPr>
        <p:spPr>
          <a:xfrm>
            <a:off x="713232" y="5212080"/>
            <a:ext cx="274320" cy="274320"/>
          </a:xfrm>
          <a:prstGeom prst="roundRect">
            <a:avLst>
              <a:gd name="adj" fmla="val 16667"/>
            </a:avLst>
          </a:prstGeom>
          <a:solidFill>
            <a:srgbClr val="FFFFFF"/>
          </a:solidFill>
          <a:ln w="19050">
            <a:solidFill>
              <a:srgbClr val="0E4F5C"/>
            </a:solidFill>
            <a:prstDash val="solid"/>
          </a:ln>
        </p:spPr>
      </p:sp>
      <p:sp>
        <p:nvSpPr>
          <p:cNvPr id="32" name="Text 30"/>
          <p:cNvSpPr txBox="1"/>
          <p:nvPr/>
        </p:nvSpPr>
        <p:spPr>
          <a:xfrm>
            <a:off x="1115568" y="5148072"/>
            <a:ext cx="4754880" cy="365760"/>
          </a:xfrm>
          <a:prstGeom prst="rect">
            <a:avLst/>
          </a:prstGeom>
          <a:noFill/>
          <a:ln/>
        </p:spPr>
        <p:txBody>
          <a:bodyPr wrap="square" lIns="0" tIns="0" rIns="0" bIns="0" rtlCol="0" anchor="t"/>
          <a:lstStyle/>
          <a:p>
            <a:pPr indent="0" marL="0">
              <a:buNone/>
            </a:pPr>
            <a:r>
              <a:rPr lang="en-US" sz="1350" b="1" dirty="0">
                <a:solidFill>
                  <a:srgbClr val="0E4F5C"/>
                </a:solidFill>
                <a:latin typeface="Calibri" pitchFamily="34" charset="0"/>
                <a:ea typeface="Calibri" pitchFamily="34" charset="-122"/>
                <a:cs typeface="Calibri" pitchFamily="34" charset="-120"/>
              </a:rPr>
              <a:t>İzleme</a:t>
            </a:r>
            <a:endParaRPr lang="en-US" sz="1350" dirty="0"/>
          </a:p>
        </p:txBody>
      </p:sp>
      <p:sp>
        <p:nvSpPr>
          <p:cNvPr id="33" name="Text 31"/>
          <p:cNvSpPr txBox="1"/>
          <p:nvPr/>
        </p:nvSpPr>
        <p:spPr>
          <a:xfrm>
            <a:off x="1115568" y="5486400"/>
            <a:ext cx="4754880" cy="566928"/>
          </a:xfrm>
          <a:prstGeom prst="rect">
            <a:avLst/>
          </a:prstGeom>
          <a:noFill/>
          <a:ln/>
        </p:spPr>
        <p:txBody>
          <a:bodyPr wrap="square" lIns="0" tIns="0" rIns="0" bIns="0" rtlCol="0" anchor="t"/>
          <a:lstStyle/>
          <a:p>
            <a:pPr indent="0" marL="0">
              <a:buNone/>
            </a:pPr>
            <a:r>
              <a:rPr lang="en-US" sz="1100" dirty="0">
                <a:solidFill>
                  <a:srgbClr val="3D4F57"/>
                </a:solidFill>
                <a:latin typeface="Calibri" pitchFamily="34" charset="0"/>
                <a:ea typeface="Calibri" pitchFamily="34" charset="-122"/>
                <a:cs typeface="Calibri" pitchFamily="34" charset="-120"/>
              </a:rPr>
              <a:t>API ve veritabanı günlükleri, hata izleme, disk/bağlantı alarmları; denetim izi düzenli gözden geçirilir.</a:t>
            </a:r>
            <a:endParaRPr lang="en-US" sz="1100" dirty="0"/>
          </a:p>
        </p:txBody>
      </p:sp>
      <p:sp>
        <p:nvSpPr>
          <p:cNvPr id="34" name="Shape 32"/>
          <p:cNvSpPr/>
          <p:nvPr/>
        </p:nvSpPr>
        <p:spPr>
          <a:xfrm>
            <a:off x="6172200" y="5029200"/>
            <a:ext cx="5440680" cy="1051560"/>
          </a:xfrm>
          <a:prstGeom prst="roundRect">
            <a:avLst>
              <a:gd name="adj" fmla="val 6957"/>
            </a:avLst>
          </a:prstGeom>
          <a:solidFill>
            <a:srgbClr val="F1F7F5"/>
          </a:solidFill>
          <a:ln w="12700">
            <a:solidFill>
              <a:srgbClr val="CFE6DF"/>
            </a:solidFill>
            <a:prstDash val="solid"/>
          </a:ln>
        </p:spPr>
      </p:sp>
      <p:sp>
        <p:nvSpPr>
          <p:cNvPr id="35" name="Shape 33"/>
          <p:cNvSpPr/>
          <p:nvPr/>
        </p:nvSpPr>
        <p:spPr>
          <a:xfrm>
            <a:off x="6336792" y="5212080"/>
            <a:ext cx="274320" cy="274320"/>
          </a:xfrm>
          <a:prstGeom prst="roundRect">
            <a:avLst>
              <a:gd name="adj" fmla="val 16667"/>
            </a:avLst>
          </a:prstGeom>
          <a:solidFill>
            <a:srgbClr val="FFFFFF"/>
          </a:solidFill>
          <a:ln w="19050">
            <a:solidFill>
              <a:srgbClr val="0E4F5C"/>
            </a:solidFill>
            <a:prstDash val="solid"/>
          </a:ln>
        </p:spPr>
      </p:sp>
      <p:sp>
        <p:nvSpPr>
          <p:cNvPr id="36" name="Text 34"/>
          <p:cNvSpPr txBox="1"/>
          <p:nvPr/>
        </p:nvSpPr>
        <p:spPr>
          <a:xfrm>
            <a:off x="6739128" y="5148072"/>
            <a:ext cx="4754880" cy="365760"/>
          </a:xfrm>
          <a:prstGeom prst="rect">
            <a:avLst/>
          </a:prstGeom>
          <a:noFill/>
          <a:ln/>
        </p:spPr>
        <p:txBody>
          <a:bodyPr wrap="square" lIns="0" tIns="0" rIns="0" bIns="0" rtlCol="0" anchor="t"/>
          <a:lstStyle/>
          <a:p>
            <a:pPr indent="0" marL="0">
              <a:buNone/>
            </a:pPr>
            <a:r>
              <a:rPr lang="en-US" sz="1350" b="1" dirty="0">
                <a:solidFill>
                  <a:srgbClr val="0E4F5C"/>
                </a:solidFill>
                <a:latin typeface="Calibri" pitchFamily="34" charset="0"/>
                <a:ea typeface="Calibri" pitchFamily="34" charset="-122"/>
                <a:cs typeface="Calibri" pitchFamily="34" charset="-120"/>
              </a:rPr>
              <a:t>Resmî entegrasyonlar</a:t>
            </a:r>
            <a:endParaRPr lang="en-US" sz="1350" dirty="0"/>
          </a:p>
        </p:txBody>
      </p:sp>
      <p:sp>
        <p:nvSpPr>
          <p:cNvPr id="37" name="Text 35"/>
          <p:cNvSpPr txBox="1"/>
          <p:nvPr/>
        </p:nvSpPr>
        <p:spPr>
          <a:xfrm>
            <a:off x="6739128" y="5486400"/>
            <a:ext cx="4754880" cy="566928"/>
          </a:xfrm>
          <a:prstGeom prst="rect">
            <a:avLst/>
          </a:prstGeom>
          <a:noFill/>
          <a:ln/>
        </p:spPr>
        <p:txBody>
          <a:bodyPr wrap="square" lIns="0" tIns="0" rIns="0" bIns="0" rtlCol="0" anchor="t"/>
          <a:lstStyle/>
          <a:p>
            <a:pPr indent="0" marL="0">
              <a:buNone/>
            </a:pPr>
            <a:r>
              <a:rPr lang="en-US" sz="1100" dirty="0">
                <a:solidFill>
                  <a:srgbClr val="3D4F57"/>
                </a:solidFill>
                <a:latin typeface="Calibri" pitchFamily="34" charset="0"/>
                <a:ea typeface="Calibri" pitchFamily="34" charset="-122"/>
                <a:cs typeface="Calibri" pitchFamily="34" charset="-120"/>
              </a:rPr>
              <a:t>e-Nabız, e-Reçete, e-Fatura, MEDULA aracı servis üzerinden (K3, K12) — sonraki fazda bağlanacak.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4F5C"/>
        </a:solidFill>
      </p:bgPr>
    </p:bg>
    <p:spTree>
      <p:nvGrpSpPr>
        <p:cNvPr id="1" name=""/>
        <p:cNvGrpSpPr/>
        <p:nvPr/>
      </p:nvGrpSpPr>
      <p:grpSpPr>
        <a:xfrm>
          <a:off x="0" y="0"/>
          <a:ext cx="0" cy="0"/>
          <a:chOff x="0" y="0"/>
          <a:chExt cx="0" cy="0"/>
        </a:xfrm>
      </p:grpSpPr>
      <p:sp>
        <p:nvSpPr>
          <p:cNvPr id="2" name="Text 0"/>
          <p:cNvSpPr txBox="1"/>
          <p:nvPr/>
        </p:nvSpPr>
        <p:spPr>
          <a:xfrm>
            <a:off x="731520" y="1188720"/>
            <a:ext cx="2743200" cy="1280160"/>
          </a:xfrm>
          <a:prstGeom prst="rect">
            <a:avLst/>
          </a:prstGeom>
          <a:noFill/>
          <a:ln/>
        </p:spPr>
        <p:txBody>
          <a:bodyPr wrap="square" lIns="0" tIns="0" rIns="0" bIns="0" rtlCol="0" anchor="t"/>
          <a:lstStyle/>
          <a:p>
            <a:pPr indent="0" marL="0">
              <a:buNone/>
            </a:pPr>
            <a:r>
              <a:rPr lang="en-US" sz="8800" b="1" dirty="0">
                <a:solidFill>
                  <a:srgbClr val="D9694A"/>
                </a:solidFill>
                <a:latin typeface="Calibri" pitchFamily="34" charset="0"/>
                <a:ea typeface="Calibri" pitchFamily="34" charset="-122"/>
                <a:cs typeface="Calibri" pitchFamily="34" charset="-120"/>
              </a:rPr>
              <a:t>03</a:t>
            </a:r>
            <a:endParaRPr lang="en-US" sz="8800" dirty="0"/>
          </a:p>
        </p:txBody>
      </p:sp>
      <p:sp>
        <p:nvSpPr>
          <p:cNvPr id="3" name="Text 1"/>
          <p:cNvSpPr txBox="1"/>
          <p:nvPr/>
        </p:nvSpPr>
        <p:spPr>
          <a:xfrm>
            <a:off x="731520" y="2560320"/>
            <a:ext cx="7315200" cy="9144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İlk kurulum ve yetkiler</a:t>
            </a:r>
            <a:endParaRPr lang="en-US" sz="4000" dirty="0"/>
          </a:p>
        </p:txBody>
      </p:sp>
      <p:sp>
        <p:nvSpPr>
          <p:cNvPr id="4" name="Text 2"/>
          <p:cNvSpPr txBox="1"/>
          <p:nvPr/>
        </p:nvSpPr>
        <p:spPr>
          <a:xfrm>
            <a:off x="731520" y="3520440"/>
            <a:ext cx="6766560" cy="1097280"/>
          </a:xfrm>
          <a:prstGeom prst="rect">
            <a:avLst/>
          </a:prstGeom>
          <a:noFill/>
          <a:ln/>
        </p:spPr>
        <p:txBody>
          <a:bodyPr wrap="square" lIns="0" tIns="0" rIns="0" bIns="0" rtlCol="0" anchor="t"/>
          <a:lstStyle/>
          <a:p>
            <a:pPr indent="0" marL="0">
              <a:buNone/>
            </a:pPr>
            <a:r>
              <a:rPr lang="en-US" sz="1600" dirty="0">
                <a:solidFill>
                  <a:srgbClr val="CFE6DF"/>
                </a:solidFill>
                <a:latin typeface="Calibri" pitchFamily="34" charset="0"/>
                <a:ea typeface="Calibri" pitchFamily="34" charset="-122"/>
                <a:cs typeface="Calibri" pitchFamily="34" charset="-120"/>
              </a:rPr>
              <a:t>Kurumun kaydı, ekibin eklenmesi ve rollerin atanması. Yetki sistemi rol + şube kapsamı + kilitli yasal kurallardan oluşur.</a:t>
            </a:r>
            <a:endParaRPr lang="en-US" sz="1600" dirty="0"/>
          </a:p>
        </p:txBody>
      </p:sp>
      <p:sp>
        <p:nvSpPr>
          <p:cNvPr id="5" name="Text 3"/>
          <p:cNvSpPr txBox="1"/>
          <p:nvPr/>
        </p:nvSpPr>
        <p:spPr>
          <a:xfrm>
            <a:off x="8138160" y="1371600"/>
            <a:ext cx="3566160" cy="4389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Giriş ve oturum</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Kayıt sihirbazı (4 adım)</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Panel ve menü</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Kullanıcı ve rol atama</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Rol kataloğu</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Yetki matrisi</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Şube kapsamı</a:t>
            </a:r>
            <a:endParaRPr lang="en-US" sz="1500" dirty="0"/>
          </a:p>
        </p:txBody>
      </p:sp>
      <p:pic>
        <p:nvPicPr>
          <p:cNvPr id="6" name="Image 0" descr="preencoded.png">    </p:cNvPr>
          <p:cNvPicPr>
            <a:picLocks noChangeAspect="1"/>
          </p:cNvPicPr>
          <p:nvPr/>
        </p:nvPicPr>
        <p:blipFill>
          <a:blip r:embed="rId1">
            <a:alphaModFix amt="80000"/>
          </a:blip>
          <a:stretch>
            <a:fillRect/>
          </a:stretch>
        </p:blipFill>
        <p:spPr>
          <a:xfrm>
            <a:off x="10957255" y="5806440"/>
            <a:ext cx="640080" cy="6400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Giriş ve oturum</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Kök adres oturum yoksa giriş ekranına yönlendirir.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12064" y="1380744"/>
            <a:ext cx="6839712" cy="4302252"/>
          </a:xfrm>
          <a:prstGeom prst="roundRect">
            <a:avLst>
              <a:gd name="adj" fmla="val 1275"/>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01-giris.jpg">    </p:cNvPr>
          <p:cNvPicPr>
            <a:picLocks noChangeAspect="1"/>
          </p:cNvPicPr>
          <p:nvPr/>
        </p:nvPicPr>
        <p:blipFill>
          <a:blip r:embed="rId1"/>
          <a:stretch>
            <a:fillRect/>
          </a:stretch>
        </p:blipFill>
        <p:spPr>
          <a:xfrm>
            <a:off x="548640" y="1417320"/>
            <a:ext cx="6766560" cy="4229100"/>
          </a:xfrm>
          <a:prstGeom prst="rect">
            <a:avLst/>
          </a:prstGeom>
        </p:spPr>
      </p:pic>
      <p:sp>
        <p:nvSpPr>
          <p:cNvPr id="8" name="Text 5"/>
          <p:cNvSpPr txBox="1"/>
          <p:nvPr/>
        </p:nvSpPr>
        <p:spPr>
          <a:xfrm>
            <a:off x="7589520" y="1463040"/>
            <a:ext cx="4023360" cy="4754880"/>
          </a:xfrm>
          <a:prstGeom prst="rect">
            <a:avLst/>
          </a:prstGeom>
          <a:noFill/>
          <a:ln/>
        </p:spPr>
        <p:txBody>
          <a:bodyPr wrap="square" lIns="0" tIns="0" rIns="0" bIns="0" rtlCol="0" anchor="t"/>
          <a:lstStyle/>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E-posta + parola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ile giriş. Parolalar Argon2 ile özetlenir, düz saklanmaz.</a:t>
            </a:r>
            <a:endParaRPr lang="en-US" sz="1250" dirty="0"/>
          </a:p>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Oturum 8 saat;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anahtar httpOnly, SameSite=Strict çerezde tutulur — sayfa betiği anahtara erişemez.</a:t>
            </a:r>
            <a:endParaRPr lang="en-US" sz="1250" dirty="0"/>
          </a:p>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Başarılı ve başarısız girişler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denetim izine yazılır.</a:t>
            </a:r>
            <a:endParaRPr lang="en-US" sz="1250" dirty="0"/>
          </a:p>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Rol değişikliği ve hesap kapatma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bir sonraki istekte geçerli olur (yetki her istekte veritabanından okunur, anahtara güvenilmez).</a:t>
            </a:r>
            <a:endParaRPr lang="en-US" sz="1250" dirty="0"/>
          </a:p>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“Çıkış yap”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çerezi siler.</a:t>
            </a:r>
            <a:endParaRPr lang="en-US" sz="1250" dirty="0"/>
          </a:p>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Yeni kurum: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“Kurum kaydı oluşturun” bağlantısı sihirbazı açar.</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Kayıt sihirbazı — adım 1: kurum tipi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Birden çok hizmet seçilebilir; sağ panel seçime göre modülleri, rolleri, belgeleri ve entegrasyonları anında gösterir.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512064" y="1380744"/>
            <a:ext cx="7022592" cy="4416552"/>
          </a:xfrm>
          <a:prstGeom prst="roundRect">
            <a:avLst>
              <a:gd name="adj" fmla="val 1242"/>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02-kayit-tip.jpg">    </p:cNvPr>
          <p:cNvPicPr>
            <a:picLocks noChangeAspect="1"/>
          </p:cNvPicPr>
          <p:nvPr/>
        </p:nvPicPr>
        <p:blipFill>
          <a:blip r:embed="rId1"/>
          <a:stretch>
            <a:fillRect/>
          </a:stretch>
        </p:blipFill>
        <p:spPr>
          <a:xfrm>
            <a:off x="548640" y="1417320"/>
            <a:ext cx="6949440" cy="4343400"/>
          </a:xfrm>
          <a:prstGeom prst="rect">
            <a:avLst/>
          </a:prstGeom>
        </p:spPr>
      </p:pic>
      <p:sp>
        <p:nvSpPr>
          <p:cNvPr id="8" name="Text 5"/>
          <p:cNvSpPr txBox="1"/>
          <p:nvPr/>
        </p:nvSpPr>
        <p:spPr>
          <a:xfrm>
            <a:off x="7772400" y="1463040"/>
            <a:ext cx="3840480" cy="4754880"/>
          </a:xfrm>
          <a:prstGeom prst="rect">
            <a:avLst/>
          </a:prstGeom>
          <a:noFill/>
          <a:ln/>
        </p:spPr>
        <p:txBody>
          <a:bodyPr wrap="square" lIns="0" tIns="0" rIns="0" bIns="0" rtlCol="0" anchor="t"/>
          <a:lstStyle/>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7 kurum tipi: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muayenehane, poliklinik/tıp merkezi, ağız-diş, estetik, fizik tedavi/danışmanlık, veteriner, evde sağlık.</a:t>
            </a:r>
            <a:endParaRPr lang="en-US" sz="1250" dirty="0"/>
          </a:p>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Sağ panel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(önizleme): açılacak modüller, roller, takip edilecek zorunlu belgeler, resmî entegrasyonlar.</a:t>
            </a:r>
            <a:endParaRPr lang="en-US" sz="1250" dirty="0"/>
          </a:p>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Veteriner + insan sağlığı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birlikte seçilirse “ayrı şube olarak açar” uyarısı çıkar; sistem iki şube oluşturur.</a:t>
            </a:r>
            <a:endParaRPr lang="en-US" sz="1250" dirty="0"/>
          </a:p>
          <a:p>
            <a:pPr marL="177800" indent="-177800">
              <a:spcAft>
                <a:spcPts val="500"/>
              </a:spcAft>
              <a:buSzPct val="100000"/>
              <a:buChar char="•"/>
            </a:pPr>
            <a:r>
              <a:rPr lang="en-US" sz="1250" b="1" dirty="0">
                <a:solidFill>
                  <a:srgbClr val="0E4F5C"/>
                </a:solidFill>
                <a:latin typeface="Calibri" pitchFamily="34" charset="0"/>
                <a:ea typeface="Calibri" pitchFamily="34" charset="-122"/>
                <a:cs typeface="Calibri" pitchFamily="34" charset="-120"/>
              </a:rPr>
              <a:t>Adımlar: </a:t>
            </a:r>
            <a:pPr indent="0" marL="0">
              <a:spcAft>
                <a:spcPts val="500"/>
              </a:spcAft>
              <a:buNone/>
            </a:pPr>
            <a:r>
              <a:rPr lang="en-US" sz="1250" dirty="0">
                <a:solidFill>
                  <a:srgbClr val="13232A"/>
                </a:solidFill>
                <a:latin typeface="Calibri" pitchFamily="34" charset="0"/>
                <a:ea typeface="Calibri" pitchFamily="34" charset="-122"/>
                <a:cs typeface="Calibri" pitchFamily="34" charset="-120"/>
              </a:rPr>
              <a:t>1 Kurum tipi → 2 Kurum bilgileri → 3 Hesabınız → 4 Onay.</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Kayıt sihirbazı — adım 2–4</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Kurum bilgileri, kurucu hesap ve son kontrol.</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12064" y="1380744"/>
            <a:ext cx="5468112" cy="3445002"/>
          </a:xfrm>
          <a:prstGeom prst="roundRect">
            <a:avLst>
              <a:gd name="adj" fmla="val 1593"/>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03-kayit-hesap.jpg">    </p:cNvPr>
          <p:cNvPicPr>
            <a:picLocks noChangeAspect="1"/>
          </p:cNvPicPr>
          <p:nvPr/>
        </p:nvPicPr>
        <p:blipFill>
          <a:blip r:embed="rId1"/>
          <a:stretch>
            <a:fillRect/>
          </a:stretch>
        </p:blipFill>
        <p:spPr>
          <a:xfrm>
            <a:off x="548640" y="1417320"/>
            <a:ext cx="5394960" cy="3371850"/>
          </a:xfrm>
          <a:prstGeom prst="rect">
            <a:avLst/>
          </a:prstGeom>
        </p:spPr>
      </p:pic>
      <p:sp>
        <p:nvSpPr>
          <p:cNvPr id="8" name="Shape 5"/>
          <p:cNvSpPr/>
          <p:nvPr/>
        </p:nvSpPr>
        <p:spPr>
          <a:xfrm>
            <a:off x="6181344" y="1380744"/>
            <a:ext cx="5468112" cy="3445002"/>
          </a:xfrm>
          <a:prstGeom prst="roundRect">
            <a:avLst>
              <a:gd name="adj" fmla="val 1593"/>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9" name="Image 1" descr="/tmp/claude-0/-home-user-DC-Doktor-Klinik/f408c0fa-c72f-514c-9fce-60dc20fb9e57/scratchpad/sunum/img/04-kayit-onay.jpg">    </p:cNvPr>
          <p:cNvPicPr>
            <a:picLocks noChangeAspect="1"/>
          </p:cNvPicPr>
          <p:nvPr/>
        </p:nvPicPr>
        <p:blipFill>
          <a:blip r:embed="rId2"/>
          <a:stretch>
            <a:fillRect/>
          </a:stretch>
        </p:blipFill>
        <p:spPr>
          <a:xfrm>
            <a:off x="6217920" y="1417320"/>
            <a:ext cx="5394960" cy="3371850"/>
          </a:xfrm>
          <a:prstGeom prst="rect">
            <a:avLst/>
          </a:prstGeom>
        </p:spPr>
      </p:pic>
      <p:sp>
        <p:nvSpPr>
          <p:cNvPr id="10" name="Text 6"/>
          <p:cNvSpPr txBox="1"/>
          <p:nvPr/>
        </p:nvSpPr>
        <p:spPr>
          <a:xfrm>
            <a:off x="548640" y="4983480"/>
            <a:ext cx="11064240" cy="137160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0E4F5C"/>
                </a:solidFill>
                <a:latin typeface="Calibri" pitchFamily="34" charset="0"/>
                <a:ea typeface="Calibri" pitchFamily="34" charset="-122"/>
                <a:cs typeface="Calibri" pitchFamily="34" charset="-120"/>
              </a:rPr>
              <a:t>Adım 2: </a:t>
            </a:r>
            <a:pPr indent="0" marL="0">
              <a:spcAft>
                <a:spcPts val="500"/>
              </a:spcAft>
              <a:buNone/>
            </a:pPr>
            <a:r>
              <a:rPr lang="en-US" sz="1200" dirty="0">
                <a:solidFill>
                  <a:srgbClr val="13232A"/>
                </a:solidFill>
                <a:latin typeface="Calibri" pitchFamily="34" charset="0"/>
                <a:ea typeface="Calibri" pitchFamily="34" charset="-122"/>
                <a:cs typeface="Calibri" pitchFamily="34" charset="-120"/>
              </a:rPr>
              <a:t>resmî unvan, vergi no, ilk şubenin adı.</a:t>
            </a:r>
            <a:endParaRPr lang="en-US" sz="1200" dirty="0"/>
          </a:p>
          <a:p>
            <a:pPr marL="177800" indent="-177800">
              <a:spcAft>
                <a:spcPts val="500"/>
              </a:spcAft>
              <a:buSzPct val="100000"/>
              <a:buChar char="•"/>
            </a:pPr>
            <a:r>
              <a:rPr lang="en-US" sz="1200" b="1" dirty="0">
                <a:solidFill>
                  <a:srgbClr val="0E4F5C"/>
                </a:solidFill>
                <a:latin typeface="Calibri" pitchFamily="34" charset="0"/>
                <a:ea typeface="Calibri" pitchFamily="34" charset="-122"/>
                <a:cs typeface="Calibri" pitchFamily="34" charset="-120"/>
              </a:rPr>
              <a:t>Adım 3: </a:t>
            </a:r>
            <a:pPr indent="0" marL="0">
              <a:spcAft>
                <a:spcPts val="500"/>
              </a:spcAft>
              <a:buNone/>
            </a:pPr>
            <a:r>
              <a:rPr lang="en-US" sz="1200" dirty="0">
                <a:solidFill>
                  <a:srgbClr val="13232A"/>
                </a:solidFill>
                <a:latin typeface="Calibri" pitchFamily="34" charset="0"/>
                <a:ea typeface="Calibri" pitchFamily="34" charset="-122"/>
                <a:cs typeface="Calibri" pitchFamily="34" charset="-120"/>
              </a:rPr>
              <a:t>kurucunun adı, e-postası, parolası (en az 10 karakter, tekrar) ve mesleği. Hekim olmayan kurucuya “tıbbi kayıtları göremezsiniz” bilgisi gösterilir.</a:t>
            </a:r>
            <a:endParaRPr lang="en-US" sz="1200" dirty="0"/>
          </a:p>
          <a:p>
            <a:pPr marL="177800" indent="-177800">
              <a:spcAft>
                <a:spcPts val="500"/>
              </a:spcAft>
              <a:buSzPct val="100000"/>
              <a:buChar char="•"/>
            </a:pPr>
            <a:r>
              <a:rPr lang="en-US" sz="1200" b="1" dirty="0">
                <a:solidFill>
                  <a:srgbClr val="0E4F5C"/>
                </a:solidFill>
                <a:latin typeface="Calibri" pitchFamily="34" charset="0"/>
                <a:ea typeface="Calibri" pitchFamily="34" charset="-122"/>
                <a:cs typeface="Calibri" pitchFamily="34" charset="-120"/>
              </a:rPr>
              <a:t>Adım 4: </a:t>
            </a:r>
            <a:pPr indent="0" marL="0">
              <a:spcAft>
                <a:spcPts val="500"/>
              </a:spcAft>
              <a:buNone/>
            </a:pPr>
            <a:r>
              <a:rPr lang="en-US" sz="1200" dirty="0">
                <a:solidFill>
                  <a:srgbClr val="13232A"/>
                </a:solidFill>
                <a:latin typeface="Calibri" pitchFamily="34" charset="0"/>
                <a:ea typeface="Calibri" pitchFamily="34" charset="-122"/>
                <a:cs typeface="Calibri" pitchFamily="34" charset="-120"/>
              </a:rPr>
              <a:t>tüm seçimlerin özeti ve açılacak şubeler; kullanım koşulları ve aydınlatma onayı zorunlu. “Kurumu oluştur” ile kurucuya kurum sahibi rolü (hekimse ayrıca hekim) verilir ve Komuta Merkezi açılır.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Panel yapısı ve menü</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Sol menü yalnızca kişinin yetkisi olan modülleri gösterir; üstte şube seçici, sağ üstte kullanıcı ve çıkış.</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12064" y="1380744"/>
            <a:ext cx="6108192" cy="3845052"/>
          </a:xfrm>
          <a:prstGeom prst="roundRect">
            <a:avLst>
              <a:gd name="adj" fmla="val 1427"/>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05-komuta-merkezi.jpg">    </p:cNvPr>
          <p:cNvPicPr>
            <a:picLocks noChangeAspect="1"/>
          </p:cNvPicPr>
          <p:nvPr/>
        </p:nvPicPr>
        <p:blipFill>
          <a:blip r:embed="rId1"/>
          <a:stretch>
            <a:fillRect/>
          </a:stretch>
        </p:blipFill>
        <p:spPr>
          <a:xfrm>
            <a:off x="548640" y="1417320"/>
            <a:ext cx="6035040" cy="3771900"/>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0" y="1417320"/>
          <a:ext cx="4754880" cy="914400"/>
        </p:xfrm>
        <a:graphic>
          <a:graphicData uri="http://schemas.openxmlformats.org/drawingml/2006/table">
            <a:tbl>
              <a:tblPr/>
              <a:tblGrid>
                <a:gridCol w="1828800"/>
                <a:gridCol w="292608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Menü</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Kim görür (izin)</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Komuta Merkezi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Herkes (göstergeler: komuta.goruntule)</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Randevular</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randevu.goruntule</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Hastalar</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hasta.demografik.goruntule</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Personel ve Belgeler</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Herkes (yetkisiz → kendi kartı “Belgelerim”)</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Nöbet ve Vardiya</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Herkes (taslak yalnız planlayana)</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Stok ve İlaç</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stok, tıbbi kayıt yazma veya narkotik yetkisi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Finans</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finans.goruntule / tahsilat / fiyat</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Ruhsat ve Belgeler</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belge.kurum.yonet veya komuta</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Kalite ve Uyum</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olay.bildir (herkes)</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Kullanıcılar ve Yetkiler</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kullanıcı / sağlık rolü / mesul atama</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Denetim İzi</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50" dirty="0">
                          <a:solidFill>
                            <a:srgbClr val="13232A"/>
                          </a:solidFill>
                          <a:latin typeface="Calibri" pitchFamily="34" charset="0"/>
                          <a:ea typeface="Calibri" pitchFamily="34" charset="-122"/>
                          <a:cs typeface="Calibri" pitchFamily="34" charset="-120"/>
                        </a:rPr>
                        <a:t>denetim.goruntule</a:t>
                      </a:r>
                      <a:endParaRPr lang="en-US" sz="9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48640" y="5349240"/>
            <a:ext cx="6035040" cy="914400"/>
          </a:xfrm>
          <a:prstGeom prst="rect">
            <a:avLst/>
          </a:prstGeom>
          <a:noFill/>
          <a:ln/>
        </p:spPr>
        <p:txBody>
          <a:bodyPr wrap="square" lIns="0" tIns="0" rIns="0" bIns="0" rtlCol="0" anchor="t"/>
          <a:lstStyle/>
          <a:p>
            <a:pPr indent="0" marL="0">
              <a:buNone/>
            </a:pPr>
            <a:r>
              <a:rPr lang="en-US" sz="1100" dirty="0">
                <a:solidFill>
                  <a:srgbClr val="3D4F57"/>
                </a:solidFill>
                <a:latin typeface="Calibri" pitchFamily="34" charset="0"/>
                <a:ea typeface="Calibri" pitchFamily="34" charset="-122"/>
                <a:cs typeface="Calibri" pitchFamily="34" charset="-120"/>
              </a:rPr>
              <a:t>Şube seçici: “Tüm şubeler” konsolide görünüm verir. Başlangıçta: daha önce seçilen şube → şubeye bağlı rolünüzün şubesi → tek şube varsa o. Tüm şubelerde geçerli roller her şubede de geçerlidir. Klinik henüz “Yakında” rozetli.</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Kullanıcı ekleme ve rol atama</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“Kullanıcılar ve Yetkiler” ekranı. Her kişi için ad, e-posta, meslek ve geçici parola girilir; rol ayrıca atanır.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512064" y="1380744"/>
            <a:ext cx="5559552" cy="3502152"/>
          </a:xfrm>
          <a:prstGeom prst="roundRect">
            <a:avLst>
              <a:gd name="adj" fmla="val 1567"/>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06-kullanicilar-ret.jpg">    </p:cNvPr>
          <p:cNvPicPr>
            <a:picLocks noChangeAspect="1"/>
          </p:cNvPicPr>
          <p:nvPr/>
        </p:nvPicPr>
        <p:blipFill>
          <a:blip r:embed="rId1"/>
          <a:stretch>
            <a:fillRect/>
          </a:stretch>
        </p:blipFill>
        <p:spPr>
          <a:xfrm>
            <a:off x="548640" y="1417320"/>
            <a:ext cx="5486400" cy="3429000"/>
          </a:xfrm>
          <a:prstGeom prst="rect">
            <a:avLst/>
          </a:prstGeom>
        </p:spPr>
      </p:pic>
      <p:sp>
        <p:nvSpPr>
          <p:cNvPr id="8" name="Shape 5"/>
          <p:cNvSpPr/>
          <p:nvPr/>
        </p:nvSpPr>
        <p:spPr>
          <a:xfrm>
            <a:off x="6135624" y="1380744"/>
            <a:ext cx="5559552" cy="3502152"/>
          </a:xfrm>
          <a:prstGeom prst="roundRect">
            <a:avLst>
              <a:gd name="adj" fmla="val 1567"/>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9" name="Image 1" descr="/tmp/claude-0/-home-user-DC-Doktor-Klinik/f408c0fa-c72f-514c-9fce-60dc20fb9e57/scratchpad/sunum/img/08-mesul-mudur-atadi.jpg">    </p:cNvPr>
          <p:cNvPicPr>
            <a:picLocks noChangeAspect="1"/>
          </p:cNvPicPr>
          <p:nvPr/>
        </p:nvPicPr>
        <p:blipFill>
          <a:blip r:embed="rId2"/>
          <a:stretch>
            <a:fillRect/>
          </a:stretch>
        </p:blipFill>
        <p:spPr>
          <a:xfrm>
            <a:off x="6172200" y="1417320"/>
            <a:ext cx="5486400" cy="3429000"/>
          </a:xfrm>
          <a:prstGeom prst="rect">
            <a:avLst/>
          </a:prstGeom>
        </p:spPr>
      </p:pic>
      <p:sp>
        <p:nvSpPr>
          <p:cNvPr id="10" name="Text 6"/>
          <p:cNvSpPr txBox="1"/>
          <p:nvPr/>
        </p:nvSpPr>
        <p:spPr>
          <a:xfrm>
            <a:off x="548640" y="4983480"/>
            <a:ext cx="11064240" cy="137160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0E4F5C"/>
                </a:solidFill>
                <a:latin typeface="Calibri" pitchFamily="34" charset="0"/>
                <a:ea typeface="Calibri" pitchFamily="34" charset="-122"/>
                <a:cs typeface="Calibri" pitchFamily="34" charset="-120"/>
              </a:rPr>
              <a:t>Meslek listesi: </a:t>
            </a:r>
            <a:pPr indent="0" marL="0">
              <a:spcAft>
                <a:spcPts val="500"/>
              </a:spcAft>
              <a:buNone/>
            </a:pPr>
            <a:r>
              <a:rPr lang="en-US" sz="1150" dirty="0">
                <a:solidFill>
                  <a:srgbClr val="13232A"/>
                </a:solidFill>
                <a:latin typeface="Calibri" pitchFamily="34" charset="0"/>
                <a:ea typeface="Calibri" pitchFamily="34" charset="-122"/>
                <a:cs typeface="Calibri" pitchFamily="34" charset="-120"/>
              </a:rPr>
              <a:t>Hekim, Diş hekimi, Veteriner hekim, Hemşire, Ebe, Sağlık teknikeri / teknisyeni, Veteriner sağlık teknikeri, Psikolog, Diyetisyen, Fizyoterapist, Eczacı, Estetisyen / güzellik uzmanı, İdari personel, Destek personeli.</a:t>
            </a:r>
            <a:endParaRPr lang="en-US" sz="1150" dirty="0"/>
          </a:p>
          <a:p>
            <a:pPr marL="177800" indent="-177800">
              <a:spcAft>
                <a:spcPts val="500"/>
              </a:spcAft>
              <a:buSzPct val="100000"/>
              <a:buChar char="•"/>
            </a:pPr>
            <a:r>
              <a:rPr lang="en-US" sz="1150" b="1" dirty="0">
                <a:solidFill>
                  <a:srgbClr val="0E4F5C"/>
                </a:solidFill>
                <a:latin typeface="Calibri" pitchFamily="34" charset="0"/>
                <a:ea typeface="Calibri" pitchFamily="34" charset="-122"/>
                <a:cs typeface="Calibri" pitchFamily="34" charset="-120"/>
              </a:rPr>
              <a:t>Rol seçeneği mesleğe göre süzülür: </a:t>
            </a:r>
            <a:pPr indent="0" marL="0">
              <a:spcAft>
                <a:spcPts val="500"/>
              </a:spcAft>
              <a:buNone/>
            </a:pPr>
            <a:r>
              <a:rPr lang="en-US" sz="1150" dirty="0">
                <a:solidFill>
                  <a:srgbClr val="13232A"/>
                </a:solidFill>
                <a:latin typeface="Calibri" pitchFamily="34" charset="0"/>
                <a:ea typeface="Calibri" pitchFamily="34" charset="-122"/>
                <a:cs typeface="Calibri" pitchFamily="34" charset="-120"/>
              </a:rPr>
              <a:t>hemşireye hekim veya mesul müdür rolü önerilmez. Atayanın yetkisi yetmeyen roller pasif ve gerekçeli görünür (ör. “mesul müdür atar”).</a:t>
            </a:r>
            <a:endParaRPr lang="en-US" sz="1150" dirty="0"/>
          </a:p>
          <a:p>
            <a:pPr marL="177800" indent="-177800">
              <a:spcAft>
                <a:spcPts val="500"/>
              </a:spcAft>
              <a:buSzPct val="100000"/>
              <a:buChar char="•"/>
            </a:pPr>
            <a:r>
              <a:rPr lang="en-US" sz="1150" b="1" dirty="0">
                <a:solidFill>
                  <a:srgbClr val="0E4F5C"/>
                </a:solidFill>
                <a:latin typeface="Calibri" pitchFamily="34" charset="0"/>
                <a:ea typeface="Calibri" pitchFamily="34" charset="-122"/>
                <a:cs typeface="Calibri" pitchFamily="34" charset="-120"/>
              </a:rPr>
              <a:t>Kapsam: </a:t>
            </a:r>
            <a:pPr indent="0" marL="0">
              <a:spcAft>
                <a:spcPts val="500"/>
              </a:spcAft>
              <a:buNone/>
            </a:pPr>
            <a:r>
              <a:rPr lang="en-US" sz="1150" dirty="0">
                <a:solidFill>
                  <a:srgbClr val="13232A"/>
                </a:solidFill>
                <a:latin typeface="Calibri" pitchFamily="34" charset="0"/>
                <a:ea typeface="Calibri" pitchFamily="34" charset="-122"/>
                <a:cs typeface="Calibri" pitchFamily="34" charset="-120"/>
              </a:rPr>
              <a:t>rol bir şubeye veya tüm şubelere verilir. Reddedilen atama denemeleri de denetim izine yazılır.</a:t>
            </a:r>
            <a:endParaRPr lang="en-US" sz="1150" dirty="0"/>
          </a:p>
          <a:p>
            <a:pPr marL="177800" indent="-177800">
              <a:spcAft>
                <a:spcPts val="500"/>
              </a:spcAft>
              <a:buSzPct val="100000"/>
              <a:buChar char="•"/>
            </a:pPr>
            <a:r>
              <a:rPr lang="en-US" sz="1150" b="1" dirty="0">
                <a:solidFill>
                  <a:srgbClr val="0E4F5C"/>
                </a:solidFill>
                <a:latin typeface="Calibri" pitchFamily="34" charset="0"/>
                <a:ea typeface="Calibri" pitchFamily="34" charset="-122"/>
                <a:cs typeface="Calibri" pitchFamily="34" charset="-120"/>
              </a:rPr>
              <a:t>Geçici parola </a:t>
            </a:r>
            <a:pPr indent="0" marL="0">
              <a:spcAft>
                <a:spcPts val="500"/>
              </a:spcAft>
              <a:buNone/>
            </a:pPr>
            <a:r>
              <a:rPr lang="en-US" sz="1150" dirty="0">
                <a:solidFill>
                  <a:srgbClr val="13232A"/>
                </a:solidFill>
                <a:latin typeface="Calibri" pitchFamily="34" charset="0"/>
                <a:ea typeface="Calibri" pitchFamily="34" charset="-122"/>
                <a:cs typeface="Calibri" pitchFamily="34" charset="-120"/>
              </a:rPr>
              <a:t>kişiye güvenli yoldan iletilir (e-posta daveti sonraki adımda).</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Rol kataloğu (15 rol)</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Her rol bir izin paketidir; izinler ayrıca meslek kuralından geçer.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5120640"/>
                <a:gridCol w="2286000"/>
                <a:gridCol w="146304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Rol</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Açıklama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Atanabilen meslek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Kim atar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Kurum sahibi / ortak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İşletme verisinin tamamını görür; tıbbi veriyi yalnızca anonim/toplu görür.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meslekler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Kayıtta otomatik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Genel müdür / işletme müdürü</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Günlük operasyonun sahibi; tıbbi veriyi yalnızca anonim/toplu görür.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meslekler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Kullanıcı yöneticisi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Mesul müdür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Kuruluşun mevzuata uygun çalışmasından Bakanlığa karşı sorumlu hekim.</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Hekim, Diş hekimi, Veteriner hekim</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Kurum sahibi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Başhekim / tıbbi direktör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Klinik protokoller, hekim görevlendirme ve tıbbi kayıt kalitesi.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Hekim, Diş hekimi, Veteriner hekim</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Mesul müdür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Hekim</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Kendi hastaları için tam tıbbi kayıt, tanı, reçete, rapor, onam; kontrol randevusu verme.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Hekim, Diş hekimi, Veteriner hekim</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Mesul müdür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Başhemşire / sorumlu hemşire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Hemşire ve yardımcı sağlık personelinin planı, ilaç uygulama denetimi.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Hemşire, Ebe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Mesul müdür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Hemşire / ebe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Hekim istemli uygulama, vital bulgu, hemşirelik notu. Reçete yazamaz, tanı koyamaz.</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Hemşire, Ebe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Mesul müdür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Diğer sağlık personeli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Tekniker, psikolog, diyetisyen, fizyoterapist, veteriner teknikeri: kendi alan kayıtları.</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Sağlık teknikeri / teknisyeni, Veteriner sağlık teknikeri, Psikolog, Diyetisyen, Fizyoterapist, Eczacı</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Mesul müdür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Hasta kabul / sekreter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Kayıt, randevu, kabul, tahsilat. Tanı ve muayene notlarını göremez.</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meslekler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Kullanıcı yöneticisi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Muhasebe / finans</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Fatura, tahsilat, gider, hakediş. Tıbbi notları göremez.</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meslekler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Kullanıcı yöneticisi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Satın alma / depo sorumlusu</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Tedarikçi, sipariş, mal kabul, sayım, son kullanma tarihi.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meslekler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Kullanıcı yöneticisi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İnsan kaynakları</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Özlük, sözleşme, izin, belge takibi.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meslekler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Kullanıcı yöneticisi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Kalite sorumlusu</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SKS göstergeleri, olay bildirimleri, DÖF, iç denetim.</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meslekler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Kullanıcı yöneticisi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Destek personeli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Temizlik, güvenlik, hasta bakıcı, şoför: görev ve vardiya. Hasta verisi yok.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meslekler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Kullanıcı yöneticisi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Bilgi işlem / sistem yöneticisi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Teknik ayarlar. Tıbbi veriye erişemez.</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meslekler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Kullanıcı yöneticisi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Yetki matrisi — klinik</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G: görüntüle · Y: yaz/yönet · D: tüm kayıtları denetim amaçlı. İşaretler rolden gelir; meslek uygun değilse izin yine verilmez.</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1051560"/>
                <a:gridCol w="1051560"/>
                <a:gridCol w="1051560"/>
                <a:gridCol w="1051560"/>
                <a:gridCol w="1051560"/>
                <a:gridCol w="1051560"/>
                <a:gridCol w="1051560"/>
                <a:gridCol w="105156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Rol</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Komuta</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Hasta</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Tıbbi kayıt</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Tanı/reçete/rapor</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Onam</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Randevu</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Anonim istatistik</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Olay bildir</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Kurum sahibi / ortak</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Genel müdür / işletme müdürü</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Mesul müdür</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Başhekim / tıbbi direktör</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 D</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Al</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Hekim</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Al</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Başhemşire / sorumlu hemşire</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Al</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Hemşire / ebe</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Diğer sağlık personeli</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Hasta kabul / sekreter</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Sun</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Muhasebe / finans</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Satın alma / depo sorumlusu</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İnsan kaynakları</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Kalite sorumlusu</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Destek personeli</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Bilgi işlem / sistem yöneticisi</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Yetki matrisi — yönetim</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Ö: öneri (onaya düşer) · O: onay · P: planla · İ: iade/iptal onayı · T: tahsilat.</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841248"/>
                <a:gridCol w="841248"/>
                <a:gridCol w="841248"/>
                <a:gridCol w="841248"/>
                <a:gridCol w="841248"/>
                <a:gridCol w="841248"/>
                <a:gridCol w="841248"/>
                <a:gridCol w="841248"/>
                <a:gridCol w="841248"/>
                <a:gridCol w="841248"/>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Rol</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Finans</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Fiyat</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Personel</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Kurum belgesi</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Nöbet</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Stok</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Narkotik</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Kalite</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Kullanıcı/rol</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Denetim/ayar</a:t>
                      </a:r>
                      <a:endParaRPr lang="en-US" sz="10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Kurum sahibi / ortak</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İ</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Ö O</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İdari Mesul</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İz Ayar</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Genel müdür / işletme müdürü</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İ</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Ö</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P O</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İdari</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İz Ayar</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Mesul müdür</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O</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Sağlık</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İz Ayar</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Başhekim / tıbbi direktör</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P O</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Hekim</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Başhemşire / sorumlu hemşire</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Hemşire / ebe</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Diğer sağlık personeli</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Hasta kabul / sekreter</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Muhasebe / finans</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Satın alma / depo sorumlusu</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İnsan kaynakları</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G Y</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Kalite sorumlusu</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İz</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Destek personeli</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100" dirty="0">
                          <a:solidFill>
                            <a:srgbClr val="13232A"/>
                          </a:solidFill>
                          <a:latin typeface="Calibri" pitchFamily="34" charset="0"/>
                          <a:ea typeface="Calibri" pitchFamily="34" charset="-122"/>
                          <a:cs typeface="Calibri" pitchFamily="34" charset="-120"/>
                        </a:rPr>
                        <a:t>Bilgi işlem / sistem yöneticisi</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B8B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E4F5C"/>
                          </a:solidFill>
                          <a:latin typeface="Calibri" pitchFamily="34" charset="0"/>
                          <a:ea typeface="Calibri" pitchFamily="34" charset="-122"/>
                          <a:cs typeface="Calibri" pitchFamily="34" charset="-120"/>
                        </a:rPr>
                        <a:t>Ayar</a:t>
                      </a:r>
                      <a:endParaRPr lang="en-US" sz="1100" dirty="0">
                        <a:latin typeface="Calibri" charset="0"/>
                        <a:ea typeface="Calibri" charset="0"/>
                        <a:cs typeface="Calibri" charset="0"/>
                      </a:endParaRPr>
                    </a:p>
                  </a:txBody>
                  <a:tcPr marL="38100" marR="38100" marT="50800" marB="508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Yetki nasıl hesaplanır?</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Her API isteğinde aynı dört adım uygulanır.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48640" y="1554480"/>
            <a:ext cx="420624" cy="420624"/>
          </a:xfrm>
          <a:prstGeom prst="ellipse">
            <a:avLst/>
          </a:prstGeom>
          <a:solidFill>
            <a:srgbClr val="0E4F5C"/>
          </a:solidFill>
          <a:ln w="12700">
            <a:solidFill>
              <a:srgbClr val="0E4F5C"/>
            </a:solidFill>
            <a:prstDash val="solid"/>
          </a:ln>
        </p:spPr>
      </p:sp>
      <p:sp>
        <p:nvSpPr>
          <p:cNvPr id="7" name="Text 5"/>
          <p:cNvSpPr txBox="1"/>
          <p:nvPr/>
        </p:nvSpPr>
        <p:spPr>
          <a:xfrm>
            <a:off x="548640" y="15544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097280" y="1554480"/>
            <a:ext cx="2103120" cy="420624"/>
          </a:xfrm>
          <a:prstGeom prst="rect">
            <a:avLst/>
          </a:prstGeom>
          <a:noFill/>
          <a:ln/>
        </p:spPr>
        <p:txBody>
          <a:bodyPr wrap="square" lIns="0" tIns="0" rIns="0" bIns="0" rtlCol="0" anchor="ctr"/>
          <a:lstStyle/>
          <a:p>
            <a:pPr indent="0" marL="0">
              <a:buNone/>
            </a:pPr>
            <a:r>
              <a:rPr lang="en-US" sz="1500" b="1" dirty="0">
                <a:solidFill>
                  <a:srgbClr val="0E4F5C"/>
                </a:solidFill>
                <a:latin typeface="Calibri" pitchFamily="34" charset="0"/>
                <a:ea typeface="Calibri" pitchFamily="34" charset="-122"/>
                <a:cs typeface="Calibri" pitchFamily="34" charset="-120"/>
              </a:rPr>
              <a:t>Kimlik</a:t>
            </a:r>
            <a:endParaRPr lang="en-US" sz="1500" dirty="0"/>
          </a:p>
        </p:txBody>
      </p:sp>
      <p:sp>
        <p:nvSpPr>
          <p:cNvPr id="9" name="Text 7"/>
          <p:cNvSpPr txBox="1"/>
          <p:nvPr/>
        </p:nvSpPr>
        <p:spPr>
          <a:xfrm>
            <a:off x="548640" y="2103120"/>
            <a:ext cx="2606040" cy="137160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Çerezdeki veya Bearer başlığındaki anahtar doğrulanır. Geçersizse 401.</a:t>
            </a:r>
            <a:endParaRPr lang="en-US" sz="1150" dirty="0"/>
          </a:p>
        </p:txBody>
      </p:sp>
      <p:sp>
        <p:nvSpPr>
          <p:cNvPr id="10" name="Shape 8"/>
          <p:cNvSpPr/>
          <p:nvPr/>
        </p:nvSpPr>
        <p:spPr>
          <a:xfrm>
            <a:off x="3154680" y="1764792"/>
            <a:ext cx="182880" cy="0"/>
          </a:xfrm>
          <a:prstGeom prst="line">
            <a:avLst/>
          </a:prstGeom>
          <a:noFill/>
          <a:ln w="25400">
            <a:solidFill>
              <a:srgbClr val="D9694A"/>
            </a:solidFill>
            <a:prstDash val="solid"/>
            <a:tailEnd type="triangle"/>
          </a:ln>
        </p:spPr>
      </p:sp>
      <p:sp>
        <p:nvSpPr>
          <p:cNvPr id="11" name="Shape 9"/>
          <p:cNvSpPr/>
          <p:nvPr/>
        </p:nvSpPr>
        <p:spPr>
          <a:xfrm>
            <a:off x="3383280" y="1554480"/>
            <a:ext cx="420624" cy="420624"/>
          </a:xfrm>
          <a:prstGeom prst="ellipse">
            <a:avLst/>
          </a:prstGeom>
          <a:solidFill>
            <a:srgbClr val="0E4F5C"/>
          </a:solidFill>
          <a:ln w="12700">
            <a:solidFill>
              <a:srgbClr val="0E4F5C"/>
            </a:solidFill>
            <a:prstDash val="solid"/>
          </a:ln>
        </p:spPr>
      </p:sp>
      <p:sp>
        <p:nvSpPr>
          <p:cNvPr id="12" name="Text 10"/>
          <p:cNvSpPr txBox="1"/>
          <p:nvPr/>
        </p:nvSpPr>
        <p:spPr>
          <a:xfrm>
            <a:off x="3383280" y="15544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3931920" y="1554480"/>
            <a:ext cx="2103120" cy="420624"/>
          </a:xfrm>
          <a:prstGeom prst="rect">
            <a:avLst/>
          </a:prstGeom>
          <a:noFill/>
          <a:ln/>
        </p:spPr>
        <p:txBody>
          <a:bodyPr wrap="square" lIns="0" tIns="0" rIns="0" bIns="0" rtlCol="0" anchor="ctr"/>
          <a:lstStyle/>
          <a:p>
            <a:pPr indent="0" marL="0">
              <a:buNone/>
            </a:pPr>
            <a:r>
              <a:rPr lang="en-US" sz="1500" b="1" dirty="0">
                <a:solidFill>
                  <a:srgbClr val="0E4F5C"/>
                </a:solidFill>
                <a:latin typeface="Calibri" pitchFamily="34" charset="0"/>
                <a:ea typeface="Calibri" pitchFamily="34" charset="-122"/>
                <a:cs typeface="Calibri" pitchFamily="34" charset="-120"/>
              </a:rPr>
              <a:t>Güncel roller</a:t>
            </a:r>
            <a:endParaRPr lang="en-US" sz="1500" dirty="0"/>
          </a:p>
        </p:txBody>
      </p:sp>
      <p:sp>
        <p:nvSpPr>
          <p:cNvPr id="14" name="Text 12"/>
          <p:cNvSpPr txBox="1"/>
          <p:nvPr/>
        </p:nvSpPr>
        <p:spPr>
          <a:xfrm>
            <a:off x="3383280" y="2103120"/>
            <a:ext cx="2606040" cy="137160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Kişinin mesleği, aktifliği ve rol atamaları veritabanından okunur (anahtardaki bilgiye güvenilmez).</a:t>
            </a:r>
            <a:endParaRPr lang="en-US" sz="1150" dirty="0"/>
          </a:p>
        </p:txBody>
      </p:sp>
      <p:sp>
        <p:nvSpPr>
          <p:cNvPr id="15" name="Shape 13"/>
          <p:cNvSpPr/>
          <p:nvPr/>
        </p:nvSpPr>
        <p:spPr>
          <a:xfrm>
            <a:off x="5989320" y="1764792"/>
            <a:ext cx="182880" cy="0"/>
          </a:xfrm>
          <a:prstGeom prst="line">
            <a:avLst/>
          </a:prstGeom>
          <a:noFill/>
          <a:ln w="25400">
            <a:solidFill>
              <a:srgbClr val="D9694A"/>
            </a:solidFill>
            <a:prstDash val="solid"/>
            <a:tailEnd type="triangle"/>
          </a:ln>
        </p:spPr>
      </p:sp>
      <p:sp>
        <p:nvSpPr>
          <p:cNvPr id="16" name="Shape 14"/>
          <p:cNvSpPr/>
          <p:nvPr/>
        </p:nvSpPr>
        <p:spPr>
          <a:xfrm>
            <a:off x="6217920" y="1554480"/>
            <a:ext cx="420624" cy="420624"/>
          </a:xfrm>
          <a:prstGeom prst="ellipse">
            <a:avLst/>
          </a:prstGeom>
          <a:solidFill>
            <a:srgbClr val="0E4F5C"/>
          </a:solidFill>
          <a:ln w="12700">
            <a:solidFill>
              <a:srgbClr val="0E4F5C"/>
            </a:solidFill>
            <a:prstDash val="solid"/>
          </a:ln>
        </p:spPr>
      </p:sp>
      <p:sp>
        <p:nvSpPr>
          <p:cNvPr id="17" name="Text 15"/>
          <p:cNvSpPr txBox="1"/>
          <p:nvPr/>
        </p:nvSpPr>
        <p:spPr>
          <a:xfrm>
            <a:off x="6217920" y="15544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6766560" y="1554480"/>
            <a:ext cx="2103120" cy="420624"/>
          </a:xfrm>
          <a:prstGeom prst="rect">
            <a:avLst/>
          </a:prstGeom>
          <a:noFill/>
          <a:ln/>
        </p:spPr>
        <p:txBody>
          <a:bodyPr wrap="square" lIns="0" tIns="0" rIns="0" bIns="0" rtlCol="0" anchor="ctr"/>
          <a:lstStyle/>
          <a:p>
            <a:pPr indent="0" marL="0">
              <a:buNone/>
            </a:pPr>
            <a:r>
              <a:rPr lang="en-US" sz="1500" b="1" dirty="0">
                <a:solidFill>
                  <a:srgbClr val="0E4F5C"/>
                </a:solidFill>
                <a:latin typeface="Calibri" pitchFamily="34" charset="0"/>
                <a:ea typeface="Calibri" pitchFamily="34" charset="-122"/>
                <a:cs typeface="Calibri" pitchFamily="34" charset="-120"/>
              </a:rPr>
              <a:t>Şube bağlamı</a:t>
            </a:r>
            <a:endParaRPr lang="en-US" sz="1500" dirty="0"/>
          </a:p>
        </p:txBody>
      </p:sp>
      <p:sp>
        <p:nvSpPr>
          <p:cNvPr id="19" name="Text 17"/>
          <p:cNvSpPr txBox="1"/>
          <p:nvPr/>
        </p:nvSpPr>
        <p:spPr>
          <a:xfrm>
            <a:off x="6217920" y="2103120"/>
            <a:ext cx="2606040" cy="137160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İstekteki şube (x-sube-id) için geçerli roller: o şubeye veya tüm şubelere verilenler.</a:t>
            </a:r>
            <a:endParaRPr lang="en-US" sz="1150" dirty="0"/>
          </a:p>
        </p:txBody>
      </p:sp>
      <p:sp>
        <p:nvSpPr>
          <p:cNvPr id="20" name="Shape 18"/>
          <p:cNvSpPr/>
          <p:nvPr/>
        </p:nvSpPr>
        <p:spPr>
          <a:xfrm>
            <a:off x="8823960" y="1764792"/>
            <a:ext cx="182880" cy="0"/>
          </a:xfrm>
          <a:prstGeom prst="line">
            <a:avLst/>
          </a:prstGeom>
          <a:noFill/>
          <a:ln w="25400">
            <a:solidFill>
              <a:srgbClr val="D9694A"/>
            </a:solidFill>
            <a:prstDash val="solid"/>
            <a:tailEnd type="triangle"/>
          </a:ln>
        </p:spPr>
      </p:sp>
      <p:sp>
        <p:nvSpPr>
          <p:cNvPr id="21" name="Shape 19"/>
          <p:cNvSpPr/>
          <p:nvPr/>
        </p:nvSpPr>
        <p:spPr>
          <a:xfrm>
            <a:off x="9052560" y="1554480"/>
            <a:ext cx="420624" cy="420624"/>
          </a:xfrm>
          <a:prstGeom prst="ellipse">
            <a:avLst/>
          </a:prstGeom>
          <a:solidFill>
            <a:srgbClr val="0E4F5C"/>
          </a:solidFill>
          <a:ln w="12700">
            <a:solidFill>
              <a:srgbClr val="0E4F5C"/>
            </a:solidFill>
            <a:prstDash val="solid"/>
          </a:ln>
        </p:spPr>
      </p:sp>
      <p:sp>
        <p:nvSpPr>
          <p:cNvPr id="22" name="Text 20"/>
          <p:cNvSpPr txBox="1"/>
          <p:nvPr/>
        </p:nvSpPr>
        <p:spPr>
          <a:xfrm>
            <a:off x="9052560" y="15544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9601200" y="1554480"/>
            <a:ext cx="2103120" cy="420624"/>
          </a:xfrm>
          <a:prstGeom prst="rect">
            <a:avLst/>
          </a:prstGeom>
          <a:noFill/>
          <a:ln/>
        </p:spPr>
        <p:txBody>
          <a:bodyPr wrap="square" lIns="0" tIns="0" rIns="0" bIns="0" rtlCol="0" anchor="ctr"/>
          <a:lstStyle/>
          <a:p>
            <a:pPr indent="0" marL="0">
              <a:buNone/>
            </a:pPr>
            <a:r>
              <a:rPr lang="en-US" sz="1500" b="1" dirty="0">
                <a:solidFill>
                  <a:srgbClr val="0E4F5C"/>
                </a:solidFill>
                <a:latin typeface="Calibri" pitchFamily="34" charset="0"/>
                <a:ea typeface="Calibri" pitchFamily="34" charset="-122"/>
                <a:cs typeface="Calibri" pitchFamily="34" charset="-120"/>
              </a:rPr>
              <a:t>Meslek ve askı</a:t>
            </a:r>
            <a:endParaRPr lang="en-US" sz="1500" dirty="0"/>
          </a:p>
        </p:txBody>
      </p:sp>
      <p:sp>
        <p:nvSpPr>
          <p:cNvPr id="24" name="Text 22"/>
          <p:cNvSpPr txBox="1"/>
          <p:nvPr/>
        </p:nvSpPr>
        <p:spPr>
          <a:xfrm>
            <a:off x="9052560" y="2103120"/>
            <a:ext cx="2606040" cy="1371600"/>
          </a:xfrm>
          <a:prstGeom prst="rect">
            <a:avLst/>
          </a:prstGeom>
          <a:noFill/>
          <a:ln/>
        </p:spPr>
        <p:txBody>
          <a:bodyPr wrap="square" lIns="0" tIns="0" rIns="0" bIns="0" rtlCol="0" anchor="t"/>
          <a:lstStyle/>
          <a:p>
            <a:pPr indent="0" marL="0">
              <a:buNone/>
            </a:pPr>
            <a:r>
              <a:rPr lang="en-US" sz="1150" dirty="0">
                <a:solidFill>
                  <a:srgbClr val="3D4F57"/>
                </a:solidFill>
                <a:latin typeface="Calibri" pitchFamily="34" charset="0"/>
                <a:ea typeface="Calibri" pitchFamily="34" charset="-122"/>
                <a:cs typeface="Calibri" pitchFamily="34" charset="-120"/>
              </a:rPr>
              <a:t>Rolün izinleri mesleğe uygunluk kuralından geçer; süresi dolmuş zorunlu belge varsa ilgili izinler düşülür.</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11064240" cy="914400"/>
        </p:xfrm>
        <a:graphic>
          <a:graphicData uri="http://schemas.openxmlformats.org/drawingml/2006/table">
            <a:tbl>
              <a:tblPr/>
              <a:tblGrid>
                <a:gridCol w="1463040"/>
                <a:gridCol w="5303520"/>
                <a:gridCol w="42976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İzin seviyesi</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Kimlere verilebilir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Örnek izinler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hekim</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Hekim, Diş hekimi, Veteriner hekim</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tani.koy, recete.yaz, rapor.yaz, tibbi.kayit.denetim, yetki.saglik.onayla</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sağlık</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Hekim, Diş hekimi, Veteriner hekim, Hemşire, Ebe, Sağlık teknikeri / teknisyeni, Veteriner sağlık teknikeri, Psikolog, Diyetisyen, Fizyoterapist, Eczacı</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tibbi.kayit.goruntule / yaz, onam.al, narkotik.yonet</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serbest</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Tüm meslekler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hasta.kaydet, randevu, finans, stok, personel, kalite, denetim…</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
        <p:nvSpPr>
          <p:cNvPr id="26" name="Text 23"/>
          <p:cNvSpPr txBox="1"/>
          <p:nvPr/>
        </p:nvSpPr>
        <p:spPr>
          <a:xfrm>
            <a:off x="548640" y="5669280"/>
            <a:ext cx="11064240" cy="640080"/>
          </a:xfrm>
          <a:prstGeom prst="rect">
            <a:avLst/>
          </a:prstGeom>
          <a:noFill/>
          <a:ln/>
        </p:spPr>
        <p:txBody>
          <a:bodyPr wrap="square" lIns="0" tIns="0" rIns="0" bIns="0" rtlCol="0" anchor="t"/>
          <a:lstStyle/>
          <a:p>
            <a:pPr indent="0" marL="0">
              <a:buNone/>
            </a:pPr>
            <a:r>
              <a:rPr lang="en-US" sz="1150" dirty="0">
                <a:solidFill>
                  <a:srgbClr val="B4502F"/>
                </a:solidFill>
                <a:latin typeface="Calibri" pitchFamily="34" charset="0"/>
                <a:ea typeface="Calibri" pitchFamily="34" charset="-122"/>
                <a:cs typeface="Calibri" pitchFamily="34" charset="-120"/>
              </a:rPr>
              <a:t>Reddedilen her istek “Yetkisiz erişim denemesi” olarak eksik izinlerle birlikte denetim izine yazılır. Belge askısından kaynaklı retlerde kullanıcıya “Zorunlu belgenizin süresi doldu” mesajı gösterilir.</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4F5C"/>
        </a:solidFill>
      </p:bgPr>
    </p:bg>
    <p:spTree>
      <p:nvGrpSpPr>
        <p:cNvPr id="1" name=""/>
        <p:cNvGrpSpPr/>
        <p:nvPr/>
      </p:nvGrpSpPr>
      <p:grpSpPr>
        <a:xfrm>
          <a:off x="0" y="0"/>
          <a:ext cx="0" cy="0"/>
          <a:chOff x="0" y="0"/>
          <a:chExt cx="0" cy="0"/>
        </a:xfrm>
      </p:grpSpPr>
      <p:sp>
        <p:nvSpPr>
          <p:cNvPr id="2" name="Text 0"/>
          <p:cNvSpPr txBox="1"/>
          <p:nvPr/>
        </p:nvSpPr>
        <p:spPr>
          <a:xfrm>
            <a:off x="731520" y="1188720"/>
            <a:ext cx="2743200" cy="1280160"/>
          </a:xfrm>
          <a:prstGeom prst="rect">
            <a:avLst/>
          </a:prstGeom>
          <a:noFill/>
          <a:ln/>
        </p:spPr>
        <p:txBody>
          <a:bodyPr wrap="square" lIns="0" tIns="0" rIns="0" bIns="0" rtlCol="0" anchor="t"/>
          <a:lstStyle/>
          <a:p>
            <a:pPr indent="0" marL="0">
              <a:buNone/>
            </a:pPr>
            <a:r>
              <a:rPr lang="en-US" sz="8800" b="1" dirty="0">
                <a:solidFill>
                  <a:srgbClr val="D9694A"/>
                </a:solidFill>
                <a:latin typeface="Calibri" pitchFamily="34" charset="0"/>
                <a:ea typeface="Calibri" pitchFamily="34" charset="-122"/>
                <a:cs typeface="Calibri" pitchFamily="34" charset="-120"/>
              </a:rPr>
              <a:t>04</a:t>
            </a:r>
            <a:endParaRPr lang="en-US" sz="8800" dirty="0"/>
          </a:p>
        </p:txBody>
      </p:sp>
      <p:sp>
        <p:nvSpPr>
          <p:cNvPr id="3" name="Text 1"/>
          <p:cNvSpPr txBox="1"/>
          <p:nvPr/>
        </p:nvSpPr>
        <p:spPr>
          <a:xfrm>
            <a:off x="731520" y="2560320"/>
            <a:ext cx="7315200" cy="9144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Günlük operasyon</a:t>
            </a:r>
            <a:endParaRPr lang="en-US" sz="4000" dirty="0"/>
          </a:p>
        </p:txBody>
      </p:sp>
      <p:sp>
        <p:nvSpPr>
          <p:cNvPr id="4" name="Text 2"/>
          <p:cNvSpPr txBox="1"/>
          <p:nvPr/>
        </p:nvSpPr>
        <p:spPr>
          <a:xfrm>
            <a:off x="731520" y="3520440"/>
            <a:ext cx="6766560" cy="1097280"/>
          </a:xfrm>
          <a:prstGeom prst="rect">
            <a:avLst/>
          </a:prstGeom>
          <a:noFill/>
          <a:ln/>
        </p:spPr>
        <p:txBody>
          <a:bodyPr wrap="square" lIns="0" tIns="0" rIns="0" bIns="0" rtlCol="0" anchor="t"/>
          <a:lstStyle/>
          <a:p>
            <a:pPr indent="0" marL="0">
              <a:buNone/>
            </a:pPr>
            <a:r>
              <a:rPr lang="en-US" sz="1600" dirty="0">
                <a:solidFill>
                  <a:srgbClr val="CFE6DF"/>
                </a:solidFill>
                <a:latin typeface="Calibri" pitchFamily="34" charset="0"/>
                <a:ea typeface="Calibri" pitchFamily="34" charset="-122"/>
                <a:cs typeface="Calibri" pitchFamily="34" charset="-120"/>
              </a:rPr>
              <a:t>Kliniğin bir günü: Komuta Merkezi’nden başlayıp hasta kaydı, randevu, kabul, muayene ve tahsilata; gün sonu kasa kapanışına kadar.</a:t>
            </a:r>
            <a:endParaRPr lang="en-US" sz="1600" dirty="0"/>
          </a:p>
        </p:txBody>
      </p:sp>
      <p:sp>
        <p:nvSpPr>
          <p:cNvPr id="5" name="Text 3"/>
          <p:cNvSpPr txBox="1"/>
          <p:nvPr/>
        </p:nvSpPr>
        <p:spPr>
          <a:xfrm>
            <a:off x="8138160" y="1371600"/>
            <a:ext cx="3566160" cy="4389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Komuta Merkezi</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Hasta kaydı ve KVKK</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Hasta kartı</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Randevu ve kabul</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Muayene kaydı</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İmza ve acil erişim</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Hizmet ve fiyat</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Tahsilat, iade, kasa</a:t>
            </a:r>
            <a:endParaRPr lang="en-US" sz="1500" dirty="0"/>
          </a:p>
        </p:txBody>
      </p:sp>
      <p:pic>
        <p:nvPicPr>
          <p:cNvPr id="6" name="Image 0" descr="preencoded.png">    </p:cNvPr>
          <p:cNvPicPr>
            <a:picLocks noChangeAspect="1"/>
          </p:cNvPicPr>
          <p:nvPr/>
        </p:nvPicPr>
        <p:blipFill>
          <a:blip r:embed="rId1">
            <a:alphaModFix amt="80000"/>
          </a:blip>
          <a:stretch>
            <a:fillRect/>
          </a:stretch>
        </p:blipFill>
        <p:spPr>
          <a:xfrm>
            <a:off x="10957255" y="5806440"/>
            <a:ext cx="640080" cy="6400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Komuta Merkezi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Kurumun anlık durumu tek ekranda. Yalnızca toplu sayılar gösterilir; hasta adı veya tıbbi içerik yok.</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26</a:t>
            </a:r>
            <a:endParaRPr lang="en-US" sz="900" dirty="0"/>
          </a:p>
        </p:txBody>
      </p:sp>
      <p:sp>
        <p:nvSpPr>
          <p:cNvPr id="6" name="Shape 4"/>
          <p:cNvSpPr/>
          <p:nvPr/>
        </p:nvSpPr>
        <p:spPr>
          <a:xfrm>
            <a:off x="512064" y="1380744"/>
            <a:ext cx="6473952" cy="4073652"/>
          </a:xfrm>
          <a:prstGeom prst="roundRect">
            <a:avLst>
              <a:gd name="adj" fmla="val 1347"/>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17-komuta-gercek-veri.jpg">    </p:cNvPr>
          <p:cNvPicPr>
            <a:picLocks noChangeAspect="1"/>
          </p:cNvPicPr>
          <p:nvPr/>
        </p:nvPicPr>
        <p:blipFill>
          <a:blip r:embed="rId1"/>
          <a:stretch>
            <a:fillRect/>
          </a:stretch>
        </p:blipFill>
        <p:spPr>
          <a:xfrm>
            <a:off x="548640" y="1417320"/>
            <a:ext cx="6400800" cy="4000500"/>
          </a:xfrm>
          <a:prstGeom prst="rect">
            <a:avLst/>
          </a:prstGeom>
        </p:spPr>
      </p:pic>
      <p:sp>
        <p:nvSpPr>
          <p:cNvPr id="8" name="Text 5"/>
          <p:cNvSpPr txBox="1"/>
          <p:nvPr/>
        </p:nvSpPr>
        <p:spPr>
          <a:xfrm>
            <a:off x="7223760" y="1463040"/>
            <a:ext cx="4389120" cy="484632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0E4F5C"/>
                </a:solidFill>
                <a:latin typeface="Calibri" pitchFamily="34" charset="0"/>
                <a:ea typeface="Calibri" pitchFamily="34" charset="-122"/>
                <a:cs typeface="Calibri" pitchFamily="34" charset="-120"/>
              </a:rPr>
              <a:t>Göstergeler: </a:t>
            </a:r>
            <a:pPr indent="0" marL="0">
              <a:spcAft>
                <a:spcPts val="500"/>
              </a:spcAft>
              <a:buNone/>
            </a:pPr>
            <a:r>
              <a:rPr lang="en-US" sz="1150" dirty="0">
                <a:solidFill>
                  <a:srgbClr val="13232A"/>
                </a:solidFill>
                <a:latin typeface="Calibri" pitchFamily="34" charset="0"/>
                <a:ea typeface="Calibri" pitchFamily="34" charset="-122"/>
                <a:cs typeface="Calibri" pitchFamily="34" charset="-120"/>
              </a:rPr>
              <a:t>bugünkü randevu (geldi / salonda / gelmedi), bugünkü net ciro, tahsil edilmemiş alacak ve kaç hastada, ortalama bekleme (geliş → muayeneye alınma).</a:t>
            </a:r>
            <a:endParaRPr lang="en-US" sz="1150" dirty="0"/>
          </a:p>
          <a:p>
            <a:pPr marL="177800" indent="-177800">
              <a:spcAft>
                <a:spcPts val="500"/>
              </a:spcAft>
              <a:buSzPct val="100000"/>
              <a:buChar char="•"/>
            </a:pPr>
            <a:r>
              <a:rPr lang="en-US" sz="1150" b="1" dirty="0">
                <a:solidFill>
                  <a:srgbClr val="0E4F5C"/>
                </a:solidFill>
                <a:latin typeface="Calibri" pitchFamily="34" charset="0"/>
                <a:ea typeface="Calibri" pitchFamily="34" charset="-122"/>
                <a:cs typeface="Calibri" pitchFamily="34" charset="-120"/>
              </a:rPr>
              <a:t>Son 14 gün net tahsilat grafiği: </a:t>
            </a:r>
            <a:pPr indent="0" marL="0">
              <a:spcAft>
                <a:spcPts val="500"/>
              </a:spcAft>
              <a:buNone/>
            </a:pPr>
            <a:r>
              <a:rPr lang="en-US" sz="1150" dirty="0">
                <a:solidFill>
                  <a:srgbClr val="13232A"/>
                </a:solidFill>
                <a:latin typeface="Calibri" pitchFamily="34" charset="0"/>
                <a:ea typeface="Calibri" pitchFamily="34" charset="-122"/>
                <a:cs typeface="Calibri" pitchFamily="34" charset="-120"/>
              </a:rPr>
              <a:t>bugün mercan renkte; üzerine gelince tutar; “Tablo olarak göster” ile erişilebilir tablo.</a:t>
            </a:r>
            <a:endParaRPr lang="en-US" sz="1150" dirty="0"/>
          </a:p>
          <a:p>
            <a:pPr marL="177800" indent="-177800">
              <a:spcAft>
                <a:spcPts val="500"/>
              </a:spcAft>
              <a:buSzPct val="100000"/>
              <a:buChar char="•"/>
            </a:pPr>
            <a:r>
              <a:rPr lang="en-US" sz="1150" b="1" dirty="0">
                <a:solidFill>
                  <a:srgbClr val="0E4F5C"/>
                </a:solidFill>
                <a:latin typeface="Calibri" pitchFamily="34" charset="0"/>
                <a:ea typeface="Calibri" pitchFamily="34" charset="-122"/>
                <a:cs typeface="Calibri" pitchFamily="34" charset="-120"/>
              </a:rPr>
              <a:t>Kurulum adımları: </a:t>
            </a:r>
            <a:pPr indent="0" marL="0">
              <a:spcAft>
                <a:spcPts val="500"/>
              </a:spcAft>
              <a:buNone/>
            </a:pPr>
            <a:r>
              <a:rPr lang="en-US" sz="1150" dirty="0">
                <a:solidFill>
                  <a:srgbClr val="13232A"/>
                </a:solidFill>
                <a:latin typeface="Calibri" pitchFamily="34" charset="0"/>
                <a:ea typeface="Calibri" pitchFamily="34" charset="-122"/>
                <a:cs typeface="Calibri" pitchFamily="34" charset="-120"/>
              </a:rPr>
              <a:t>mesul müdür ata, ekibi davet et, hizmet/fiyat listesi, ruhsat ve zorunlu belgeler — tamamlandıkça işaretlenir.</a:t>
            </a:r>
            <a:endParaRPr lang="en-US" sz="1150" dirty="0"/>
          </a:p>
          <a:p>
            <a:pPr marL="177800" indent="-177800">
              <a:spcAft>
                <a:spcPts val="500"/>
              </a:spcAft>
              <a:buSzPct val="100000"/>
              <a:buChar char="•"/>
            </a:pPr>
            <a:r>
              <a:rPr lang="en-US" sz="1150" b="1" dirty="0">
                <a:solidFill>
                  <a:srgbClr val="0E4F5C"/>
                </a:solidFill>
                <a:latin typeface="Calibri" pitchFamily="34" charset="0"/>
                <a:ea typeface="Calibri" pitchFamily="34" charset="-122"/>
                <a:cs typeface="Calibri" pitchFamily="34" charset="-120"/>
              </a:rPr>
              <a:t>Yapılacaklar ve alarmlar, Görevlerim </a:t>
            </a:r>
            <a:pPr indent="0" marL="0">
              <a:spcAft>
                <a:spcPts val="500"/>
              </a:spcAft>
              <a:buNone/>
            </a:pPr>
            <a:r>
              <a:rPr lang="en-US" sz="1150" dirty="0">
                <a:solidFill>
                  <a:srgbClr val="13232A"/>
                </a:solidFill>
                <a:latin typeface="Calibri" pitchFamily="34" charset="0"/>
                <a:ea typeface="Calibri" pitchFamily="34" charset="-122"/>
                <a:cs typeface="Calibri" pitchFamily="34" charset="-120"/>
              </a:rPr>
              <a:t>(30 günlük nöbet/vardiya) kartları.</a:t>
            </a:r>
            <a:endParaRPr lang="en-US" sz="1150" dirty="0"/>
          </a:p>
          <a:p>
            <a:pPr marL="177800" indent="-177800">
              <a:spcAft>
                <a:spcPts val="500"/>
              </a:spcAft>
              <a:buSzPct val="100000"/>
              <a:buChar char="•"/>
            </a:pPr>
            <a:r>
              <a:rPr lang="en-US" sz="1150" b="1" dirty="0">
                <a:solidFill>
                  <a:srgbClr val="0E4F5C"/>
                </a:solidFill>
                <a:latin typeface="Calibri" pitchFamily="34" charset="0"/>
                <a:ea typeface="Calibri" pitchFamily="34" charset="-122"/>
                <a:cs typeface="Calibri" pitchFamily="34" charset="-120"/>
              </a:rPr>
              <a:t>Şube seçimine göre </a:t>
            </a:r>
            <a:pPr indent="0" marL="0">
              <a:spcAft>
                <a:spcPts val="500"/>
              </a:spcAft>
              <a:buNone/>
            </a:pPr>
            <a:r>
              <a:rPr lang="en-US" sz="1150" dirty="0">
                <a:solidFill>
                  <a:srgbClr val="13232A"/>
                </a:solidFill>
                <a:latin typeface="Calibri" pitchFamily="34" charset="0"/>
                <a:ea typeface="Calibri" pitchFamily="34" charset="-122"/>
                <a:cs typeface="Calibri" pitchFamily="34" charset="-120"/>
              </a:rPr>
              <a:t>tek şube veya tüm şubeler.</a:t>
            </a:r>
            <a:endParaRPr lang="en-US" sz="1150" dirty="0"/>
          </a:p>
          <a:p>
            <a:pPr marL="177800" indent="-177800">
              <a:spcAft>
                <a:spcPts val="500"/>
              </a:spcAft>
              <a:buSzPct val="100000"/>
              <a:buChar char="•"/>
            </a:pPr>
            <a:r>
              <a:rPr lang="en-US" sz="1150" b="1" dirty="0">
                <a:solidFill>
                  <a:srgbClr val="0E4F5C"/>
                </a:solidFill>
                <a:latin typeface="Calibri" pitchFamily="34" charset="0"/>
                <a:ea typeface="Calibri" pitchFamily="34" charset="-122"/>
                <a:cs typeface="Calibri" pitchFamily="34" charset="-120"/>
              </a:rPr>
              <a:t>Göstergeleri görme yetkisi olmayan </a:t>
            </a:r>
            <a:pPr indent="0" marL="0">
              <a:spcAft>
                <a:spcPts val="500"/>
              </a:spcAft>
              <a:buNone/>
            </a:pPr>
            <a:r>
              <a:rPr lang="en-US" sz="1150" dirty="0">
                <a:solidFill>
                  <a:srgbClr val="13232A"/>
                </a:solidFill>
                <a:latin typeface="Calibri" pitchFamily="34" charset="0"/>
                <a:ea typeface="Calibri" pitchFamily="34" charset="-122"/>
                <a:cs typeface="Calibri" pitchFamily="34" charset="-120"/>
              </a:rPr>
              <a:t>kişi rollerini, alarmlarını ve görevlerini görür.</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Hasta kaydı ve KVKK</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“Hastalar → Yeni hasta”. Hasta kaydı işletme genelinde tektir; hangi şubeye gelirse gelsin aynı kart kullanılır.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12064" y="1380744"/>
            <a:ext cx="5193792" cy="4108911"/>
          </a:xfrm>
          <a:prstGeom prst="roundRect">
            <a:avLst>
              <a:gd name="adj" fmla="val 1335"/>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10-yeni-hasta.jpg">    </p:cNvPr>
          <p:cNvPicPr>
            <a:picLocks noChangeAspect="1"/>
          </p:cNvPicPr>
          <p:nvPr/>
        </p:nvPicPr>
        <p:blipFill>
          <a:blip r:embed="rId1"/>
          <a:stretch>
            <a:fillRect/>
          </a:stretch>
        </p:blipFill>
        <p:spPr>
          <a:xfrm>
            <a:off x="548640" y="1417320"/>
            <a:ext cx="5120640" cy="4035759"/>
          </a:xfrm>
          <a:prstGeom prst="rect">
            <a:avLst/>
          </a:prstGeom>
        </p:spPr>
      </p:pic>
      <p:sp>
        <p:nvSpPr>
          <p:cNvPr id="8" name="Text 5"/>
          <p:cNvSpPr txBox="1"/>
          <p:nvPr/>
        </p:nvSpPr>
        <p:spPr>
          <a:xfrm>
            <a:off x="5943600" y="1463040"/>
            <a:ext cx="5669280" cy="4892040"/>
          </a:xfrm>
          <a:prstGeom prst="rect">
            <a:avLst/>
          </a:prstGeom>
          <a:noFill/>
          <a:ln/>
        </p:spPr>
        <p:txBody>
          <a:bodyPr wrap="square" lIns="0" tIns="0" rIns="0" bIns="0" rtlCol="0" anchor="t"/>
          <a:lstStyle/>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Kimlik türleri: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T.C. kimlik no · Yabancı kimlik no (99…) · Pasaport · Kimliksiz / geçici kayıt (acil).</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T.C. kimlik no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resmî algoritmayla doğrulanır; AES-256-GCM ile şifreli saklanır, ekranda maskeli (123******45) görünür. Tekillik şifreli alanda “kör indeks” (HMAC) ile sağlanır.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Mükerrer önleme: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aynı kimlik no → mevcut karta yönlendirme; aynı ad-soyad-doğum tarihi → “benzer kayıt var” uyarısı.</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Kişisel ve iletişim: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ad, soyad, doğum tarihi, cinsiyet, uyruk, kan grubu, telefon, e-posta, adres, tercih edilen kanal (SMS, E-posta, Telefon, WhatsApp), acil durum kişisi, yasal temsilci.</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KVKK aydınlatma zorunlu: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metin sürümü ve sunum kanalı (Yüz yüze, ıslak imzalı form, Tablet üzerinde imza, SMS doğrulama kodu, Hasta portalı / mobil uygulama) kaydedilir; onaylanmadan kayıt oluşmaz.</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Veteriner şubesi: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sahip + hayvan kaydı (Kedi, Köpek, Kuş, Tavşan, Kemirgen, Sürüngen, At, Büyükbaş, Küçükbaş, Diğer), mikroçip tekil.</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Hasta kartı, arama, uyarılar ve açık rıza</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Kartı kimin ne kadar gördüğü role göre değişir; her görüntüleme kayda geçer.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602521" y="1380744"/>
            <a:ext cx="4829998" cy="3822192"/>
          </a:xfrm>
          <a:prstGeom prst="roundRect">
            <a:avLst>
              <a:gd name="adj" fmla="val 1435"/>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11-hasta-karti.jpg">    </p:cNvPr>
          <p:cNvPicPr>
            <a:picLocks noChangeAspect="1"/>
          </p:cNvPicPr>
          <p:nvPr/>
        </p:nvPicPr>
        <p:blipFill>
          <a:blip r:embed="rId1"/>
          <a:stretch>
            <a:fillRect/>
          </a:stretch>
        </p:blipFill>
        <p:spPr>
          <a:xfrm>
            <a:off x="639097" y="1417320"/>
            <a:ext cx="4756846" cy="3749040"/>
          </a:xfrm>
          <a:prstGeom prst="rect">
            <a:avLst/>
          </a:prstGeom>
        </p:spPr>
      </p:pic>
      <p:sp>
        <p:nvSpPr>
          <p:cNvPr id="8" name="Shape 5"/>
          <p:cNvSpPr/>
          <p:nvPr/>
        </p:nvSpPr>
        <p:spPr>
          <a:xfrm>
            <a:off x="1600838" y="5266944"/>
            <a:ext cx="2833364" cy="1078992"/>
          </a:xfrm>
          <a:prstGeom prst="roundRect">
            <a:avLst>
              <a:gd name="adj" fmla="val 5085"/>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9" name="Image 1" descr="/tmp/claude-0/-home-user-DC-Doktor-Klinik/f408c0fa-c72f-514c-9fce-60dc20fb9e57/scratchpad/sunum/img/12-hasta-arama.jpg">    </p:cNvPr>
          <p:cNvPicPr>
            <a:picLocks noChangeAspect="1"/>
          </p:cNvPicPr>
          <p:nvPr/>
        </p:nvPicPr>
        <p:blipFill>
          <a:blip r:embed="rId2"/>
          <a:stretch>
            <a:fillRect/>
          </a:stretch>
        </p:blipFill>
        <p:spPr>
          <a:xfrm>
            <a:off x="1637414" y="5303520"/>
            <a:ext cx="2760212" cy="1005840"/>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60720" y="1417320"/>
          <a:ext cx="3017520" cy="914400"/>
        </p:xfrm>
        <a:graphic>
          <a:graphicData uri="http://schemas.openxmlformats.org/drawingml/2006/table">
            <a:tbl>
              <a:tblPr/>
              <a:tblGrid>
                <a:gridCol w="1920240"/>
                <a:gridCol w="1097280"/>
              </a:tblGrid>
              <a:tr h="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Uyarı</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Kim görür</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Alerji</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Klinik personel</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Kan sulandırıcı kullanıyor</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Klinik personel</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Bulaşıcı hastalık / izolasyon</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Klinik personel</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Düşme riski</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Klinik personel</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İmplant / kalp pili</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Klinik personel</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Gebelik / emzirme</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Klinik personel</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Diğer klinik uyarı</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Klinik personel</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Şiddet / agresyon geçmişi</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Herkes</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Özel ihtiyaç (tekerlekli sandalye, tercüman…)</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Herkes</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Ödeme sorunu</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Kabul / tahsilat</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Diğer idari uyarı</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Kabul / tahsilat</a:t>
                      </a:r>
                      <a:endParaRPr lang="en-US" sz="85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
        <p:nvSpPr>
          <p:cNvPr id="11" name="Text 6"/>
          <p:cNvSpPr txBox="1"/>
          <p:nvPr/>
        </p:nvSpPr>
        <p:spPr>
          <a:xfrm>
            <a:off x="9006840" y="1463040"/>
            <a:ext cx="2606040" cy="4846320"/>
          </a:xfrm>
          <a:prstGeom prst="rect">
            <a:avLst/>
          </a:prstGeom>
          <a:noFill/>
          <a:ln/>
        </p:spPr>
        <p:txBody>
          <a:bodyPr wrap="square" lIns="0" tIns="0" rIns="0" bIns="0" rtlCol="0" anchor="t"/>
          <a:lstStyle/>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Arama: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ad soyad, telefon veya TC ile; Türkçe karakterden bağımsız (“ILKER” → İlker). 0 ile başlayan 11 hane telefon sayılır.</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Açık kimlik no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ayrı düğmeyle, gerekçesiz değil — her gösterim kayıtlı.</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Açık rızalar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(ver / geri çek, tarihli): Kampanya ve tanıtım iletileri; Fotoğrafların tanıtımda kullanımı; Fotoğrafların eğitim ve bilimsel yayında kullanımı; Yakınlara bilgi verilmesi; Görüntülü görüşmenin kaydedilmesi; Yurt dışına aktarım.</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Kart bölümleri: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kişisel/iletişim, uyarılar, KVKK, muayene geçmişi, hesap.</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Randevu, kabul ve bekleme salonu</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“Randevular”: gün seçilir; hekim sütunlarında saat ızgarası, sağda seçili randevu, bekleme salonu ve odalar.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512064" y="1380744"/>
            <a:ext cx="6473952" cy="4073652"/>
          </a:xfrm>
          <a:prstGeom prst="roundRect">
            <a:avLst>
              <a:gd name="adj" fmla="val 1347"/>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13-randevu-takvimi.jpg">    </p:cNvPr>
          <p:cNvPicPr>
            <a:picLocks noChangeAspect="1"/>
          </p:cNvPicPr>
          <p:nvPr/>
        </p:nvPicPr>
        <p:blipFill>
          <a:blip r:embed="rId1"/>
          <a:stretch>
            <a:fillRect/>
          </a:stretch>
        </p:blipFill>
        <p:spPr>
          <a:xfrm>
            <a:off x="548640" y="1417320"/>
            <a:ext cx="6400800" cy="4000500"/>
          </a:xfrm>
          <a:prstGeom prst="rect">
            <a:avLst/>
          </a:prstGeom>
        </p:spPr>
      </p:pic>
      <p:sp>
        <p:nvSpPr>
          <p:cNvPr id="8" name="Text 5"/>
          <p:cNvSpPr txBox="1"/>
          <p:nvPr/>
        </p:nvSpPr>
        <p:spPr>
          <a:xfrm>
            <a:off x="7223760" y="1463040"/>
            <a:ext cx="4389120" cy="4846320"/>
          </a:xfrm>
          <a:prstGeom prst="rect">
            <a:avLst/>
          </a:prstGeom>
          <a:noFill/>
          <a:ln/>
        </p:spPr>
        <p:txBody>
          <a:bodyPr wrap="square" lIns="0" tIns="0" rIns="0" bIns="0" rtlCol="0" anchor="t"/>
          <a:lstStyle/>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Yeni randevu: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hasta arama, hekim (randevu alabilen meslekler: hekim, diş hekimi, veteriner, psikolog, diyetisyen, fizyoterapist), oda/cihaz, saat, süre, tür (İlk muayene, Kontrol, İşlem, Seans, Aşı, Ev ziyareti, Online görüşme).</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Çakışma engeli: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aynı hekime veya aynı oda/cihaza aynı saatte ikinci randevu veritabanı düzeyinde reddedilir (iptal/gelmedi yer tutmaz).</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Kaynaklar: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Muayene odası, Diş ünitesi, Cihaz (lazer, röntgen…), Kafes / bölme, İşlem / ameliyat salonu, Araç (evde sağlık).</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Durum akışı: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Bekleniyor → Salonda (kabul, günlük sıra no) → Muayenede → Tamamlandı; ya da Gelmedi / İptal. Geri dönüş yok.</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Taşıma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yalnız henüz gelinmemiş randevuda. Bekleme süresi Komuta Merkezi’ne akar. Günler Türkiye saatiyle hesaplanır.</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Muayene kaydı</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Randevu “Muayene kaydını aç” ile açılır. Kayıt otomatik taslak olarak kaydedilir.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512064" y="1380744"/>
            <a:ext cx="6382512" cy="4016502"/>
          </a:xfrm>
          <a:prstGeom prst="roundRect">
            <a:avLst>
              <a:gd name="adj" fmla="val 1366"/>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14-muayene-taslak.jpg">    </p:cNvPr>
          <p:cNvPicPr>
            <a:picLocks noChangeAspect="1"/>
          </p:cNvPicPr>
          <p:nvPr/>
        </p:nvPicPr>
        <p:blipFill>
          <a:blip r:embed="rId1"/>
          <a:stretch>
            <a:fillRect/>
          </a:stretch>
        </p:blipFill>
        <p:spPr>
          <a:xfrm>
            <a:off x="548640" y="1417320"/>
            <a:ext cx="6309360" cy="3943350"/>
          </a:xfrm>
          <a:prstGeom prst="rect">
            <a:avLst/>
          </a:prstGeom>
        </p:spPr>
      </p:pic>
      <p:sp>
        <p:nvSpPr>
          <p:cNvPr id="8" name="Text 5"/>
          <p:cNvSpPr txBox="1"/>
          <p:nvPr/>
        </p:nvSpPr>
        <p:spPr>
          <a:xfrm>
            <a:off x="7132320" y="1463040"/>
            <a:ext cx="4480560" cy="4846320"/>
          </a:xfrm>
          <a:prstGeom prst="rect">
            <a:avLst/>
          </a:prstGeom>
          <a:noFill/>
          <a:ln/>
        </p:spPr>
        <p:txBody>
          <a:bodyPr wrap="square" lIns="0" tIns="0" rIns="0" bIns="0" rtlCol="0" anchor="t"/>
          <a:lstStyle/>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Tedavi ilişkisi şartı: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(1) hekimin kendi hastası (365 gün içinde randevusu veya kendi muayenesi), (2) bugün şubede randevusu olan hastada hekim dışı sağlık personeli, (3) gerekçeli acil erişim, (4) denetim yetkisi. Ekranda erişim nedeni yazar.</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Hemşire: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şikâyet ve vital bulgu girer; tanı ve reçete giremez.</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Vitaller: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tansiyon, nabız, ateş, SpO₂, solunum, boy, kilo, ağrı. VKİ otomatik; olağan dışı değer uyarısı (ör. sistolik 90–139 dışı).</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Tanı: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ICD-10 arama (56 sık kod ile başlangıç), ön/kesin tanı, birincil tanı.</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e-Reçete taslağı: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ilaç + kullanım; hastanın alerjisiyle çakışan ilaçta kırmızı uyarı.</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Klinik karar desteği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alerji ve olağan dışı vitalleri toplar. Tanı olmadan imza düğmesi kapalı.</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İmza, kilit, ek not ve acil erişim</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İmzalanan tıbbi kayıt değiştirilemez; düzeltme ek notla yapılır.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12064" y="1380744"/>
            <a:ext cx="6382512" cy="4016502"/>
          </a:xfrm>
          <a:prstGeom prst="roundRect">
            <a:avLst>
              <a:gd name="adj" fmla="val 1366"/>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15-muayene-imzali.jpg">    </p:cNvPr>
          <p:cNvPicPr>
            <a:picLocks noChangeAspect="1"/>
          </p:cNvPicPr>
          <p:nvPr/>
        </p:nvPicPr>
        <p:blipFill>
          <a:blip r:embed="rId1"/>
          <a:stretch>
            <a:fillRect/>
          </a:stretch>
        </p:blipFill>
        <p:spPr>
          <a:xfrm>
            <a:off x="548640" y="1417320"/>
            <a:ext cx="6309360" cy="3943350"/>
          </a:xfrm>
          <a:prstGeom prst="rect">
            <a:avLst/>
          </a:prstGeom>
        </p:spPr>
      </p:pic>
      <p:sp>
        <p:nvSpPr>
          <p:cNvPr id="8" name="Text 5"/>
          <p:cNvSpPr txBox="1"/>
          <p:nvPr/>
        </p:nvSpPr>
        <p:spPr>
          <a:xfrm>
            <a:off x="7132320" y="1463040"/>
            <a:ext cx="4480560" cy="4846320"/>
          </a:xfrm>
          <a:prstGeom prst="rect">
            <a:avLst/>
          </a:prstGeom>
          <a:noFill/>
          <a:ln/>
        </p:spPr>
        <p:txBody>
          <a:bodyPr wrap="square" lIns="0" tIns="0" rIns="0" bIns="0" rtlCol="0" anchor="t"/>
          <a:lstStyle/>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Parolalı imza: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hekim parolasını yeniden girer; yanlış parola reddedilir ve kayda geçer.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İçerik özeti: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imza anında kaydın SHA-256 özeti saklanır (“Özet …”).</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Kilit: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imzalı kayıt veritabanı tetikleyicisiyle kilitlenir; arayüz alanları kapatır.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Ek not: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imzadan sonra yalnızca tarih-saatli ek not eklenebilir.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Acil erişim (break-the-glass):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tedavi ilişkisi yoksa gerekçe seçilir (Acil müdahale, Konsültasyon, Nöbet / hasta devri) + açıklama; 4 saat geçerli. Denetim izinde kırmızı “ACİL ERİŞİM”.</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Hasta kartında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muayene geçmişi; her liste ve kayıt görüntülemesi kayıtlı.</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Hizmet kataloğu, fiyat onayı ve hasta hesabı</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Fiyatlar kuruş hassasiyetinde, KDV dahil tutulur. Fiyat değişikliği dört göz ilkesiyle işler.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12064" y="1380744"/>
            <a:ext cx="3639312" cy="4747713"/>
          </a:xfrm>
          <a:prstGeom prst="roundRect">
            <a:avLst>
              <a:gd name="adj" fmla="val 1508"/>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16-hasta-hesap.jpg">    </p:cNvPr>
          <p:cNvPicPr>
            <a:picLocks noChangeAspect="1"/>
          </p:cNvPicPr>
          <p:nvPr/>
        </p:nvPicPr>
        <p:blipFill>
          <a:blip r:embed="rId1"/>
          <a:stretch>
            <a:fillRect/>
          </a:stretch>
        </p:blipFill>
        <p:spPr>
          <a:xfrm>
            <a:off x="548640" y="1417320"/>
            <a:ext cx="3566160" cy="4674561"/>
          </a:xfrm>
          <a:prstGeom prst="rect">
            <a:avLst/>
          </a:prstGeom>
        </p:spPr>
      </p:pic>
      <p:sp>
        <p:nvSpPr>
          <p:cNvPr id="8" name="Shape 5"/>
          <p:cNvSpPr/>
          <p:nvPr/>
        </p:nvSpPr>
        <p:spPr>
          <a:xfrm>
            <a:off x="4389120" y="1417320"/>
            <a:ext cx="3520440" cy="2331720"/>
          </a:xfrm>
          <a:prstGeom prst="roundRect">
            <a:avLst>
              <a:gd name="adj" fmla="val 3922"/>
            </a:avLst>
          </a:prstGeom>
          <a:solidFill>
            <a:srgbClr val="F1F7F5"/>
          </a:solidFill>
          <a:ln w="9525">
            <a:solidFill>
              <a:srgbClr val="CFE6DF"/>
            </a:solidFill>
            <a:prstDash val="solid"/>
          </a:ln>
        </p:spPr>
      </p:sp>
      <p:sp>
        <p:nvSpPr>
          <p:cNvPr id="9" name="Text 6"/>
          <p:cNvSpPr txBox="1"/>
          <p:nvPr/>
        </p:nvSpPr>
        <p:spPr>
          <a:xfrm>
            <a:off x="4553712" y="1545336"/>
            <a:ext cx="319125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Hizmet ve fiyat</a:t>
            </a:r>
            <a:endParaRPr lang="en-US" sz="1400" dirty="0"/>
          </a:p>
        </p:txBody>
      </p:sp>
      <p:sp>
        <p:nvSpPr>
          <p:cNvPr id="10" name="Text 7"/>
          <p:cNvSpPr txBox="1"/>
          <p:nvPr/>
        </p:nvSpPr>
        <p:spPr>
          <a:xfrm>
            <a:off x="4553712" y="1920240"/>
            <a:ext cx="3191256" cy="1737360"/>
          </a:xfrm>
          <a:prstGeom prst="rect">
            <a:avLst/>
          </a:prstGeom>
          <a:noFill/>
          <a:ln/>
        </p:spPr>
        <p:txBody>
          <a:bodyPr wrap="square" lIns="0" tIns="0" rIns="0" bIns="0" rtlCol="0" anchor="t"/>
          <a:lstStyle/>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Alanlar: </a:t>
            </a:r>
            <a:pPr indent="0" marL="0">
              <a:spcAft>
                <a:spcPts val="300"/>
              </a:spcAft>
              <a:buNone/>
            </a:pPr>
            <a:r>
              <a:rPr lang="en-US" sz="1050" dirty="0">
                <a:solidFill>
                  <a:srgbClr val="13232A"/>
                </a:solidFill>
                <a:latin typeface="Calibri" pitchFamily="34" charset="0"/>
                <a:ea typeface="Calibri" pitchFamily="34" charset="-122"/>
                <a:cs typeface="Calibri" pitchFamily="34" charset="-120"/>
              </a:rPr>
              <a:t>kod, ad, kategori (Muayene, İşlem / girişim, Tetkik, Seans / paket, Malzeme / ilaç, Diğer), KDV (%0, %1, %10, %20), fiyat.</a:t>
            </a:r>
            <a:endParaRPr lang="en-US" sz="1050" dirty="0"/>
          </a:p>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Kurum sahibi </a:t>
            </a:r>
            <a:pPr indent="0" marL="0">
              <a:spcAft>
                <a:spcPts val="300"/>
              </a:spcAft>
              <a:buNone/>
            </a:pPr>
            <a:r>
              <a:rPr lang="en-US" sz="1050" dirty="0">
                <a:solidFill>
                  <a:srgbClr val="13232A"/>
                </a:solidFill>
                <a:latin typeface="Calibri" pitchFamily="34" charset="0"/>
                <a:ea typeface="Calibri" pitchFamily="34" charset="-122"/>
                <a:cs typeface="Calibri" pitchFamily="34" charset="-120"/>
              </a:rPr>
              <a:t>fiyatı doğrudan yayınlar; genel müdürünki onaya düşer.</a:t>
            </a:r>
            <a:endParaRPr lang="en-US" sz="1050" dirty="0"/>
          </a:p>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Talep eden onaylayamaz.</a:t>
            </a:r>
            <a:pPr indent="0" marL="0">
              <a:spcAft>
                <a:spcPts val="300"/>
              </a:spcAft>
              <a:buNone/>
            </a:pPr>
            <a:endParaRPr lang="en-US" sz="1050" dirty="0"/>
          </a:p>
        </p:txBody>
      </p:sp>
      <p:sp>
        <p:nvSpPr>
          <p:cNvPr id="11" name="Shape 8"/>
          <p:cNvSpPr/>
          <p:nvPr/>
        </p:nvSpPr>
        <p:spPr>
          <a:xfrm>
            <a:off x="8092440" y="1417320"/>
            <a:ext cx="3520440" cy="2331720"/>
          </a:xfrm>
          <a:prstGeom prst="roundRect">
            <a:avLst>
              <a:gd name="adj" fmla="val 3922"/>
            </a:avLst>
          </a:prstGeom>
          <a:solidFill>
            <a:srgbClr val="F1F7F5"/>
          </a:solidFill>
          <a:ln w="9525">
            <a:solidFill>
              <a:srgbClr val="CFE6DF"/>
            </a:solidFill>
            <a:prstDash val="solid"/>
          </a:ln>
        </p:spPr>
      </p:sp>
      <p:sp>
        <p:nvSpPr>
          <p:cNvPr id="12" name="Text 9"/>
          <p:cNvSpPr txBox="1"/>
          <p:nvPr/>
        </p:nvSpPr>
        <p:spPr>
          <a:xfrm>
            <a:off x="8257032" y="1545336"/>
            <a:ext cx="319125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Hasta hesabı</a:t>
            </a:r>
            <a:endParaRPr lang="en-US" sz="1400" dirty="0"/>
          </a:p>
        </p:txBody>
      </p:sp>
      <p:sp>
        <p:nvSpPr>
          <p:cNvPr id="13" name="Text 10"/>
          <p:cNvSpPr txBox="1"/>
          <p:nvPr/>
        </p:nvSpPr>
        <p:spPr>
          <a:xfrm>
            <a:off x="8257032" y="1920240"/>
            <a:ext cx="3191256" cy="1737360"/>
          </a:xfrm>
          <a:prstGeom prst="rect">
            <a:avLst/>
          </a:prstGeom>
          <a:noFill/>
          <a:ln/>
        </p:spPr>
        <p:txBody>
          <a:bodyPr wrap="square" lIns="0" tIns="0" rIns="0" bIns="0" rtlCol="0" anchor="t"/>
          <a:lstStyle/>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Kalem: </a:t>
            </a:r>
            <a:pPr indent="0" marL="0">
              <a:spcAft>
                <a:spcPts val="300"/>
              </a:spcAft>
              <a:buNone/>
            </a:pPr>
            <a:r>
              <a:rPr lang="en-US" sz="1050" dirty="0">
                <a:solidFill>
                  <a:srgbClr val="13232A"/>
                </a:solidFill>
                <a:latin typeface="Calibri" pitchFamily="34" charset="0"/>
                <a:ea typeface="Calibri" pitchFamily="34" charset="-122"/>
                <a:cs typeface="Calibri" pitchFamily="34" charset="-120"/>
              </a:rPr>
              <a:t>hizmet, adet, indirim %; net tutar düğmede görünür.</a:t>
            </a:r>
            <a:endParaRPr lang="en-US" sz="1050" dirty="0"/>
          </a:p>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%20 üstü indirim </a:t>
            </a:r>
            <a:pPr indent="0" marL="0">
              <a:spcAft>
                <a:spcPts val="300"/>
              </a:spcAft>
              <a:buNone/>
            </a:pPr>
            <a:r>
              <a:rPr lang="en-US" sz="1050" dirty="0">
                <a:solidFill>
                  <a:srgbClr val="13232A"/>
                </a:solidFill>
                <a:latin typeface="Calibri" pitchFamily="34" charset="0"/>
                <a:ea typeface="Calibri" pitchFamily="34" charset="-122"/>
                <a:cs typeface="Calibri" pitchFamily="34" charset="-120"/>
              </a:rPr>
              <a:t>yalnız iade/iptal onay yetkisiyle; gerekçe zorunlu.</a:t>
            </a:r>
            <a:endParaRPr lang="en-US" sz="1050" dirty="0"/>
          </a:p>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Kalem iptali </a:t>
            </a:r>
            <a:pPr indent="0" marL="0">
              <a:spcAft>
                <a:spcPts val="300"/>
              </a:spcAft>
              <a:buNone/>
            </a:pPr>
            <a:r>
              <a:rPr lang="en-US" sz="1050" dirty="0">
                <a:solidFill>
                  <a:srgbClr val="13232A"/>
                </a:solidFill>
                <a:latin typeface="Calibri" pitchFamily="34" charset="0"/>
                <a:ea typeface="Calibri" pitchFamily="34" charset="-122"/>
                <a:cs typeface="Calibri" pitchFamily="34" charset="-120"/>
              </a:rPr>
              <a:t>yöneticide, gerekçeli; satır silinmez.</a:t>
            </a:r>
            <a:endParaRPr lang="en-US" sz="1050" dirty="0"/>
          </a:p>
        </p:txBody>
      </p:sp>
      <p:sp>
        <p:nvSpPr>
          <p:cNvPr id="14" name="Shape 11"/>
          <p:cNvSpPr/>
          <p:nvPr/>
        </p:nvSpPr>
        <p:spPr>
          <a:xfrm>
            <a:off x="4389120" y="3931920"/>
            <a:ext cx="7223760" cy="2377440"/>
          </a:xfrm>
          <a:prstGeom prst="roundRect">
            <a:avLst>
              <a:gd name="adj" fmla="val 3846"/>
            </a:avLst>
          </a:prstGeom>
          <a:solidFill>
            <a:srgbClr val="F1F7F5"/>
          </a:solidFill>
          <a:ln w="9525">
            <a:solidFill>
              <a:srgbClr val="CFE6DF"/>
            </a:solidFill>
            <a:prstDash val="solid"/>
          </a:ln>
        </p:spPr>
      </p:sp>
      <p:sp>
        <p:nvSpPr>
          <p:cNvPr id="15" name="Text 12"/>
          <p:cNvSpPr txBox="1"/>
          <p:nvPr/>
        </p:nvSpPr>
        <p:spPr>
          <a:xfrm>
            <a:off x="4553712" y="4059936"/>
            <a:ext cx="689457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Hesap özeti ve tahsilat formu</a:t>
            </a:r>
            <a:endParaRPr lang="en-US" sz="1400" dirty="0"/>
          </a:p>
        </p:txBody>
      </p:sp>
      <p:sp>
        <p:nvSpPr>
          <p:cNvPr id="16" name="Text 13"/>
          <p:cNvSpPr txBox="1"/>
          <p:nvPr/>
        </p:nvSpPr>
        <p:spPr>
          <a:xfrm>
            <a:off x="4553712" y="4434840"/>
            <a:ext cx="6894576" cy="1783080"/>
          </a:xfrm>
          <a:prstGeom prst="rect">
            <a:avLst/>
          </a:prstGeom>
          <a:noFill/>
          <a:ln/>
        </p:spPr>
        <p:txBody>
          <a:bodyPr wrap="square" lIns="0" tIns="0" rIns="0" bIns="0" rtlCol="0" anchor="t"/>
          <a:lstStyle/>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Özet: </a:t>
            </a:r>
            <a:pPr indent="0" marL="0">
              <a:spcAft>
                <a:spcPts val="300"/>
              </a:spcAft>
              <a:buNone/>
            </a:pPr>
            <a:r>
              <a:rPr lang="en-US" sz="1050" dirty="0">
                <a:solidFill>
                  <a:srgbClr val="13232A"/>
                </a:solidFill>
                <a:latin typeface="Calibri" pitchFamily="34" charset="0"/>
                <a:ea typeface="Calibri" pitchFamily="34" charset="-122"/>
                <a:cs typeface="Calibri" pitchFamily="34" charset="-120"/>
              </a:rPr>
              <a:t>hizmet toplamı, ödenen, bakiye (fazla ödeme “avans” olarak görünür).</a:t>
            </a:r>
            <a:endParaRPr lang="en-US" sz="1050" dirty="0"/>
          </a:p>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Tahsilat formu </a:t>
            </a:r>
            <a:pPr indent="0" marL="0">
              <a:spcAft>
                <a:spcPts val="300"/>
              </a:spcAft>
              <a:buNone/>
            </a:pPr>
            <a:r>
              <a:rPr lang="en-US" sz="1050" dirty="0">
                <a:solidFill>
                  <a:srgbClr val="13232A"/>
                </a:solidFill>
                <a:latin typeface="Calibri" pitchFamily="34" charset="0"/>
                <a:ea typeface="Calibri" pitchFamily="34" charset="-122"/>
                <a:cs typeface="Calibri" pitchFamily="34" charset="-120"/>
              </a:rPr>
              <a:t>kalan bakiyeyle otomatik dolar; ödeme türü: Nakit, Kredi / banka kartı, Havale / EFT, Diğer; açıklama.</a:t>
            </a:r>
            <a:endParaRPr lang="en-US" sz="1050" dirty="0"/>
          </a:p>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Ödemeler listesi: </a:t>
            </a:r>
            <a:pPr indent="0" marL="0">
              <a:spcAft>
                <a:spcPts val="300"/>
              </a:spcAft>
              <a:buNone/>
            </a:pPr>
            <a:r>
              <a:rPr lang="en-US" sz="1050" dirty="0">
                <a:solidFill>
                  <a:srgbClr val="13232A"/>
                </a:solidFill>
                <a:latin typeface="Calibri" pitchFamily="34" charset="0"/>
                <a:ea typeface="Calibri" pitchFamily="34" charset="-122"/>
                <a:cs typeface="Calibri" pitchFamily="34" charset="-120"/>
              </a:rPr>
              <a:t>tarih-saat, alan kişi; iade satırları eksi tutarla.</a:t>
            </a:r>
            <a:endParaRPr lang="en-US" sz="1050" dirty="0"/>
          </a:p>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Tahsilatı alan kişiye iade düğmesi gösterilmez </a:t>
            </a:r>
            <a:pPr indent="0" marL="0">
              <a:spcAft>
                <a:spcPts val="300"/>
              </a:spcAft>
              <a:buNone/>
            </a:pPr>
            <a:r>
              <a:rPr lang="en-US" sz="1050" dirty="0">
                <a:solidFill>
                  <a:srgbClr val="13232A"/>
                </a:solidFill>
                <a:latin typeface="Calibri" pitchFamily="34" charset="0"/>
                <a:ea typeface="Calibri" pitchFamily="34" charset="-122"/>
                <a:cs typeface="Calibri" pitchFamily="34" charset="-120"/>
              </a:rPr>
              <a:t>(görevler ayrılığı).</a:t>
            </a:r>
            <a:endParaRPr lang="en-US" sz="1050" dirty="0"/>
          </a:p>
          <a:p>
            <a:pPr marL="177800" indent="-177800">
              <a:spcAft>
                <a:spcPts val="300"/>
              </a:spcAft>
              <a:buSzPct val="100000"/>
              <a:buChar char="•"/>
            </a:pPr>
            <a:r>
              <a:rPr lang="en-US" sz="1050" b="1" dirty="0">
                <a:solidFill>
                  <a:srgbClr val="0E4F5C"/>
                </a:solidFill>
                <a:latin typeface="Calibri" pitchFamily="34" charset="0"/>
                <a:ea typeface="Calibri" pitchFamily="34" charset="-122"/>
                <a:cs typeface="Calibri" pitchFamily="34" charset="-120"/>
              </a:rPr>
              <a:t>e-Arşiv / e-Fatura </a:t>
            </a:r>
            <a:pPr indent="0" marL="0">
              <a:spcAft>
                <a:spcPts val="300"/>
              </a:spcAft>
              <a:buNone/>
            </a:pPr>
            <a:r>
              <a:rPr lang="en-US" sz="1050" dirty="0">
                <a:solidFill>
                  <a:srgbClr val="13232A"/>
                </a:solidFill>
                <a:latin typeface="Calibri" pitchFamily="34" charset="0"/>
                <a:ea typeface="Calibri" pitchFamily="34" charset="-122"/>
                <a:cs typeface="Calibri" pitchFamily="34" charset="-120"/>
              </a:rPr>
              <a:t>özel entegratör bağlantısıyla eklenecek (K12).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Tahsilat, iade ve gün sonu kasa</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“Finans” ekranı: gün seçilir; kasa şube bazında tutulur.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512064" y="1380744"/>
            <a:ext cx="6473952" cy="4073652"/>
          </a:xfrm>
          <a:prstGeom prst="roundRect">
            <a:avLst>
              <a:gd name="adj" fmla="val 1347"/>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18-kasa-kapandi.jpg">    </p:cNvPr>
          <p:cNvPicPr>
            <a:picLocks noChangeAspect="1"/>
          </p:cNvPicPr>
          <p:nvPr/>
        </p:nvPicPr>
        <p:blipFill>
          <a:blip r:embed="rId1"/>
          <a:stretch>
            <a:fillRect/>
          </a:stretch>
        </p:blipFill>
        <p:spPr>
          <a:xfrm>
            <a:off x="548640" y="1417320"/>
            <a:ext cx="6400800" cy="4000500"/>
          </a:xfrm>
          <a:prstGeom prst="rect">
            <a:avLst/>
          </a:prstGeom>
        </p:spPr>
      </p:pic>
      <p:sp>
        <p:nvSpPr>
          <p:cNvPr id="8" name="Text 5"/>
          <p:cNvSpPr txBox="1"/>
          <p:nvPr/>
        </p:nvSpPr>
        <p:spPr>
          <a:xfrm>
            <a:off x="7223760" y="1463040"/>
            <a:ext cx="4389120" cy="4846320"/>
          </a:xfrm>
          <a:prstGeom prst="rect">
            <a:avLst/>
          </a:prstGeom>
          <a:noFill/>
          <a:ln/>
        </p:spPr>
        <p:txBody>
          <a:bodyPr wrap="square" lIns="0" tIns="0" rIns="0" bIns="0" rtlCol="0" anchor="t"/>
          <a:lstStyle/>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Kasa tablosu: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ödeme türüne göre tahsilat, iade, net; genel toplam.</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Hareketler: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saat, hasta (karta bağlantı), ödeme türü, alan kişi, tutar, açıklama.</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İade: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yetkili yönetici, tahsilatı alan değilse; tutar + neden; toplam iade tahsilatı aşamaz. İade ters (eksi) kayıttır.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Kasa kapanışı: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kasada olması gereken nakit hesaplanır; sayılan nakit girilir. Fark varsa açıklama zorunlu. Farklı kapanış denetim izinde ayrıca işaretlenir.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Kapanan güne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yeni tahsilat veya iade girilemez.</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Hizmetler bölümü: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hizmet ekle, fiyatı değiştir, onay bekleyen fiyatları onayla/reddet.</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4F5C"/>
        </a:solidFill>
      </p:bgPr>
    </p:bg>
    <p:spTree>
      <p:nvGrpSpPr>
        <p:cNvPr id="1" name=""/>
        <p:cNvGrpSpPr/>
        <p:nvPr/>
      </p:nvGrpSpPr>
      <p:grpSpPr>
        <a:xfrm>
          <a:off x="0" y="0"/>
          <a:ext cx="0" cy="0"/>
          <a:chOff x="0" y="0"/>
          <a:chExt cx="0" cy="0"/>
        </a:xfrm>
      </p:grpSpPr>
      <p:sp>
        <p:nvSpPr>
          <p:cNvPr id="2" name="Text 0"/>
          <p:cNvSpPr txBox="1"/>
          <p:nvPr/>
        </p:nvSpPr>
        <p:spPr>
          <a:xfrm>
            <a:off x="731520" y="1188720"/>
            <a:ext cx="2743200" cy="1280160"/>
          </a:xfrm>
          <a:prstGeom prst="rect">
            <a:avLst/>
          </a:prstGeom>
          <a:noFill/>
          <a:ln/>
        </p:spPr>
        <p:txBody>
          <a:bodyPr wrap="square" lIns="0" tIns="0" rIns="0" bIns="0" rtlCol="0" anchor="t"/>
          <a:lstStyle/>
          <a:p>
            <a:pPr indent="0" marL="0">
              <a:buNone/>
            </a:pPr>
            <a:r>
              <a:rPr lang="en-US" sz="8800" b="1" dirty="0">
                <a:solidFill>
                  <a:srgbClr val="D9694A"/>
                </a:solidFill>
                <a:latin typeface="Calibri" pitchFamily="34" charset="0"/>
                <a:ea typeface="Calibri" pitchFamily="34" charset="-122"/>
                <a:cs typeface="Calibri" pitchFamily="34" charset="-120"/>
              </a:rPr>
              <a:t>05</a:t>
            </a:r>
            <a:endParaRPr lang="en-US" sz="8800" dirty="0"/>
          </a:p>
        </p:txBody>
      </p:sp>
      <p:sp>
        <p:nvSpPr>
          <p:cNvPr id="3" name="Text 1"/>
          <p:cNvSpPr txBox="1"/>
          <p:nvPr/>
        </p:nvSpPr>
        <p:spPr>
          <a:xfrm>
            <a:off x="731520" y="2560320"/>
            <a:ext cx="7315200" cy="9144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Kurum yönetimi</a:t>
            </a:r>
            <a:endParaRPr lang="en-US" sz="4000" dirty="0"/>
          </a:p>
        </p:txBody>
      </p:sp>
      <p:sp>
        <p:nvSpPr>
          <p:cNvPr id="4" name="Text 2"/>
          <p:cNvSpPr txBox="1"/>
          <p:nvPr/>
        </p:nvSpPr>
        <p:spPr>
          <a:xfrm>
            <a:off x="731520" y="3520440"/>
            <a:ext cx="6766560" cy="1097280"/>
          </a:xfrm>
          <a:prstGeom prst="rect">
            <a:avLst/>
          </a:prstGeom>
          <a:noFill/>
          <a:ln/>
        </p:spPr>
        <p:txBody>
          <a:bodyPr wrap="square" lIns="0" tIns="0" rIns="0" bIns="0" rtlCol="0" anchor="t"/>
          <a:lstStyle/>
          <a:p>
            <a:pPr indent="0" marL="0">
              <a:buNone/>
            </a:pPr>
            <a:r>
              <a:rPr lang="en-US" sz="1600" dirty="0">
                <a:solidFill>
                  <a:srgbClr val="CFE6DF"/>
                </a:solidFill>
                <a:latin typeface="Calibri" pitchFamily="34" charset="0"/>
                <a:ea typeface="Calibri" pitchFamily="34" charset="-122"/>
                <a:cs typeface="Calibri" pitchFamily="34" charset="-120"/>
              </a:rPr>
              <a:t>Personelin belgeleri, nöbet düzeni, ilaç ve malzeme stoku ile kalite süreçleri — hepsi ortak alarm motoruna bağlı.</a:t>
            </a:r>
            <a:endParaRPr lang="en-US" sz="1600" dirty="0"/>
          </a:p>
        </p:txBody>
      </p:sp>
      <p:sp>
        <p:nvSpPr>
          <p:cNvPr id="5" name="Text 3"/>
          <p:cNvSpPr txBox="1"/>
          <p:nvPr/>
        </p:nvSpPr>
        <p:spPr>
          <a:xfrm>
            <a:off x="8138160" y="1371600"/>
            <a:ext cx="3566160" cy="4389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Personel listesi ve kartı</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Belge süreleri ve askıya alma</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Ruhsat ve kurum belgeleri</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Nöbet çizelgesi</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Onay ve izinler</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Stok ve ilaç</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Narkotik ve lot izleme</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Olay bildirimi</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Şikâyet ve DÖF</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Alarm motoru</a:t>
            </a:r>
            <a:endParaRPr lang="en-US" sz="1500" dirty="0"/>
          </a:p>
        </p:txBody>
      </p:sp>
      <p:pic>
        <p:nvPicPr>
          <p:cNvPr id="6" name="Image 0" descr="preencoded.png">    </p:cNvPr>
          <p:cNvPicPr>
            <a:picLocks noChangeAspect="1"/>
          </p:cNvPicPr>
          <p:nvPr/>
        </p:nvPicPr>
        <p:blipFill>
          <a:blip r:embed="rId1">
            <a:alphaModFix amt="80000"/>
          </a:blip>
          <a:stretch>
            <a:fillRect/>
          </a:stretch>
        </p:blipFill>
        <p:spPr>
          <a:xfrm>
            <a:off x="10957255" y="5806440"/>
            <a:ext cx="640080" cy="6400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Personel listesi ve personel kartı</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“Personel ve Belgeler”. Personel yetkisi olmayan kişi doğrudan kendi kartına (“Belgelerim”) gider.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12064" y="1380744"/>
            <a:ext cx="6473952" cy="4073652"/>
          </a:xfrm>
          <a:prstGeom prst="roundRect">
            <a:avLst>
              <a:gd name="adj" fmla="val 1347"/>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19-personel-karti-askida.jpg">    </p:cNvPr>
          <p:cNvPicPr>
            <a:picLocks noChangeAspect="1"/>
          </p:cNvPicPr>
          <p:nvPr/>
        </p:nvPicPr>
        <p:blipFill>
          <a:blip r:embed="rId1"/>
          <a:stretch>
            <a:fillRect/>
          </a:stretch>
        </p:blipFill>
        <p:spPr>
          <a:xfrm>
            <a:off x="548640" y="1417320"/>
            <a:ext cx="6400800" cy="4000500"/>
          </a:xfrm>
          <a:prstGeom prst="rect">
            <a:avLst/>
          </a:prstGeom>
        </p:spPr>
      </p:pic>
      <p:sp>
        <p:nvSpPr>
          <p:cNvPr id="8" name="Text 5"/>
          <p:cNvSpPr txBox="1"/>
          <p:nvPr/>
        </p:nvSpPr>
        <p:spPr>
          <a:xfrm>
            <a:off x="7223760" y="1463040"/>
            <a:ext cx="4389120" cy="4846320"/>
          </a:xfrm>
          <a:prstGeom prst="rect">
            <a:avLst/>
          </a:prstGeom>
          <a:noFill/>
          <a:ln/>
        </p:spPr>
        <p:txBody>
          <a:bodyPr wrap="square" lIns="0" tIns="0" rIns="0" bIns="0" rtlCol="0" anchor="t"/>
          <a:lstStyle/>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Liste: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ad, meslek/unvan, roller ve belge durumu rozetleri (dolmuş, kritik, yakın, uyarı, eksik, işlem askıda); “Yalnızca dikkat gerekenler” süzgeci; üstte toplam özet.</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Kart: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eksik zorunlu belgeler (tıklayınca form o türle dolar), güncel belgeler tablosu, geçmiş ve kaldırılanlar.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Özlük: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unvan/branş, çalışma şekli (Tam zamanlı, Kısmi süreli, Serbest / sözleşmeli, Stajyer, Alt işveren (taşeron)), işe giriş, cep telefonu.</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İzinler bölümü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(bkz. nöbet).</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Başkasının kartını açmak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kayda geçer (“Personel kartı görüntülendi”).</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Belge ekleme, dosya güvenliği ve kaldırma</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Belge formu: tür, belge/poliçe no, veren kurum, başlangıç, bitiş, not ve dosya.</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48640" y="1417320"/>
            <a:ext cx="3657600" cy="2377440"/>
          </a:xfrm>
          <a:prstGeom prst="roundRect">
            <a:avLst>
              <a:gd name="adj" fmla="val 3846"/>
            </a:avLst>
          </a:prstGeom>
          <a:solidFill>
            <a:srgbClr val="F1F7F5"/>
          </a:solidFill>
          <a:ln w="9525">
            <a:solidFill>
              <a:srgbClr val="CFE6DF"/>
            </a:solidFill>
            <a:prstDash val="solid"/>
          </a:ln>
        </p:spPr>
      </p:sp>
      <p:sp>
        <p:nvSpPr>
          <p:cNvPr id="7" name="Text 5"/>
          <p:cNvSpPr txBox="1"/>
          <p:nvPr/>
        </p:nvSpPr>
        <p:spPr>
          <a:xfrm>
            <a:off x="713232" y="1545336"/>
            <a:ext cx="332841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Kim ekler?</a:t>
            </a:r>
            <a:endParaRPr lang="en-US" sz="1400" dirty="0"/>
          </a:p>
        </p:txBody>
      </p:sp>
      <p:sp>
        <p:nvSpPr>
          <p:cNvPr id="8" name="Text 6"/>
          <p:cNvSpPr txBox="1"/>
          <p:nvPr/>
        </p:nvSpPr>
        <p:spPr>
          <a:xfrm>
            <a:off x="713232" y="1920240"/>
            <a:ext cx="3328416" cy="178308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Personel belgesi: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personel yönetimi (sahip, genel müdür, mesul müdür, İK).</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Kurum belgesi: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kurum belgesi yöneticisi (sahip, genel müdür, mesul müdür).</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Kişi kendi belgesini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ekleyebilir; “kişinin kendisi ekledi” diye işaretlenir (K15).</a:t>
            </a:r>
            <a:endParaRPr lang="en-US" sz="1100" dirty="0"/>
          </a:p>
        </p:txBody>
      </p:sp>
      <p:sp>
        <p:nvSpPr>
          <p:cNvPr id="9" name="Shape 7"/>
          <p:cNvSpPr/>
          <p:nvPr/>
        </p:nvSpPr>
        <p:spPr>
          <a:xfrm>
            <a:off x="4343400" y="1417320"/>
            <a:ext cx="3657600" cy="2377440"/>
          </a:xfrm>
          <a:prstGeom prst="roundRect">
            <a:avLst>
              <a:gd name="adj" fmla="val 3846"/>
            </a:avLst>
          </a:prstGeom>
          <a:solidFill>
            <a:srgbClr val="F1F7F5"/>
          </a:solidFill>
          <a:ln w="9525">
            <a:solidFill>
              <a:srgbClr val="CFE6DF"/>
            </a:solidFill>
            <a:prstDash val="solid"/>
          </a:ln>
        </p:spPr>
      </p:sp>
      <p:sp>
        <p:nvSpPr>
          <p:cNvPr id="10" name="Text 8"/>
          <p:cNvSpPr txBox="1"/>
          <p:nvPr/>
        </p:nvSpPr>
        <p:spPr>
          <a:xfrm>
            <a:off x="4507992" y="1545336"/>
            <a:ext cx="332841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Dosya kuralları</a:t>
            </a:r>
            <a:endParaRPr lang="en-US" sz="1400" dirty="0"/>
          </a:p>
        </p:txBody>
      </p:sp>
      <p:sp>
        <p:nvSpPr>
          <p:cNvPr id="11" name="Text 9"/>
          <p:cNvSpPr txBox="1"/>
          <p:nvPr/>
        </p:nvSpPr>
        <p:spPr>
          <a:xfrm>
            <a:off x="4507992" y="1920240"/>
            <a:ext cx="3328416" cy="178308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PDF, JPEG, PNG;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en çok 10 MB.</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Tür dosyanın imzasından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(ilk baytlar) belirlenir; uzantıya/beyana güvenilmez.</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AES-256-GCM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ile şifreli saklanır; SHA-256 özeti tutulur, indirmede doğrulanır.</a:t>
            </a:r>
            <a:endParaRPr lang="en-US" sz="1100" dirty="0"/>
          </a:p>
        </p:txBody>
      </p:sp>
      <p:sp>
        <p:nvSpPr>
          <p:cNvPr id="12" name="Shape 10"/>
          <p:cNvSpPr/>
          <p:nvPr/>
        </p:nvSpPr>
        <p:spPr>
          <a:xfrm>
            <a:off x="8138160" y="1417320"/>
            <a:ext cx="3474720" cy="2377440"/>
          </a:xfrm>
          <a:prstGeom prst="roundRect">
            <a:avLst>
              <a:gd name="adj" fmla="val 3846"/>
            </a:avLst>
          </a:prstGeom>
          <a:solidFill>
            <a:srgbClr val="F1F7F5"/>
          </a:solidFill>
          <a:ln w="9525">
            <a:solidFill>
              <a:srgbClr val="CFE6DF"/>
            </a:solidFill>
            <a:prstDash val="solid"/>
          </a:ln>
        </p:spPr>
      </p:sp>
      <p:sp>
        <p:nvSpPr>
          <p:cNvPr id="13" name="Text 11"/>
          <p:cNvSpPr txBox="1"/>
          <p:nvPr/>
        </p:nvSpPr>
        <p:spPr>
          <a:xfrm>
            <a:off x="8302752" y="1545336"/>
            <a:ext cx="314553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Kaldırma ve geçmiş</a:t>
            </a:r>
            <a:endParaRPr lang="en-US" sz="1400" dirty="0"/>
          </a:p>
        </p:txBody>
      </p:sp>
      <p:sp>
        <p:nvSpPr>
          <p:cNvPr id="14" name="Text 12"/>
          <p:cNvSpPr txBox="1"/>
          <p:nvPr/>
        </p:nvSpPr>
        <p:spPr>
          <a:xfrm>
            <a:off x="8302752" y="1920240"/>
            <a:ext cx="3145536" cy="178308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Belge silinmez: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gerekçeyle kaldırılır.</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İçerik değiştirilemez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(veritabanı tetikleyicisi).</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Yenilenen belge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yeni satırdır; en geç bitişli olan geçerlidir.</a:t>
            </a:r>
            <a:endParaRPr lang="en-US" sz="1100" dirty="0"/>
          </a:p>
        </p:txBody>
      </p:sp>
      <p:sp>
        <p:nvSpPr>
          <p:cNvPr id="15" name="Shape 13"/>
          <p:cNvSpPr/>
          <p:nvPr/>
        </p:nvSpPr>
        <p:spPr>
          <a:xfrm>
            <a:off x="548640" y="3977640"/>
            <a:ext cx="11064240" cy="2286000"/>
          </a:xfrm>
          <a:prstGeom prst="roundRect">
            <a:avLst>
              <a:gd name="adj" fmla="val 4000"/>
            </a:avLst>
          </a:prstGeom>
          <a:solidFill>
            <a:srgbClr val="F1F7F5"/>
          </a:solidFill>
          <a:ln w="9525">
            <a:solidFill>
              <a:srgbClr val="CFE6DF"/>
            </a:solidFill>
            <a:prstDash val="solid"/>
          </a:ln>
        </p:spPr>
      </p:sp>
      <p:sp>
        <p:nvSpPr>
          <p:cNvPr id="16" name="Text 14"/>
          <p:cNvSpPr txBox="1"/>
          <p:nvPr/>
        </p:nvSpPr>
        <p:spPr>
          <a:xfrm>
            <a:off x="713232" y="4105656"/>
            <a:ext cx="1073505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İndirme ve görünürlük</a:t>
            </a:r>
            <a:endParaRPr lang="en-US" sz="1400" dirty="0"/>
          </a:p>
        </p:txBody>
      </p:sp>
      <p:sp>
        <p:nvSpPr>
          <p:cNvPr id="17" name="Text 15"/>
          <p:cNvSpPr txBox="1"/>
          <p:nvPr/>
        </p:nvSpPr>
        <p:spPr>
          <a:xfrm>
            <a:off x="713232" y="4480560"/>
            <a:ext cx="10735056" cy="1691640"/>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Personel belgesini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kişinin kendisi ve personel yetkilileri; kurum belgesini kurum belgesi yöneticisi ve Komuta yetkilileri indirir.</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Her indirme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“Belge dosyası indirildi” olarak kayda geçer. Yanıt “nosniff” ve önbelleksiz gönderilir (tarayıcı içeriği yorumlamaz).</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Başka kurumun belgesi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hiçbir koşulda görünmez (satır düzeyi güvenlik; “bulunamadı” döner).</a:t>
            </a:r>
            <a:endParaRPr lang="en-US" sz="1150" dirty="0"/>
          </a:p>
          <a:p>
            <a:pPr marL="177800" indent="-177800">
              <a:spcAft>
                <a:spcPts val="300"/>
              </a:spcAft>
              <a:buSzPct val="100000"/>
              <a:buChar char="•"/>
            </a:pPr>
            <a:r>
              <a:rPr lang="en-US" sz="1150" b="1" dirty="0">
                <a:solidFill>
                  <a:srgbClr val="0E4F5C"/>
                </a:solidFill>
                <a:latin typeface="Calibri" pitchFamily="34" charset="0"/>
                <a:ea typeface="Calibri" pitchFamily="34" charset="-122"/>
                <a:cs typeface="Calibri" pitchFamily="34" charset="-120"/>
              </a:rPr>
              <a:t>Belge türleri </a:t>
            </a:r>
            <a:pPr indent="0" marL="0">
              <a:spcAft>
                <a:spcPts val="300"/>
              </a:spcAft>
              <a:buNone/>
            </a:pPr>
            <a:r>
              <a:rPr lang="en-US" sz="1150" dirty="0">
                <a:solidFill>
                  <a:srgbClr val="13232A"/>
                </a:solidFill>
                <a:latin typeface="Calibri" pitchFamily="34" charset="0"/>
                <a:ea typeface="Calibri" pitchFamily="34" charset="-122"/>
                <a:cs typeface="Calibri" pitchFamily="34" charset="-120"/>
              </a:rPr>
              <a:t>mesleğe göre listelenir; zorunlular önce gelir. Süreli türde bitiş tarihi zorunludur.</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Belge süreleri ve işlemlerin askıya alınması</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Uyarı eşikleri: personel 90/60/30/7 gün, kurum 120/60/30 gün kala.</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512064" y="1380744"/>
            <a:ext cx="6108192" cy="3845052"/>
          </a:xfrm>
          <a:prstGeom prst="roundRect">
            <a:avLst>
              <a:gd name="adj" fmla="val 1427"/>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20-hekim-askida.jpg">    </p:cNvPr>
          <p:cNvPicPr>
            <a:picLocks noChangeAspect="1"/>
          </p:cNvPicPr>
          <p:nvPr/>
        </p:nvPicPr>
        <p:blipFill>
          <a:blip r:embed="rId1"/>
          <a:stretch>
            <a:fillRect/>
          </a:stretch>
        </p:blipFill>
        <p:spPr>
          <a:xfrm>
            <a:off x="548640" y="1417320"/>
            <a:ext cx="6035040" cy="3771900"/>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858000" y="1417320"/>
          <a:ext cx="4754880" cy="914400"/>
        </p:xfrm>
        <a:graphic>
          <a:graphicData uri="http://schemas.openxmlformats.org/drawingml/2006/table">
            <a:tbl>
              <a:tblPr/>
              <a:tblGrid>
                <a:gridCol w="1554480"/>
                <a:gridCol w="320040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Durum</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Anlamı</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Süresiz</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Bitiş tarihi olmayan belge</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Geçerli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İlk eşikten uzak</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Uyarı (mavi)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İlk eşik içinde (≤90 / ≤120 gün)</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Yakın (turuncu)</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≤30 gün</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Kritik (kırmızı)</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≤7 gün, bugün doluyor veya doldu</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Eksik</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Zorunlu belge hiç yüklenmemiş</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sp>
        <p:nvSpPr>
          <p:cNvPr id="9" name="Text 5"/>
          <p:cNvSpPr txBox="1"/>
          <p:nvPr/>
        </p:nvSpPr>
        <p:spPr>
          <a:xfrm>
            <a:off x="6858000" y="3703320"/>
            <a:ext cx="4754880" cy="2651760"/>
          </a:xfrm>
          <a:prstGeom prst="rect">
            <a:avLst/>
          </a:prstGeom>
          <a:noFill/>
          <a:ln/>
        </p:spPr>
        <p:txBody>
          <a:bodyPr wrap="square" lIns="0" tIns="0" rIns="0" bIns="0" rtlCol="0" anchor="t"/>
          <a:lstStyle/>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Malpraktis sigortası dolunca: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tanı, reçete, rapor, onam ve tıbbi kayda giriş otomatik kapanır; görüntüleme açık kalır.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Hekim her sayfada kırmızı şerit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görür (“Belgelerim” bağlantısıyla); denemeleri “belge süresi doldu” gerekçesiyle kayda geçer.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Yenilenmiş poliçe eklenince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askı anında kalkar.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Hiç yüklenmemiş belge askıya almaz,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yalnız alarm üretir: yeni kurum ilk gün kilitlenmesin (K15).</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Personel belge kataloğu</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Hangi belge kimde zorunlu, süreli mi, işlem askıya alır mı?</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38</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00400"/>
                <a:gridCol w="731520"/>
                <a:gridCol w="5120640"/>
                <a:gridCol w="201168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Belge</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Süreli</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Zorunlu olduğu meslekler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Askıya alır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Diploma ve Bakanlık tescili</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Hayır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Hekim, Diş hekimi, Veteriner hekim, Hemşire, Ebe, Sağlık teknikeri / teknisyeni, Veteriner sağlık teknikeri, Psikolog, Diyetisyen, Fizyoterapist, Eczacı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Uzmanlık belgesi</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Hayır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 (isteğe bağlı)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Personel çalışma belgesi (ÇKYS)</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Hayır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Hekim, Diş hekimi, Hemşire, Ebe, Sağlık teknikeri / teknisyeni, Psikolog, Diyetisyen, Fizyoterapist, Eczacı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Meslek odası kaydı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Evet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Hekim, Diş hekimi, Veteriner hekim</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Zorunlu mali sorumluluk (malpraktis) sigortası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Evet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Hekim, Diş hekimi</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Tanı, reçete, rapor, onam, kayıt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Temel / ileri yaşam desteği sertifikası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Evet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 (isteğe bağlı)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Radyasyon güvenliği eğitimi</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Evet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 (isteğe bağlı)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İşlem sertifikası (lazer, medikal estetik, GETAT…)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Evet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 (isteğe bağlı)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Hepatit B aşı / titre kaydı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Evet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 (isteğe bağlı)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Periyodik sağlık muayenesi (İSG)</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Evet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Tüm çalışanlar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İş sağlığı ve güvenliği temel eğitimi</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Evet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Tüm çalışanlar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Gizlilik ve KVKK taahhütnamesi</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Hayır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Tüm çalışanlar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İş / hizmet sözleşmesi</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Hayır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Tüm çalışanlar</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Yabancı çalışma izni</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Evet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 (isteğe bağlı)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Sürücü belgesi / SRC / psikoteknik</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Evet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 (isteğe bağlı)</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900" dirty="0">
                          <a:solidFill>
                            <a:srgbClr val="13232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050" dirty="0">
                <a:solidFill>
                  <a:srgbClr val="B4502F"/>
                </a:solidFill>
                <a:latin typeface="Calibri" pitchFamily="34" charset="0"/>
                <a:ea typeface="Calibri" pitchFamily="34" charset="-122"/>
                <a:cs typeface="Calibri" pitchFamily="34" charset="-120"/>
              </a:rPr>
              <a:t>Zorunlu belge eksikliği, yalnızca kurum sahibi rolü olan (işletmede çalışmayan ortak olabilecek) kişilerde aranmaz.</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Ruhsat ve kurum belgeleri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“Ruhsat ve Belgeler”: her şube için eksik zorunlu belgeler ve yüklenen belgeler; işletme geneli belgeler ayrı bölümde.</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512064" y="1380744"/>
            <a:ext cx="5193792" cy="4108911"/>
          </a:xfrm>
          <a:prstGeom prst="roundRect">
            <a:avLst>
              <a:gd name="adj" fmla="val 1335"/>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21-kurum-belgeleri.jpg">    </p:cNvPr>
          <p:cNvPicPr>
            <a:picLocks noChangeAspect="1"/>
          </p:cNvPicPr>
          <p:nvPr/>
        </p:nvPicPr>
        <p:blipFill>
          <a:blip r:embed="rId1"/>
          <a:stretch>
            <a:fillRect/>
          </a:stretch>
        </p:blipFill>
        <p:spPr>
          <a:xfrm>
            <a:off x="548640" y="1417320"/>
            <a:ext cx="5120640" cy="4035759"/>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69280" cy="914400"/>
        </p:xfrm>
        <a:graphic>
          <a:graphicData uri="http://schemas.openxmlformats.org/drawingml/2006/table">
            <a:tbl>
              <a:tblPr/>
              <a:tblGrid>
                <a:gridCol w="2011680"/>
                <a:gridCol w="640080"/>
                <a:gridCol w="3017520"/>
              </a:tblGrid>
              <a:tr h="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Kurum belgesi</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Süreli</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Zorunlu olduğu kurum tipleri</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Ruhsat / faaliyet izin belgesi</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Hayır</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Muayenehane, Poliklinik / Tıp Merkezi, Ağız ve Diş Sağlığı, Estetik / Medikal Estetik, Fizik Tedavi / Danışmanlık, Evde Sağlık</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Mesul müdürlük belgesi</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Hayır</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Poliklinik / Tıp Merkezi, Ağız ve Diş Sağlığı, Estetik / Medikal Estetik, Evde Sağlık</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Veteriner kuruluş ruhsatı</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Hayır</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Veteriner Klinik</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Tıbbi atık sözleşmesi</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Evet</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Muayenehane, Poliklinik / Tıp Merkezi, Ağız ve Diş Sağlığı, Estetik / Medikal Estetik, Fizik Tedavi / Danışmanlık, Evde Sağlık, Veteriner Klinik</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NDK röntgen lisansı</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Evet</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Ağız ve Diş Sağlığı</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Evde sağlık hizmeti izin belgesi</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Hayır</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Evde Sağlık</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İSG hizmet sözleşmesi (OSGB)</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Evet</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 (isteğe bağlı)</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Yangın güvenliği uygunluk belgesi</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Evet</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 (isteğe bağlı)</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İşyeri / mesleki sorumluluk sigortası</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Evet</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 (isteğe bağlı)</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Araç muayene ve trafik sigortası</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Evet</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50" dirty="0">
                          <a:solidFill>
                            <a:srgbClr val="13232A"/>
                          </a:solidFill>
                          <a:latin typeface="Calibri" pitchFamily="34" charset="0"/>
                          <a:ea typeface="Calibri" pitchFamily="34" charset="-122"/>
                          <a:cs typeface="Calibri" pitchFamily="34" charset="-120"/>
                        </a:rPr>
                        <a:t>— (isteğe bağlı)</a:t>
                      </a:r>
                      <a:endParaRPr lang="en-US" sz="850" dirty="0">
                        <a:latin typeface="Calibri" charset="0"/>
                        <a:ea typeface="Calibri" charset="0"/>
                        <a:cs typeface="Calibri" charset="0"/>
                      </a:endParaRPr>
                    </a:p>
                  </a:txBody>
                  <a:tcPr marL="38100" marR="38100" marT="25400" marB="254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sp>
        <p:nvSpPr>
          <p:cNvPr id="9" name="Text 5"/>
          <p:cNvSpPr txBox="1"/>
          <p:nvPr/>
        </p:nvSpPr>
        <p:spPr>
          <a:xfrm>
            <a:off x="5943600" y="5577840"/>
            <a:ext cx="5669280" cy="777240"/>
          </a:xfrm>
          <a:prstGeom prst="rect">
            <a:avLst/>
          </a:prstGeom>
          <a:noFill/>
          <a:ln/>
        </p:spPr>
        <p:txBody>
          <a:bodyPr wrap="square" lIns="0" tIns="0" rIns="0" bIns="0" rtlCol="0" anchor="t"/>
          <a:lstStyle/>
          <a:p>
            <a:pPr indent="0" marL="0">
              <a:buNone/>
            </a:pPr>
            <a:r>
              <a:rPr lang="en-US" sz="1050" dirty="0">
                <a:solidFill>
                  <a:srgbClr val="3D4F57"/>
                </a:solidFill>
                <a:latin typeface="Calibri" pitchFamily="34" charset="0"/>
                <a:ea typeface="Calibri" pitchFamily="34" charset="-122"/>
                <a:cs typeface="Calibri" pitchFamily="34" charset="-120"/>
              </a:rPr>
              <a:t>Belge bir şubeye veya “Tüm işletme”ye bağlanır; işletme geneli belge her şubenin eksik listesinden düşer. Kurulum adımı “Ruhsat ve zorunlu belgeleri yükleyin” tüm şubelerde eksik kalmayınca tamamlanır.</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Nöbet ve vardiya çizelgesi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“Nöbet ve Vardiya”: şube ve ay seçilir (varsayılan: gelecek ay). Satırlar personel, sütunlar günler.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512064" y="1380744"/>
            <a:ext cx="6473952" cy="4073652"/>
          </a:xfrm>
          <a:prstGeom prst="roundRect">
            <a:avLst>
              <a:gd name="adj" fmla="val 1347"/>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23-nobet-taslak.jpg">    </p:cNvPr>
          <p:cNvPicPr>
            <a:picLocks noChangeAspect="1"/>
          </p:cNvPicPr>
          <p:nvPr/>
        </p:nvPicPr>
        <p:blipFill>
          <a:blip r:embed="rId1"/>
          <a:stretch>
            <a:fillRect/>
          </a:stretch>
        </p:blipFill>
        <p:spPr>
          <a:xfrm>
            <a:off x="548640" y="1417320"/>
            <a:ext cx="6400800" cy="4000500"/>
          </a:xfrm>
          <a:prstGeom prst="rect">
            <a:avLst/>
          </a:prstGeom>
        </p:spPr>
      </p:pic>
      <p:sp>
        <p:nvSpPr>
          <p:cNvPr id="8" name="Text 5"/>
          <p:cNvSpPr txBox="1"/>
          <p:nvPr/>
        </p:nvSpPr>
        <p:spPr>
          <a:xfrm>
            <a:off x="7223760" y="1463040"/>
            <a:ext cx="4389120" cy="4846320"/>
          </a:xfrm>
          <a:prstGeom prst="rect">
            <a:avLst/>
          </a:prstGeom>
          <a:noFill/>
          <a:ln/>
        </p:spPr>
        <p:txBody>
          <a:bodyPr wrap="square" lIns="0" tIns="0" rIns="0" bIns="0" rtlCol="0" anchor="t"/>
          <a:lstStyle/>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Görev türleri: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V vardiya, N nöbet, İ icap (evde nöbet; çalışma süresine sayılmaz), gri “İzin”.</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Hücreye tıklayınca: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o gün görevleri, “Kaldır”, hızlı şablonlar (Gündüz 08:00–16:00; Akşam 16:00–24:00; Gece nöbeti 16:00–08:00; Nöbet 08:00–08:00 (24 saat); İcap 16:00–08:00) veya özel saat (tür, başlangıç, süre ≤36 sa).</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Engeller: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aynı kişiye çakışan görev (başka şubede de), izinli güne görev, ay dışı gün, şubede rolü olmayan kişi.</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Kural ihlalleri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(engel değil, rapor): haftalık 45 saat, nöbet sonrası 24 saat dinlenme, en çok 2 gece üst üste. İhlalli görev kırmızı çerçeveli.</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Satırda aylık toplam saat;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hafta sonu sütunları tonlu.</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Çizelge onayı, izinler ve kurallar</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Taslak → Onay bekliyor → Yayında. Taslak ve onay bekleyen çizelgeyi yalnız planlayıcı ve onaylayıcı görür.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12064" y="1380744"/>
            <a:ext cx="5925312" cy="3730752"/>
          </a:xfrm>
          <a:prstGeom prst="roundRect">
            <a:avLst>
              <a:gd name="adj" fmla="val 1471"/>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24-nobet-yayinda.jpg">    </p:cNvPr>
          <p:cNvPicPr>
            <a:picLocks noChangeAspect="1"/>
          </p:cNvPicPr>
          <p:nvPr/>
        </p:nvPicPr>
        <p:blipFill>
          <a:blip r:embed="rId1"/>
          <a:stretch>
            <a:fillRect/>
          </a:stretch>
        </p:blipFill>
        <p:spPr>
          <a:xfrm>
            <a:off x="548640" y="1417320"/>
            <a:ext cx="5852160" cy="3657600"/>
          </a:xfrm>
          <a:prstGeom prst="rect">
            <a:avLst/>
          </a:prstGeom>
        </p:spPr>
      </p:pic>
      <p:sp>
        <p:nvSpPr>
          <p:cNvPr id="8" name="Text 5"/>
          <p:cNvSpPr txBox="1"/>
          <p:nvPr/>
        </p:nvSpPr>
        <p:spPr>
          <a:xfrm>
            <a:off x="6675120" y="1463040"/>
            <a:ext cx="4937760" cy="4892040"/>
          </a:xfrm>
          <a:prstGeom prst="rect">
            <a:avLst/>
          </a:prstGeom>
          <a:noFill/>
          <a:ln/>
        </p:spPr>
        <p:txBody>
          <a:bodyPr wrap="square" lIns="0" tIns="0" rIns="0" bIns="0" rtlCol="0" anchor="t"/>
          <a:lstStyle/>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Planlayan: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genel müdür, başhekim, başhemşire, İK. Onaylayan: genel müdür, mesul müdür, başhekim.</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Dört göz: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onaya gönderen onaylayamaz (“Onaya siz gönderdiniz”).</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İhlal varsa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onay için gerekçe zorunlu; “KURAL İHLALİYLE onaylandı” kaydı. Red nedeniyle taslağa döner.</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Yayındaki çizelge kilitli;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değişiklik için “taslağa al” (revizyon, kayıtlı).</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İzinler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(personel kartı): Yıllık izin, Mazeret izni, Sağlık raporu, Ücretsiz izin, Doğum / babalık izni, Eğitim / kongre, İdari izin. Görevi olan güne izin girilemez; iptal kayıtlı.</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Kurallar kartı: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kurum ayar yetkisiyle haftalık saat, dinlenme ve gece sınırı değiştirilir (K16).</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Görevlerim: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yayındaki çizelgelerden 30 günlük görevler Komuta’da.</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Alarm: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gelecek ay çizelgesi ay başına 7 gün kala yayında değilse (3 günde kritik); onay bekleyen çizelge onaylayıcıya.</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Stok ve ilaç: ürünler ve hareketler</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“Stok ve İlaç”: stok şube bazında; bakiye değiştirilemez hareket defterinden hesaplanır.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42</a:t>
            </a:r>
            <a:endParaRPr lang="en-US" sz="900" dirty="0"/>
          </a:p>
        </p:txBody>
      </p:sp>
      <p:sp>
        <p:nvSpPr>
          <p:cNvPr id="6" name="Shape 4"/>
          <p:cNvSpPr/>
          <p:nvPr/>
        </p:nvSpPr>
        <p:spPr>
          <a:xfrm>
            <a:off x="1170432" y="1380744"/>
            <a:ext cx="3511296" cy="2221992"/>
          </a:xfrm>
          <a:prstGeom prst="roundRect">
            <a:avLst>
              <a:gd name="adj" fmla="val 2469"/>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26-stok-liste.jpg">    </p:cNvPr>
          <p:cNvPicPr>
            <a:picLocks noChangeAspect="1"/>
          </p:cNvPicPr>
          <p:nvPr/>
        </p:nvPicPr>
        <p:blipFill>
          <a:blip r:embed="rId1"/>
          <a:stretch>
            <a:fillRect/>
          </a:stretch>
        </p:blipFill>
        <p:spPr>
          <a:xfrm>
            <a:off x="1207008" y="1417320"/>
            <a:ext cx="3438144" cy="2148840"/>
          </a:xfrm>
          <a:prstGeom prst="rect">
            <a:avLst/>
          </a:prstGeom>
        </p:spPr>
      </p:pic>
      <p:sp>
        <p:nvSpPr>
          <p:cNvPr id="8" name="Shape 5"/>
          <p:cNvSpPr/>
          <p:nvPr/>
        </p:nvSpPr>
        <p:spPr>
          <a:xfrm>
            <a:off x="841248" y="3712464"/>
            <a:ext cx="4169664" cy="2633472"/>
          </a:xfrm>
          <a:prstGeom prst="roundRect">
            <a:avLst>
              <a:gd name="adj" fmla="val 2083"/>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9" name="Image 1" descr="/tmp/claude-0/-home-user-DC-Doktor-Klinik/f408c0fa-c72f-514c-9fce-60dc20fb9e57/scratchpad/sunum/img/25-stok-urun.jpg">    </p:cNvPr>
          <p:cNvPicPr>
            <a:picLocks noChangeAspect="1"/>
          </p:cNvPicPr>
          <p:nvPr/>
        </p:nvPicPr>
        <p:blipFill>
          <a:blip r:embed="rId2"/>
          <a:stretch>
            <a:fillRect/>
          </a:stretch>
        </p:blipFill>
        <p:spPr>
          <a:xfrm>
            <a:off x="877824" y="3749040"/>
            <a:ext cx="4096512" cy="2560320"/>
          </a:xfrm>
          <a:prstGeom prst="rect">
            <a:avLst/>
          </a:prstGeom>
        </p:spPr>
      </p:pic>
      <p:sp>
        <p:nvSpPr>
          <p:cNvPr id="10" name="Text 6"/>
          <p:cNvSpPr txBox="1"/>
          <p:nvPr/>
        </p:nvSpPr>
        <p:spPr>
          <a:xfrm>
            <a:off x="5577840" y="1463040"/>
            <a:ext cx="6035040" cy="4892040"/>
          </a:xfrm>
          <a:prstGeom prst="rect">
            <a:avLst/>
          </a:prstGeom>
          <a:noFill/>
          <a:ln/>
        </p:spPr>
        <p:txBody>
          <a:bodyPr wrap="square" lIns="0" tIns="0" rIns="0" bIns="0" rtlCol="0" anchor="t"/>
          <a:lstStyle/>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Ürün kartı: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kod, ad, tür (İlaç, Aşı, Tıbbi sarf, Tıbbi cihaz / implant, Dental malzeme, Estetik ürün, Laboratuvar kiti, Temizlik / dezenfektan, Diğer), birim (adet, kutu, ampul, flakon, ml, mg, paket, şırınga, tablet), kontrol statüsü (Normal, Yüksek riskli, Psikotrop (yeşil reçete), Narkotik (kırmızı reçete)), saklama (Oda sıcaklığı, Soğuk zincir (2–8 °C), Dondurucu), barkod, en az stok.</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Hareketler: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Giriş (mal kabul), Hastaya kullanım, Fire / imha, Tedarikçiye iade, Sayım düzeltmesi.</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Giriş: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lot + SKT (ilaç, aşı, estetik üründe SKT zorunlu); aynı lot farklı SKT ile girilemez.</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FEFO: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SKT’si en yakın, stoğu olan lot “Önce bunu kullanın” rozetiyle ve formda seçili gelir.</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Kullanım: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hasta arama zorunlu; hemşire/hekim yapabilir. SKT’si geçmiş lot hastaya kullanılamaz (fire ile imha).</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Yetersiz bakiye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reddedilir; aynı lota eşzamanlı çıkışlar kilitle sıralanır. Miktar binde bir hassasiyet (ml, mg).</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Sayım: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sayılan girilir, fark düzeltme hareketi olur; açıklama zorunlu.</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Narkotik ilaçlar, lot izleme ve stok alarmları</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Kontrollü ilaçlarda ek güvenlik; geri çağırmada saniyeler içinde hasta listesi.</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43</a:t>
            </a:r>
            <a:endParaRPr lang="en-US" sz="900" dirty="0"/>
          </a:p>
        </p:txBody>
      </p:sp>
      <p:sp>
        <p:nvSpPr>
          <p:cNvPr id="6" name="Shape 4"/>
          <p:cNvSpPr/>
          <p:nvPr/>
        </p:nvSpPr>
        <p:spPr>
          <a:xfrm>
            <a:off x="548640" y="1417320"/>
            <a:ext cx="5486400" cy="2377440"/>
          </a:xfrm>
          <a:prstGeom prst="roundRect">
            <a:avLst>
              <a:gd name="adj" fmla="val 3846"/>
            </a:avLst>
          </a:prstGeom>
          <a:solidFill>
            <a:srgbClr val="F1F7F5"/>
          </a:solidFill>
          <a:ln w="9525">
            <a:solidFill>
              <a:srgbClr val="CFE6DF"/>
            </a:solidFill>
            <a:prstDash val="solid"/>
          </a:ln>
        </p:spPr>
      </p:sp>
      <p:sp>
        <p:nvSpPr>
          <p:cNvPr id="7" name="Text 5"/>
          <p:cNvSpPr txBox="1"/>
          <p:nvPr/>
        </p:nvSpPr>
        <p:spPr>
          <a:xfrm>
            <a:off x="713232" y="1545336"/>
            <a:ext cx="515721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Narkotik ve psikotrop (K19)</a:t>
            </a:r>
            <a:endParaRPr lang="en-US" sz="1400" dirty="0"/>
          </a:p>
        </p:txBody>
      </p:sp>
      <p:sp>
        <p:nvSpPr>
          <p:cNvPr id="8" name="Text 6"/>
          <p:cNvSpPr txBox="1"/>
          <p:nvPr/>
        </p:nvSpPr>
        <p:spPr>
          <a:xfrm>
            <a:off x="713232" y="1920240"/>
            <a:ext cx="5157216" cy="178308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Her hareketi yalnız narkotik sorumlusu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(mesul müdür, başhemşire) yapar; depo sorumlusu yapamaz.</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Çıkış, imha, iade ve sayımda şahit zorunlu: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işlemi yapandan farklı, aktif bir sağlık meslek mensubu.</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Şahit hareket geçmişinde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ve denetim izinde görünür.</a:t>
            </a:r>
            <a:endParaRPr lang="en-US" sz="1100" dirty="0"/>
          </a:p>
        </p:txBody>
      </p:sp>
      <p:sp>
        <p:nvSpPr>
          <p:cNvPr id="9" name="Shape 7"/>
          <p:cNvSpPr/>
          <p:nvPr/>
        </p:nvSpPr>
        <p:spPr>
          <a:xfrm>
            <a:off x="6172200" y="1417320"/>
            <a:ext cx="5440680" cy="2377440"/>
          </a:xfrm>
          <a:prstGeom prst="roundRect">
            <a:avLst>
              <a:gd name="adj" fmla="val 3846"/>
            </a:avLst>
          </a:prstGeom>
          <a:solidFill>
            <a:srgbClr val="F1F7F5"/>
          </a:solidFill>
          <a:ln w="9525">
            <a:solidFill>
              <a:srgbClr val="CFE6DF"/>
            </a:solidFill>
            <a:prstDash val="solid"/>
          </a:ln>
        </p:spPr>
      </p:sp>
      <p:sp>
        <p:nvSpPr>
          <p:cNvPr id="10" name="Text 8"/>
          <p:cNvSpPr txBox="1"/>
          <p:nvPr/>
        </p:nvSpPr>
        <p:spPr>
          <a:xfrm>
            <a:off x="6336792" y="1545336"/>
            <a:ext cx="511149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Lot izleme (geri çağırma)</a:t>
            </a:r>
            <a:endParaRPr lang="en-US" sz="1400" dirty="0"/>
          </a:p>
        </p:txBody>
      </p:sp>
      <p:sp>
        <p:nvSpPr>
          <p:cNvPr id="11" name="Text 9"/>
          <p:cNvSpPr txBox="1"/>
          <p:nvPr/>
        </p:nvSpPr>
        <p:spPr>
          <a:xfrm>
            <a:off x="6336792" y="1920240"/>
            <a:ext cx="5111496" cy="178308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Lot no girilir →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o lotun uygulandığı hastalar, tarih, şube, miktar.</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Stok görme + hasta görme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yetkisi birlikte gerekir.</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Her sorgu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“Lot izleme sorgulandı” (hasta sayısıyla) kayda geçer.</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2377440"/>
                <a:gridCol w="4572000"/>
                <a:gridCol w="411480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Stok alarmı</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Eşik</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Kime</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SKT yaklaşan lot</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≤90 gün uyarı, ≤30 yakın, ≤7 / geçmiş kritik</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Stok yöneticisi ve görüntüleyenler (kritikse Komuta)</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Kritik stok</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Şube bakiyesi en az seviyenin altında (yakın); sıfır (kritik)</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Stok yöneticisi</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Narkotik sayım farkı</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Son 7 günde fark → kritik</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Narkotik sorumluları, mesul müdür, Komuta</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548640" y="5715000"/>
            <a:ext cx="11064240" cy="640080"/>
          </a:xfrm>
          <a:prstGeom prst="rect">
            <a:avLst/>
          </a:prstGeom>
          <a:noFill/>
          <a:ln/>
        </p:spPr>
        <p:txBody>
          <a:bodyPr wrap="square" lIns="0" tIns="0" rIns="0" bIns="0" rtlCol="0" anchor="t"/>
          <a:lstStyle/>
          <a:p>
            <a:pPr indent="0" marL="0">
              <a:buNone/>
            </a:pPr>
            <a:r>
              <a:rPr lang="en-US" sz="1100" dirty="0">
                <a:solidFill>
                  <a:srgbClr val="3D4F57"/>
                </a:solidFill>
                <a:latin typeface="Calibri" pitchFamily="34" charset="0"/>
                <a:ea typeface="Calibri" pitchFamily="34" charset="-122"/>
                <a:cs typeface="Calibri" pitchFamily="34" charset="-120"/>
              </a:rPr>
              <a:t>Ürün kartında: lotlar (SKT durum rozetiyle), stok hareketi formu (türler yetkiye göre), hareket geçmişi (zaman, tür, hasta bağlantısı, lot, ±miktar, yapan, şahit), en az stok ayarı.</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Kalite: olay bildirimi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“Kalite ve Uyum → Olay bildir”. Herkes bildirebilir; suçlamasız bildirim kültürü için isimsiz seçenek (K17).</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44</a:t>
            </a:r>
            <a:endParaRPr lang="en-US" sz="900" dirty="0"/>
          </a:p>
        </p:txBody>
      </p:sp>
      <p:sp>
        <p:nvSpPr>
          <p:cNvPr id="6" name="Shape 4"/>
          <p:cNvSpPr/>
          <p:nvPr/>
        </p:nvSpPr>
        <p:spPr>
          <a:xfrm>
            <a:off x="512064" y="1380744"/>
            <a:ext cx="6108192" cy="3845052"/>
          </a:xfrm>
          <a:prstGeom prst="roundRect">
            <a:avLst>
              <a:gd name="adj" fmla="val 1427"/>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27-olay-bildir.jpg">    </p:cNvPr>
          <p:cNvPicPr>
            <a:picLocks noChangeAspect="1"/>
          </p:cNvPicPr>
          <p:nvPr/>
        </p:nvPicPr>
        <p:blipFill>
          <a:blip r:embed="rId1"/>
          <a:stretch>
            <a:fillRect/>
          </a:stretch>
        </p:blipFill>
        <p:spPr>
          <a:xfrm>
            <a:off x="548640" y="1417320"/>
            <a:ext cx="6035040" cy="3771900"/>
          </a:xfrm>
          <a:prstGeom prst="rect">
            <a:avLst/>
          </a:prstGeom>
        </p:spPr>
      </p:pic>
      <p:sp>
        <p:nvSpPr>
          <p:cNvPr id="8" name="Text 5"/>
          <p:cNvSpPr txBox="1"/>
          <p:nvPr/>
        </p:nvSpPr>
        <p:spPr>
          <a:xfrm>
            <a:off x="6858000" y="1463040"/>
            <a:ext cx="4754880" cy="4892040"/>
          </a:xfrm>
          <a:prstGeom prst="rect">
            <a:avLst/>
          </a:prstGeom>
          <a:noFill/>
          <a:ln/>
        </p:spPr>
        <p:txBody>
          <a:bodyPr wrap="square" lIns="0" tIns="0" rIns="0" bIns="0" rtlCol="0" anchor="t"/>
          <a:lstStyle/>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Olay türleri: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Ramak kala, İlaç hatası, Hasta düşmesi, Hasta kimlik hatası / yanlış hasta, Yanlış taraf / yanlış işlem, Tıbbi cihaz kaynaklı olay, Enfeksiyon / sterilizasyon, Advers ilaç reaksiyonu, Beyaz kod (çalışana şiddet), Kesici-delici alet yaralanması, Diğer çalışan güvenliği olayı, Diğer.</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Şiddet: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Zarar yok, Hafif, Orta, Ciddi. Alanlar: olay zamanı, yer, ne oldu (en az 10 karakter), ilk müdahale.</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İsimsiz bildir: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bildiren kimliği kalite ekibine ve denetim izine açık yazılmaz, yalnızca şifreli saklanır (yasal süreçte çözülebilir).</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Takip kodu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(8 karakter, karışan harfler yok) ile durum sorgulanır; isimli bildirimler “İsimli bildirimlerim”de.</a:t>
            </a:r>
            <a:endParaRPr lang="en-US" sz="1050" dirty="0"/>
          </a:p>
          <a:p>
            <a:pPr marL="177800" indent="-177800">
              <a:spcAft>
                <a:spcPts val="500"/>
              </a:spcAft>
              <a:buSzPct val="100000"/>
              <a:buChar char="•"/>
            </a:pPr>
            <a:r>
              <a:rPr lang="en-US" sz="1050" b="1" dirty="0">
                <a:solidFill>
                  <a:srgbClr val="0E4F5C"/>
                </a:solidFill>
                <a:latin typeface="Calibri" pitchFamily="34" charset="0"/>
                <a:ea typeface="Calibri" pitchFamily="34" charset="-122"/>
                <a:cs typeface="Calibri" pitchFamily="34" charset="-120"/>
              </a:rPr>
              <a:t>İnceleme: </a:t>
            </a:r>
            <a:pPr indent="0" marL="0">
              <a:spcAft>
                <a:spcPts val="500"/>
              </a:spcAft>
              <a:buNone/>
            </a:pPr>
            <a:r>
              <a:rPr lang="en-US" sz="1050" dirty="0">
                <a:solidFill>
                  <a:srgbClr val="13232A"/>
                </a:solidFill>
                <a:latin typeface="Calibri" pitchFamily="34" charset="0"/>
                <a:ea typeface="Calibri" pitchFamily="34" charset="-122"/>
                <a:cs typeface="Calibri" pitchFamily="34" charset="-120"/>
              </a:rPr>
              <a:t>sorumlu, kök neden, alınan önlem, resmî bildirim no (advers reaksiyon, cihaz, beyaz kod için). Orta/ciddi olay kök neden + önlem olmadan kapatılamaz; kapalı olay değişmez.</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Kalite: şikâyetler ve DÖF</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Şikâyeti sekreter veya kalite ekibi kaydeder; resmî başvurularda yasal süre sayacı işler.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45</a:t>
            </a:r>
            <a:endParaRPr lang="en-US" sz="900" dirty="0"/>
          </a:p>
        </p:txBody>
      </p:sp>
      <p:sp>
        <p:nvSpPr>
          <p:cNvPr id="6" name="Shape 4"/>
          <p:cNvSpPr/>
          <p:nvPr/>
        </p:nvSpPr>
        <p:spPr>
          <a:xfrm>
            <a:off x="512064" y="1380744"/>
            <a:ext cx="4279392" cy="3031778"/>
          </a:xfrm>
          <a:prstGeom prst="roundRect">
            <a:avLst>
              <a:gd name="adj" fmla="val 1810"/>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28-sikayetler.jpg">    </p:cNvPr>
          <p:cNvPicPr>
            <a:picLocks noChangeAspect="1"/>
          </p:cNvPicPr>
          <p:nvPr/>
        </p:nvPicPr>
        <p:blipFill>
          <a:blip r:embed="rId1"/>
          <a:stretch>
            <a:fillRect/>
          </a:stretch>
        </p:blipFill>
        <p:spPr>
          <a:xfrm>
            <a:off x="548640" y="1417320"/>
            <a:ext cx="4206240" cy="2958626"/>
          </a:xfrm>
          <a:prstGeom prst="rect">
            <a:avLst/>
          </a:prstGeom>
        </p:spPr>
      </p:pic>
      <p:sp>
        <p:nvSpPr>
          <p:cNvPr id="8" name="Shape 5"/>
          <p:cNvSpPr/>
          <p:nvPr/>
        </p:nvSpPr>
        <p:spPr>
          <a:xfrm>
            <a:off x="523261" y="4581144"/>
            <a:ext cx="4256999" cy="1810512"/>
          </a:xfrm>
          <a:prstGeom prst="roundRect">
            <a:avLst>
              <a:gd name="adj" fmla="val 3030"/>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9" name="Image 1" descr="/tmp/claude-0/-home-user-DC-Doktor-Klinik/f408c0fa-c72f-514c-9fce-60dc20fb9e57/scratchpad/sunum/img/29-dof.jpg">    </p:cNvPr>
          <p:cNvPicPr>
            <a:picLocks noChangeAspect="1"/>
          </p:cNvPicPr>
          <p:nvPr/>
        </p:nvPicPr>
        <p:blipFill>
          <a:blip r:embed="rId2"/>
          <a:stretch>
            <a:fillRect/>
          </a:stretch>
        </p:blipFill>
        <p:spPr>
          <a:xfrm>
            <a:off x="559837" y="4617720"/>
            <a:ext cx="4183847" cy="1737360"/>
          </a:xfrm>
          <a:prstGeom prst="rect">
            <a:avLst/>
          </a:prstGeom>
        </p:spPr>
      </p:pic>
      <p:sp>
        <p:nvSpPr>
          <p:cNvPr id="10" name="Shape 6"/>
          <p:cNvSpPr/>
          <p:nvPr/>
        </p:nvSpPr>
        <p:spPr>
          <a:xfrm>
            <a:off x="5029200" y="1417320"/>
            <a:ext cx="3246120" cy="4937760"/>
          </a:xfrm>
          <a:prstGeom prst="roundRect">
            <a:avLst>
              <a:gd name="adj" fmla="val 2817"/>
            </a:avLst>
          </a:prstGeom>
          <a:solidFill>
            <a:srgbClr val="F1F7F5"/>
          </a:solidFill>
          <a:ln w="9525">
            <a:solidFill>
              <a:srgbClr val="CFE6DF"/>
            </a:solidFill>
            <a:prstDash val="solid"/>
          </a:ln>
        </p:spPr>
      </p:sp>
      <p:sp>
        <p:nvSpPr>
          <p:cNvPr id="11" name="Text 7"/>
          <p:cNvSpPr txBox="1"/>
          <p:nvPr/>
        </p:nvSpPr>
        <p:spPr>
          <a:xfrm>
            <a:off x="5193792" y="1545336"/>
            <a:ext cx="291693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Şikâyet</a:t>
            </a:r>
            <a:endParaRPr lang="en-US" sz="1400" dirty="0"/>
          </a:p>
        </p:txBody>
      </p:sp>
      <p:sp>
        <p:nvSpPr>
          <p:cNvPr id="12" name="Text 8"/>
          <p:cNvSpPr txBox="1"/>
          <p:nvPr/>
        </p:nvSpPr>
        <p:spPr>
          <a:xfrm>
            <a:off x="5193792" y="1920240"/>
            <a:ext cx="2916936" cy="4343400"/>
          </a:xfrm>
          <a:prstGeom prst="rect">
            <a:avLst/>
          </a:prstGeom>
          <a:noFill/>
          <a:ln/>
        </p:spPr>
        <p:txBody>
          <a:bodyPr wrap="square" lIns="0" tIns="0" rIns="0" bIns="0" rtlCol="0" anchor="t"/>
          <a:lstStyle/>
          <a:p>
            <a:pPr marL="177800" indent="-177800">
              <a:spcAft>
                <a:spcPts val="300"/>
              </a:spcAft>
              <a:buSzPct val="100000"/>
              <a:buChar char="•"/>
            </a:pPr>
            <a:r>
              <a:rPr lang="en-US" sz="1000" b="1" dirty="0">
                <a:solidFill>
                  <a:srgbClr val="0E4F5C"/>
                </a:solidFill>
                <a:latin typeface="Calibri" pitchFamily="34" charset="0"/>
                <a:ea typeface="Calibri" pitchFamily="34" charset="-122"/>
                <a:cs typeface="Calibri" pitchFamily="34" charset="-120"/>
              </a:rPr>
              <a:t>Kanallar: </a:t>
            </a:r>
            <a:pPr indent="0" marL="0">
              <a:spcAft>
                <a:spcPts val="300"/>
              </a:spcAft>
              <a:buNone/>
            </a:pPr>
            <a:r>
              <a:rPr lang="en-US" sz="1000" dirty="0">
                <a:solidFill>
                  <a:srgbClr val="13232A"/>
                </a:solidFill>
                <a:latin typeface="Calibri" pitchFamily="34" charset="0"/>
                <a:ea typeface="Calibri" pitchFamily="34" charset="-122"/>
                <a:cs typeface="Calibri" pitchFamily="34" charset="-120"/>
              </a:rPr>
              <a:t>Yüz yüze, Telefon, E-posta, Web / anket, Sosyal medya, CİMER (resmî), SABİM (resmî), Bakanlık / İl Sağlık Müdürlüğü yazısı (resmî).</a:t>
            </a:r>
            <a:endParaRPr lang="en-US" sz="1000" dirty="0"/>
          </a:p>
          <a:p>
            <a:pPr marL="177800" indent="-177800">
              <a:spcAft>
                <a:spcPts val="300"/>
              </a:spcAft>
              <a:buSzPct val="100000"/>
              <a:buChar char="•"/>
            </a:pPr>
            <a:r>
              <a:rPr lang="en-US" sz="1000" b="1" dirty="0">
                <a:solidFill>
                  <a:srgbClr val="0E4F5C"/>
                </a:solidFill>
                <a:latin typeface="Calibri" pitchFamily="34" charset="0"/>
                <a:ea typeface="Calibri" pitchFamily="34" charset="-122"/>
                <a:cs typeface="Calibri" pitchFamily="34" charset="-120"/>
              </a:rPr>
              <a:t>Kategoriler: </a:t>
            </a:r>
            <a:pPr indent="0" marL="0">
              <a:spcAft>
                <a:spcPts val="300"/>
              </a:spcAft>
              <a:buNone/>
            </a:pPr>
            <a:r>
              <a:rPr lang="en-US" sz="1000" dirty="0">
                <a:solidFill>
                  <a:srgbClr val="13232A"/>
                </a:solidFill>
                <a:latin typeface="Calibri" pitchFamily="34" charset="0"/>
                <a:ea typeface="Calibri" pitchFamily="34" charset="-122"/>
                <a:cs typeface="Calibri" pitchFamily="34" charset="-120"/>
              </a:rPr>
              <a:t>Tıbbi, İdari, Finansal, Personel davranışı, Temizlik / hijyen, Bekleme süresi, Diğer.</a:t>
            </a:r>
            <a:endParaRPr lang="en-US" sz="1000" dirty="0"/>
          </a:p>
          <a:p>
            <a:pPr marL="177800" indent="-177800">
              <a:spcAft>
                <a:spcPts val="300"/>
              </a:spcAft>
              <a:buSzPct val="100000"/>
              <a:buChar char="•"/>
            </a:pPr>
            <a:r>
              <a:rPr lang="en-US" sz="1000" b="1" dirty="0">
                <a:solidFill>
                  <a:srgbClr val="0E4F5C"/>
                </a:solidFill>
                <a:latin typeface="Calibri" pitchFamily="34" charset="0"/>
                <a:ea typeface="Calibri" pitchFamily="34" charset="-122"/>
                <a:cs typeface="Calibri" pitchFamily="34" charset="-120"/>
              </a:rPr>
              <a:t>Cevap süresi: </a:t>
            </a:r>
            <a:pPr indent="0" marL="0">
              <a:spcAft>
                <a:spcPts val="300"/>
              </a:spcAft>
              <a:buNone/>
            </a:pPr>
            <a:r>
              <a:rPr lang="en-US" sz="1000" dirty="0">
                <a:solidFill>
                  <a:srgbClr val="13232A"/>
                </a:solidFill>
                <a:latin typeface="Calibri" pitchFamily="34" charset="0"/>
                <a:ea typeface="Calibri" pitchFamily="34" charset="-122"/>
                <a:cs typeface="Calibri" pitchFamily="34" charset="-120"/>
              </a:rPr>
              <a:t>resmî 30 gün, kurum içi 7 gün (hukukçu teyidine kadar taslak).</a:t>
            </a:r>
            <a:endParaRPr lang="en-US" sz="1000" dirty="0"/>
          </a:p>
          <a:p>
            <a:pPr marL="177800" indent="-177800">
              <a:spcAft>
                <a:spcPts val="300"/>
              </a:spcAft>
              <a:buSzPct val="100000"/>
              <a:buChar char="•"/>
            </a:pPr>
            <a:r>
              <a:rPr lang="en-US" sz="1000" b="1" dirty="0">
                <a:solidFill>
                  <a:srgbClr val="0E4F5C"/>
                </a:solidFill>
                <a:latin typeface="Calibri" pitchFamily="34" charset="0"/>
                <a:ea typeface="Calibri" pitchFamily="34" charset="-122"/>
                <a:cs typeface="Calibri" pitchFamily="34" charset="-120"/>
              </a:rPr>
              <a:t>Tıbbi şikâyete </a:t>
            </a:r>
            <a:pPr indent="0" marL="0">
              <a:spcAft>
                <a:spcPts val="300"/>
              </a:spcAft>
              <a:buNone/>
            </a:pPr>
            <a:r>
              <a:rPr lang="en-US" sz="1000" dirty="0">
                <a:solidFill>
                  <a:srgbClr val="13232A"/>
                </a:solidFill>
                <a:latin typeface="Calibri" pitchFamily="34" charset="0"/>
                <a:ea typeface="Calibri" pitchFamily="34" charset="-122"/>
                <a:cs typeface="Calibri" pitchFamily="34" charset="-120"/>
              </a:rPr>
              <a:t>yalnız başhekim veya mesul müdür cevap verir.</a:t>
            </a:r>
            <a:endParaRPr lang="en-US" sz="1000" dirty="0"/>
          </a:p>
          <a:p>
            <a:pPr marL="177800" indent="-177800">
              <a:spcAft>
                <a:spcPts val="300"/>
              </a:spcAft>
              <a:buSzPct val="100000"/>
              <a:buChar char="•"/>
            </a:pPr>
            <a:r>
              <a:rPr lang="en-US" sz="1000" b="1" dirty="0">
                <a:solidFill>
                  <a:srgbClr val="0E4F5C"/>
                </a:solidFill>
                <a:latin typeface="Calibri" pitchFamily="34" charset="0"/>
                <a:ea typeface="Calibri" pitchFamily="34" charset="-122"/>
                <a:cs typeface="Calibri" pitchFamily="34" charset="-120"/>
              </a:rPr>
              <a:t>Akış: </a:t>
            </a:r>
            <a:pPr indent="0" marL="0">
              <a:spcAft>
                <a:spcPts val="300"/>
              </a:spcAft>
              <a:buNone/>
            </a:pPr>
            <a:r>
              <a:rPr lang="en-US" sz="1000" dirty="0">
                <a:solidFill>
                  <a:srgbClr val="13232A"/>
                </a:solidFill>
                <a:latin typeface="Calibri" pitchFamily="34" charset="0"/>
                <a:ea typeface="Calibri" pitchFamily="34" charset="-122"/>
                <a:cs typeface="Calibri" pitchFamily="34" charset="-120"/>
              </a:rPr>
              <a:t>Açık → Cevaplandı → Kapatıldı. İleri tarihli alınış reddedilir.</a:t>
            </a:r>
            <a:endParaRPr lang="en-US" sz="1000" dirty="0"/>
          </a:p>
        </p:txBody>
      </p:sp>
      <p:sp>
        <p:nvSpPr>
          <p:cNvPr id="13" name="Shape 9"/>
          <p:cNvSpPr/>
          <p:nvPr/>
        </p:nvSpPr>
        <p:spPr>
          <a:xfrm>
            <a:off x="8412480" y="1417320"/>
            <a:ext cx="3200400" cy="4937760"/>
          </a:xfrm>
          <a:prstGeom prst="roundRect">
            <a:avLst>
              <a:gd name="adj" fmla="val 2857"/>
            </a:avLst>
          </a:prstGeom>
          <a:solidFill>
            <a:srgbClr val="F1F7F5"/>
          </a:solidFill>
          <a:ln w="9525">
            <a:solidFill>
              <a:srgbClr val="CFE6DF"/>
            </a:solidFill>
            <a:prstDash val="solid"/>
          </a:ln>
        </p:spPr>
      </p:sp>
      <p:sp>
        <p:nvSpPr>
          <p:cNvPr id="14" name="Text 10"/>
          <p:cNvSpPr txBox="1"/>
          <p:nvPr/>
        </p:nvSpPr>
        <p:spPr>
          <a:xfrm>
            <a:off x="8577072" y="1545336"/>
            <a:ext cx="287121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DÖF</a:t>
            </a:r>
            <a:endParaRPr lang="en-US" sz="1400" dirty="0"/>
          </a:p>
        </p:txBody>
      </p:sp>
      <p:sp>
        <p:nvSpPr>
          <p:cNvPr id="15" name="Text 11"/>
          <p:cNvSpPr txBox="1"/>
          <p:nvPr/>
        </p:nvSpPr>
        <p:spPr>
          <a:xfrm>
            <a:off x="8577072" y="1920240"/>
            <a:ext cx="2871216" cy="4343400"/>
          </a:xfrm>
          <a:prstGeom prst="rect">
            <a:avLst/>
          </a:prstGeom>
          <a:noFill/>
          <a:ln/>
        </p:spPr>
        <p:txBody>
          <a:bodyPr wrap="square" lIns="0" tIns="0" rIns="0" bIns="0" rtlCol="0" anchor="t"/>
          <a:lstStyle/>
          <a:p>
            <a:pPr marL="177800" indent="-177800">
              <a:spcAft>
                <a:spcPts val="300"/>
              </a:spcAft>
              <a:buSzPct val="100000"/>
              <a:buChar char="•"/>
            </a:pPr>
            <a:r>
              <a:rPr lang="en-US" sz="1000" b="1" dirty="0">
                <a:solidFill>
                  <a:srgbClr val="0E4F5C"/>
                </a:solidFill>
                <a:latin typeface="Calibri" pitchFamily="34" charset="0"/>
                <a:ea typeface="Calibri" pitchFamily="34" charset="-122"/>
                <a:cs typeface="Calibri" pitchFamily="34" charset="-120"/>
              </a:rPr>
              <a:t>Kaynak: </a:t>
            </a:r>
            <a:pPr indent="0" marL="0">
              <a:spcAft>
                <a:spcPts val="300"/>
              </a:spcAft>
              <a:buNone/>
            </a:pPr>
            <a:r>
              <a:rPr lang="en-US" sz="1000" dirty="0">
                <a:solidFill>
                  <a:srgbClr val="13232A"/>
                </a:solidFill>
                <a:latin typeface="Calibri" pitchFamily="34" charset="0"/>
                <a:ea typeface="Calibri" pitchFamily="34" charset="-122"/>
                <a:cs typeface="Calibri" pitchFamily="34" charset="-120"/>
              </a:rPr>
              <a:t>Olay bildirimi, Şikâyet, İç / dış denetim bulgusu, Diğer; olaydan tek tıkla açılır.</a:t>
            </a:r>
            <a:endParaRPr lang="en-US" sz="1000" dirty="0"/>
          </a:p>
          <a:p>
            <a:pPr marL="177800" indent="-177800">
              <a:spcAft>
                <a:spcPts val="300"/>
              </a:spcAft>
              <a:buSzPct val="100000"/>
              <a:buChar char="•"/>
            </a:pPr>
            <a:r>
              <a:rPr lang="en-US" sz="1000" b="1" dirty="0">
                <a:solidFill>
                  <a:srgbClr val="0E4F5C"/>
                </a:solidFill>
                <a:latin typeface="Calibri" pitchFamily="34" charset="0"/>
                <a:ea typeface="Calibri" pitchFamily="34" charset="-122"/>
                <a:cs typeface="Calibri" pitchFamily="34" charset="-120"/>
              </a:rPr>
              <a:t>Alanlar: </a:t>
            </a:r>
            <a:pPr indent="0" marL="0">
              <a:spcAft>
                <a:spcPts val="300"/>
              </a:spcAft>
              <a:buNone/>
            </a:pPr>
            <a:r>
              <a:rPr lang="en-US" sz="1000" dirty="0">
                <a:solidFill>
                  <a:srgbClr val="13232A"/>
                </a:solidFill>
                <a:latin typeface="Calibri" pitchFamily="34" charset="0"/>
                <a:ea typeface="Calibri" pitchFamily="34" charset="-122"/>
                <a:cs typeface="Calibri" pitchFamily="34" charset="-120"/>
              </a:rPr>
              <a:t>başlık, kök neden, aksiyon, sorumlu, termin.</a:t>
            </a:r>
            <a:endParaRPr lang="en-US" sz="1000" dirty="0"/>
          </a:p>
          <a:p>
            <a:pPr marL="177800" indent="-177800">
              <a:spcAft>
                <a:spcPts val="300"/>
              </a:spcAft>
              <a:buSzPct val="100000"/>
              <a:buChar char="•"/>
            </a:pPr>
            <a:r>
              <a:rPr lang="en-US" sz="1000" b="1" dirty="0">
                <a:solidFill>
                  <a:srgbClr val="0E4F5C"/>
                </a:solidFill>
                <a:latin typeface="Calibri" pitchFamily="34" charset="0"/>
                <a:ea typeface="Calibri" pitchFamily="34" charset="-122"/>
                <a:cs typeface="Calibri" pitchFamily="34" charset="-120"/>
              </a:rPr>
              <a:t>Akış: </a:t>
            </a:r>
            <a:pPr indent="0" marL="0">
              <a:spcAft>
                <a:spcPts val="300"/>
              </a:spcAft>
              <a:buNone/>
            </a:pPr>
            <a:r>
              <a:rPr lang="en-US" sz="1000" dirty="0">
                <a:solidFill>
                  <a:srgbClr val="13232A"/>
                </a:solidFill>
                <a:latin typeface="Calibri" pitchFamily="34" charset="0"/>
                <a:ea typeface="Calibri" pitchFamily="34" charset="-122"/>
                <a:cs typeface="Calibri" pitchFamily="34" charset="-120"/>
              </a:rPr>
              <a:t>Açık → Tamamlandı (doğrulama bekliyor) → Etkinliği doğrulandı.</a:t>
            </a:r>
            <a:endParaRPr lang="en-US" sz="1000" dirty="0"/>
          </a:p>
          <a:p>
            <a:pPr marL="177800" indent="-177800">
              <a:spcAft>
                <a:spcPts val="300"/>
              </a:spcAft>
              <a:buSzPct val="100000"/>
              <a:buChar char="•"/>
            </a:pPr>
            <a:r>
              <a:rPr lang="en-US" sz="1000" b="1" dirty="0">
                <a:solidFill>
                  <a:srgbClr val="0E4F5C"/>
                </a:solidFill>
                <a:latin typeface="Calibri" pitchFamily="34" charset="0"/>
                <a:ea typeface="Calibri" pitchFamily="34" charset="-122"/>
                <a:cs typeface="Calibri" pitchFamily="34" charset="-120"/>
              </a:rPr>
              <a:t>Sorumlu tamamlar; </a:t>
            </a:r>
            <a:pPr indent="0" marL="0">
              <a:spcAft>
                <a:spcPts val="300"/>
              </a:spcAft>
              <a:buNone/>
            </a:pPr>
            <a:r>
              <a:rPr lang="en-US" sz="1000" dirty="0">
                <a:solidFill>
                  <a:srgbClr val="13232A"/>
                </a:solidFill>
                <a:latin typeface="Calibri" pitchFamily="34" charset="0"/>
                <a:ea typeface="Calibri" pitchFamily="34" charset="-122"/>
                <a:cs typeface="Calibri" pitchFamily="34" charset="-120"/>
              </a:rPr>
              <a:t>başka bir kalite yetkilisi etkinliği doğrular (tamamlayan doğrulayamaz).</a:t>
            </a:r>
            <a:endParaRPr lang="en-US" sz="1000" dirty="0"/>
          </a:p>
          <a:p>
            <a:pPr marL="177800" indent="-177800">
              <a:spcAft>
                <a:spcPts val="300"/>
              </a:spcAft>
              <a:buSzPct val="100000"/>
              <a:buChar char="•"/>
            </a:pPr>
            <a:r>
              <a:rPr lang="en-US" sz="1000" b="1" dirty="0">
                <a:solidFill>
                  <a:srgbClr val="0E4F5C"/>
                </a:solidFill>
                <a:latin typeface="Calibri" pitchFamily="34" charset="0"/>
                <a:ea typeface="Calibri" pitchFamily="34" charset="-122"/>
                <a:cs typeface="Calibri" pitchFamily="34" charset="-120"/>
              </a:rPr>
              <a:t>Sorumlu kendi DÖF’lerini </a:t>
            </a:r>
            <a:pPr indent="0" marL="0">
              <a:spcAft>
                <a:spcPts val="300"/>
              </a:spcAft>
              <a:buNone/>
            </a:pPr>
            <a:r>
              <a:rPr lang="en-US" sz="1000" dirty="0">
                <a:solidFill>
                  <a:srgbClr val="13232A"/>
                </a:solidFill>
                <a:latin typeface="Calibri" pitchFamily="34" charset="0"/>
                <a:ea typeface="Calibri" pitchFamily="34" charset="-122"/>
                <a:cs typeface="Calibri" pitchFamily="34" charset="-120"/>
              </a:rPr>
              <a:t>“Bana atanan DÖF’ler”de görür.</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Alarm motoru ve eskalasyon</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Tüm modüllerin alarmları tek listede, önem sırasıyla: kritik → yakın → eksik → uyarı.</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46</a:t>
            </a:r>
            <a:endParaRPr lang="en-US" sz="900" dirty="0"/>
          </a:p>
        </p:txBody>
      </p:sp>
      <p:sp>
        <p:nvSpPr>
          <p:cNvPr id="6" name="Shape 4"/>
          <p:cNvSpPr/>
          <p:nvPr/>
        </p:nvSpPr>
        <p:spPr>
          <a:xfrm>
            <a:off x="512064" y="1426464"/>
            <a:ext cx="5559552" cy="1218140"/>
          </a:xfrm>
          <a:prstGeom prst="roundRect">
            <a:avLst>
              <a:gd name="adj" fmla="val 4504"/>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22-komuta-alarmlar.jpg">    </p:cNvPr>
          <p:cNvPicPr>
            <a:picLocks noChangeAspect="1"/>
          </p:cNvPicPr>
          <p:nvPr/>
        </p:nvPicPr>
        <p:blipFill>
          <a:blip r:embed="rId1"/>
          <a:stretch>
            <a:fillRect/>
          </a:stretch>
        </p:blipFill>
        <p:spPr>
          <a:xfrm>
            <a:off x="548640" y="1463040"/>
            <a:ext cx="5486400" cy="1144988"/>
          </a:xfrm>
          <a:prstGeom prst="rect">
            <a:avLst/>
          </a:prstGeom>
        </p:spPr>
      </p:pic>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1463040"/>
                <a:gridCol w="384048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Kaynak</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Kim görür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Personel belgesi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Kişinin kendisi ve personel yönetimi: her seviye. Komuta yetkilisi: kritik ve eksik</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Kurum belgesi</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Kurum belgesi yöneticisi: her seviye. Komuta yetkilisi: yakın, kritik, eksik</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Nöbet</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Planlayıcı ve onaylayıcı (onay bekleyen: onaylayıcı)</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Stok</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Stok sorumluları; narkotik farkı narkotik sorumlusuna</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Kalite</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Kalite yetkilileri; DÖF sorumlusunun kendisine de</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kaynaklar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Kritik seviyedekiler Komuta Merkezi yetkilisine de çıkar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graphicFrame>
        <p:nvGraphicFramePr>
          <p:cNvPr id="93" name="Table 1"/>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9692640"/>
                <a:gridCol w="137160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Alarm (örnek metin)</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Seviye</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“Zorunlu mali sorumluluk sigortası 1 gün önce doldu · işlemler askıda”</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Kritik</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“Tıbbi atık sözleşmesi 20 gün sonra doluyor”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Yakın</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“Dr. X · 8 zorunlu belge yüklenmemiş: …” (kişi başı tek satır)</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Eksik</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“Ekim 2026 nöbet çizelgesi yayında değil (6 gün kaldı)”</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Yakın</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“Diklofenak (lot L-YAKIN) SKT’sine 20 gün kaldı”</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Yakın</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“İlaç hatası bildirimi (Orta) incelenmeyi bekliyor” · “CİMER şikâyetine 4 gün kaldı”</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Yakın</a:t>
                      </a:r>
                      <a:endParaRPr lang="en-US" sz="100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sp>
        <p:nvSpPr>
          <p:cNvPr id="10" name="Text 5"/>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050" dirty="0">
                <a:solidFill>
                  <a:srgbClr val="3D4F57"/>
                </a:solidFill>
                <a:latin typeface="Calibri" pitchFamily="34" charset="0"/>
                <a:ea typeface="Calibri" pitchFamily="34" charset="-122"/>
                <a:cs typeface="Calibri" pitchFamily="34" charset="-120"/>
              </a:rPr>
              <a:t>Her satır ilgili ekrana bağlantıdır (personel kartı, ruhsat sayfası, çizelge, ürün kartı, kalite). İlk 6 satır gösterilir, “Tümünü göster” ile hepsi açılır.</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E4F5C"/>
        </a:solidFill>
      </p:bgPr>
    </p:bg>
    <p:spTree>
      <p:nvGrpSpPr>
        <p:cNvPr id="1" name=""/>
        <p:cNvGrpSpPr/>
        <p:nvPr/>
      </p:nvGrpSpPr>
      <p:grpSpPr>
        <a:xfrm>
          <a:off x="0" y="0"/>
          <a:ext cx="0" cy="0"/>
          <a:chOff x="0" y="0"/>
          <a:chExt cx="0" cy="0"/>
        </a:xfrm>
      </p:grpSpPr>
      <p:sp>
        <p:nvSpPr>
          <p:cNvPr id="2" name="Text 0"/>
          <p:cNvSpPr txBox="1"/>
          <p:nvPr/>
        </p:nvSpPr>
        <p:spPr>
          <a:xfrm>
            <a:off x="731520" y="1188720"/>
            <a:ext cx="2743200" cy="1280160"/>
          </a:xfrm>
          <a:prstGeom prst="rect">
            <a:avLst/>
          </a:prstGeom>
          <a:noFill/>
          <a:ln/>
        </p:spPr>
        <p:txBody>
          <a:bodyPr wrap="square" lIns="0" tIns="0" rIns="0" bIns="0" rtlCol="0" anchor="t"/>
          <a:lstStyle/>
          <a:p>
            <a:pPr indent="0" marL="0">
              <a:buNone/>
            </a:pPr>
            <a:r>
              <a:rPr lang="en-US" sz="8800" b="1" dirty="0">
                <a:solidFill>
                  <a:srgbClr val="D9694A"/>
                </a:solidFill>
                <a:latin typeface="Calibri" pitchFamily="34" charset="0"/>
                <a:ea typeface="Calibri" pitchFamily="34" charset="-122"/>
                <a:cs typeface="Calibri" pitchFamily="34" charset="-120"/>
              </a:rPr>
              <a:t>06</a:t>
            </a:r>
            <a:endParaRPr lang="en-US" sz="8800" dirty="0"/>
          </a:p>
        </p:txBody>
      </p:sp>
      <p:sp>
        <p:nvSpPr>
          <p:cNvPr id="3" name="Text 1"/>
          <p:cNvSpPr txBox="1"/>
          <p:nvPr/>
        </p:nvSpPr>
        <p:spPr>
          <a:xfrm>
            <a:off x="731520" y="2560320"/>
            <a:ext cx="7315200" cy="9144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Güvenlik, uyum ve kalite</a:t>
            </a:r>
            <a:endParaRPr lang="en-US" sz="4000" dirty="0"/>
          </a:p>
        </p:txBody>
      </p:sp>
      <p:sp>
        <p:nvSpPr>
          <p:cNvPr id="4" name="Text 2"/>
          <p:cNvSpPr txBox="1"/>
          <p:nvPr/>
        </p:nvSpPr>
        <p:spPr>
          <a:xfrm>
            <a:off x="731520" y="3520440"/>
            <a:ext cx="6766560" cy="1097280"/>
          </a:xfrm>
          <a:prstGeom prst="rect">
            <a:avLst/>
          </a:prstGeom>
          <a:noFill/>
          <a:ln/>
        </p:spPr>
        <p:txBody>
          <a:bodyPr wrap="square" lIns="0" tIns="0" rIns="0" bIns="0" rtlCol="0" anchor="t"/>
          <a:lstStyle/>
          <a:p>
            <a:pPr indent="0" marL="0">
              <a:buNone/>
            </a:pPr>
            <a:r>
              <a:rPr lang="en-US" sz="1600" dirty="0">
                <a:solidFill>
                  <a:srgbClr val="CFE6DF"/>
                </a:solidFill>
                <a:latin typeface="Calibri" pitchFamily="34" charset="0"/>
                <a:ea typeface="Calibri" pitchFamily="34" charset="-122"/>
                <a:cs typeface="Calibri" pitchFamily="34" charset="-120"/>
              </a:rPr>
              <a:t>Verinin nasıl korunduğu, her işlemin nasıl izlendiği, KVKK ve mevzuat yaklaşımı; ürünün test güvencesi ve sıradaki adımlar.</a:t>
            </a:r>
            <a:endParaRPr lang="en-US" sz="1600" dirty="0"/>
          </a:p>
        </p:txBody>
      </p:sp>
      <p:sp>
        <p:nvSpPr>
          <p:cNvPr id="5" name="Text 3"/>
          <p:cNvSpPr txBox="1"/>
          <p:nvPr/>
        </p:nvSpPr>
        <p:spPr>
          <a:xfrm>
            <a:off x="8138160" y="1371600"/>
            <a:ext cx="3566160" cy="4389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Güvenlik katmanları</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Denetim izi</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Görevler ayrılığı</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KVKK ve mevzuat</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Mobil ve erişilebilirlik</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Rol bazlı günlük kullanım</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Yol haritası</a:t>
            </a:r>
            <a:endParaRPr lang="en-US" sz="1500" dirty="0"/>
          </a:p>
        </p:txBody>
      </p:sp>
      <p:pic>
        <p:nvPicPr>
          <p:cNvPr id="6" name="Image 0" descr="preencoded.png">    </p:cNvPr>
          <p:cNvPicPr>
            <a:picLocks noChangeAspect="1"/>
          </p:cNvPicPr>
          <p:nvPr/>
        </p:nvPicPr>
        <p:blipFill>
          <a:blip r:embed="rId1">
            <a:alphaModFix amt="80000"/>
          </a:blip>
          <a:stretch>
            <a:fillRect/>
          </a:stretch>
        </p:blipFill>
        <p:spPr>
          <a:xfrm>
            <a:off x="10957255" y="5806440"/>
            <a:ext cx="640080" cy="64008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Güvenlik katmanları</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Bir katman aşılsa bile diğerleri veriyi korur.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48</a:t>
            </a:r>
            <a:endParaRPr lang="en-US" sz="900" dirty="0"/>
          </a:p>
        </p:txBody>
      </p:sp>
      <p:sp>
        <p:nvSpPr>
          <p:cNvPr id="6" name="Shape 4"/>
          <p:cNvSpPr/>
          <p:nvPr/>
        </p:nvSpPr>
        <p:spPr>
          <a:xfrm>
            <a:off x="548640" y="1417320"/>
            <a:ext cx="11064240" cy="731520"/>
          </a:xfrm>
          <a:prstGeom prst="roundRect">
            <a:avLst>
              <a:gd name="adj" fmla="val 10000"/>
            </a:avLst>
          </a:prstGeom>
          <a:solidFill>
            <a:srgbClr val="E3F0EC"/>
          </a:solidFill>
          <a:ln w="12700">
            <a:solidFill>
              <a:srgbClr val="CFE6DF"/>
            </a:solidFill>
            <a:prstDash val="solid"/>
          </a:ln>
        </p:spPr>
      </p:sp>
      <p:sp>
        <p:nvSpPr>
          <p:cNvPr id="7" name="Text 5"/>
          <p:cNvSpPr txBox="1"/>
          <p:nvPr/>
        </p:nvSpPr>
        <p:spPr>
          <a:xfrm>
            <a:off x="777240" y="1508760"/>
            <a:ext cx="2194560" cy="548640"/>
          </a:xfrm>
          <a:prstGeom prst="rect">
            <a:avLst/>
          </a:prstGeom>
          <a:noFill/>
          <a:ln/>
        </p:spPr>
        <p:txBody>
          <a:bodyPr wrap="square" lIns="0" tIns="0" rIns="0" bIns="0" rtlCol="0" anchor="ctr"/>
          <a:lstStyle/>
          <a:p>
            <a:pPr indent="0" marL="0">
              <a:buNone/>
            </a:pPr>
            <a:r>
              <a:rPr lang="en-US" sz="1300" b="1" dirty="0">
                <a:solidFill>
                  <a:srgbClr val="0E4F5C"/>
                </a:solidFill>
                <a:latin typeface="Calibri" pitchFamily="34" charset="0"/>
                <a:ea typeface="Calibri" pitchFamily="34" charset="-122"/>
                <a:cs typeface="Calibri" pitchFamily="34" charset="-120"/>
              </a:rPr>
              <a:t>Kiracı izolasyonu</a:t>
            </a:r>
            <a:endParaRPr lang="en-US" sz="1300" dirty="0"/>
          </a:p>
        </p:txBody>
      </p:sp>
      <p:sp>
        <p:nvSpPr>
          <p:cNvPr id="8" name="Text 6"/>
          <p:cNvSpPr txBox="1"/>
          <p:nvPr/>
        </p:nvSpPr>
        <p:spPr>
          <a:xfrm>
            <a:off x="3017520" y="1508760"/>
            <a:ext cx="8321040" cy="548640"/>
          </a:xfrm>
          <a:prstGeom prst="rect">
            <a:avLst/>
          </a:prstGeom>
          <a:noFill/>
          <a:ln/>
        </p:spPr>
        <p:txBody>
          <a:bodyPr wrap="square" lIns="0" tIns="0" rIns="0" bIns="0" rtlCol="0" anchor="ctr"/>
          <a:lstStyle/>
          <a:p>
            <a:pPr indent="0" marL="0">
              <a:buNone/>
            </a:pPr>
            <a:r>
              <a:rPr lang="en-US" sz="1100" dirty="0">
                <a:solidFill>
                  <a:srgbClr val="3D4F57"/>
                </a:solidFill>
                <a:latin typeface="Calibri" pitchFamily="34" charset="0"/>
                <a:ea typeface="Calibri" pitchFamily="34" charset="-122"/>
                <a:cs typeface="Calibri" pitchFamily="34" charset="-120"/>
              </a:rPr>
              <a:t>Her tabloda işletme sütunu + PostgreSQL satır düzeyi güvenlik. Uygulama kullanıcısı tablo sahibi değil; kod hatası bile başka kurumun verisini döndüremez.</a:t>
            </a:r>
            <a:endParaRPr lang="en-US" sz="1100" dirty="0"/>
          </a:p>
        </p:txBody>
      </p:sp>
      <p:sp>
        <p:nvSpPr>
          <p:cNvPr id="9" name="Shape 7"/>
          <p:cNvSpPr/>
          <p:nvPr/>
        </p:nvSpPr>
        <p:spPr>
          <a:xfrm>
            <a:off x="777240" y="2240280"/>
            <a:ext cx="10607040" cy="731520"/>
          </a:xfrm>
          <a:prstGeom prst="roundRect">
            <a:avLst>
              <a:gd name="adj" fmla="val 10000"/>
            </a:avLst>
          </a:prstGeom>
          <a:solidFill>
            <a:srgbClr val="F1F7F5"/>
          </a:solidFill>
          <a:ln w="12700">
            <a:solidFill>
              <a:srgbClr val="CFE6DF"/>
            </a:solidFill>
            <a:prstDash val="solid"/>
          </a:ln>
        </p:spPr>
      </p:sp>
      <p:sp>
        <p:nvSpPr>
          <p:cNvPr id="10" name="Text 8"/>
          <p:cNvSpPr txBox="1"/>
          <p:nvPr/>
        </p:nvSpPr>
        <p:spPr>
          <a:xfrm>
            <a:off x="1005840" y="2331720"/>
            <a:ext cx="2194560" cy="548640"/>
          </a:xfrm>
          <a:prstGeom prst="rect">
            <a:avLst/>
          </a:prstGeom>
          <a:noFill/>
          <a:ln/>
        </p:spPr>
        <p:txBody>
          <a:bodyPr wrap="square" lIns="0" tIns="0" rIns="0" bIns="0" rtlCol="0" anchor="ctr"/>
          <a:lstStyle/>
          <a:p>
            <a:pPr indent="0" marL="0">
              <a:buNone/>
            </a:pPr>
            <a:r>
              <a:rPr lang="en-US" sz="1300" b="1" dirty="0">
                <a:solidFill>
                  <a:srgbClr val="0E4F5C"/>
                </a:solidFill>
                <a:latin typeface="Calibri" pitchFamily="34" charset="0"/>
                <a:ea typeface="Calibri" pitchFamily="34" charset="-122"/>
                <a:cs typeface="Calibri" pitchFamily="34" charset="-120"/>
              </a:rPr>
              <a:t>Kimlik ve oturum</a:t>
            </a:r>
            <a:endParaRPr lang="en-US" sz="1300" dirty="0"/>
          </a:p>
        </p:txBody>
      </p:sp>
      <p:sp>
        <p:nvSpPr>
          <p:cNvPr id="11" name="Text 9"/>
          <p:cNvSpPr txBox="1"/>
          <p:nvPr/>
        </p:nvSpPr>
        <p:spPr>
          <a:xfrm>
            <a:off x="3246120" y="2331720"/>
            <a:ext cx="7863840" cy="548640"/>
          </a:xfrm>
          <a:prstGeom prst="rect">
            <a:avLst/>
          </a:prstGeom>
          <a:noFill/>
          <a:ln/>
        </p:spPr>
        <p:txBody>
          <a:bodyPr wrap="square" lIns="0" tIns="0" rIns="0" bIns="0" rtlCol="0" anchor="ctr"/>
          <a:lstStyle/>
          <a:p>
            <a:pPr indent="0" marL="0">
              <a:buNone/>
            </a:pPr>
            <a:r>
              <a:rPr lang="en-US" sz="1100" dirty="0">
                <a:solidFill>
                  <a:srgbClr val="3D4F57"/>
                </a:solidFill>
                <a:latin typeface="Calibri" pitchFamily="34" charset="0"/>
                <a:ea typeface="Calibri" pitchFamily="34" charset="-122"/>
                <a:cs typeface="Calibri" pitchFamily="34" charset="-120"/>
              </a:rPr>
              <a:t>Argon2 parola özeti; 8 saatlik imzalı anahtar httpOnly + SameSite=Strict çerezde; üretimde yalnız HTTPS.</a:t>
            </a:r>
            <a:endParaRPr lang="en-US" sz="1100" dirty="0"/>
          </a:p>
        </p:txBody>
      </p:sp>
      <p:sp>
        <p:nvSpPr>
          <p:cNvPr id="12" name="Shape 10"/>
          <p:cNvSpPr/>
          <p:nvPr/>
        </p:nvSpPr>
        <p:spPr>
          <a:xfrm>
            <a:off x="1005840" y="3063240"/>
            <a:ext cx="10149840" cy="731520"/>
          </a:xfrm>
          <a:prstGeom prst="roundRect">
            <a:avLst>
              <a:gd name="adj" fmla="val 10000"/>
            </a:avLst>
          </a:prstGeom>
          <a:solidFill>
            <a:srgbClr val="E3F0EC"/>
          </a:solidFill>
          <a:ln w="12700">
            <a:solidFill>
              <a:srgbClr val="CFE6DF"/>
            </a:solidFill>
            <a:prstDash val="solid"/>
          </a:ln>
        </p:spPr>
      </p:sp>
      <p:sp>
        <p:nvSpPr>
          <p:cNvPr id="13" name="Text 11"/>
          <p:cNvSpPr txBox="1"/>
          <p:nvPr/>
        </p:nvSpPr>
        <p:spPr>
          <a:xfrm>
            <a:off x="1234440" y="3154680"/>
            <a:ext cx="2194560" cy="548640"/>
          </a:xfrm>
          <a:prstGeom prst="rect">
            <a:avLst/>
          </a:prstGeom>
          <a:noFill/>
          <a:ln/>
        </p:spPr>
        <p:txBody>
          <a:bodyPr wrap="square" lIns="0" tIns="0" rIns="0" bIns="0" rtlCol="0" anchor="ctr"/>
          <a:lstStyle/>
          <a:p>
            <a:pPr indent="0" marL="0">
              <a:buNone/>
            </a:pPr>
            <a:r>
              <a:rPr lang="en-US" sz="1300" b="1" dirty="0">
                <a:solidFill>
                  <a:srgbClr val="0E4F5C"/>
                </a:solidFill>
                <a:latin typeface="Calibri" pitchFamily="34" charset="0"/>
                <a:ea typeface="Calibri" pitchFamily="34" charset="-122"/>
                <a:cs typeface="Calibri" pitchFamily="34" charset="-120"/>
              </a:rPr>
              <a:t>Yetki</a:t>
            </a:r>
            <a:endParaRPr lang="en-US" sz="1300" dirty="0"/>
          </a:p>
        </p:txBody>
      </p:sp>
      <p:sp>
        <p:nvSpPr>
          <p:cNvPr id="14" name="Text 12"/>
          <p:cNvSpPr txBox="1"/>
          <p:nvPr/>
        </p:nvSpPr>
        <p:spPr>
          <a:xfrm>
            <a:off x="3474720" y="3154680"/>
            <a:ext cx="7406640" cy="548640"/>
          </a:xfrm>
          <a:prstGeom prst="rect">
            <a:avLst/>
          </a:prstGeom>
          <a:noFill/>
          <a:ln/>
        </p:spPr>
        <p:txBody>
          <a:bodyPr wrap="square" lIns="0" tIns="0" rIns="0" bIns="0" rtlCol="0" anchor="ctr"/>
          <a:lstStyle/>
          <a:p>
            <a:pPr indent="0" marL="0">
              <a:buNone/>
            </a:pPr>
            <a:r>
              <a:rPr lang="en-US" sz="1100" dirty="0">
                <a:solidFill>
                  <a:srgbClr val="3D4F57"/>
                </a:solidFill>
                <a:latin typeface="Calibri" pitchFamily="34" charset="0"/>
                <a:ea typeface="Calibri" pitchFamily="34" charset="-122"/>
                <a:cs typeface="Calibri" pitchFamily="34" charset="-120"/>
              </a:rPr>
              <a:t>Her istekte veritabanından güncel rol; şube bağlamı; meslek kuralı; belge askısı. Ret kayıtlı.</a:t>
            </a:r>
            <a:endParaRPr lang="en-US" sz="1100" dirty="0"/>
          </a:p>
        </p:txBody>
      </p:sp>
      <p:sp>
        <p:nvSpPr>
          <p:cNvPr id="15" name="Shape 13"/>
          <p:cNvSpPr/>
          <p:nvPr/>
        </p:nvSpPr>
        <p:spPr>
          <a:xfrm>
            <a:off x="1234440" y="3886200"/>
            <a:ext cx="9692640" cy="731520"/>
          </a:xfrm>
          <a:prstGeom prst="roundRect">
            <a:avLst>
              <a:gd name="adj" fmla="val 10000"/>
            </a:avLst>
          </a:prstGeom>
          <a:solidFill>
            <a:srgbClr val="F1F7F5"/>
          </a:solidFill>
          <a:ln w="12700">
            <a:solidFill>
              <a:srgbClr val="CFE6DF"/>
            </a:solidFill>
            <a:prstDash val="solid"/>
          </a:ln>
        </p:spPr>
      </p:sp>
      <p:sp>
        <p:nvSpPr>
          <p:cNvPr id="16" name="Text 14"/>
          <p:cNvSpPr txBox="1"/>
          <p:nvPr/>
        </p:nvSpPr>
        <p:spPr>
          <a:xfrm>
            <a:off x="1463040" y="3977640"/>
            <a:ext cx="2194560" cy="548640"/>
          </a:xfrm>
          <a:prstGeom prst="rect">
            <a:avLst/>
          </a:prstGeom>
          <a:noFill/>
          <a:ln/>
        </p:spPr>
        <p:txBody>
          <a:bodyPr wrap="square" lIns="0" tIns="0" rIns="0" bIns="0" rtlCol="0" anchor="ctr"/>
          <a:lstStyle/>
          <a:p>
            <a:pPr indent="0" marL="0">
              <a:buNone/>
            </a:pPr>
            <a:r>
              <a:rPr lang="en-US" sz="1300" b="1" dirty="0">
                <a:solidFill>
                  <a:srgbClr val="0E4F5C"/>
                </a:solidFill>
                <a:latin typeface="Calibri" pitchFamily="34" charset="0"/>
                <a:ea typeface="Calibri" pitchFamily="34" charset="-122"/>
                <a:cs typeface="Calibri" pitchFamily="34" charset="-120"/>
              </a:rPr>
              <a:t>Alan şifreleme</a:t>
            </a:r>
            <a:endParaRPr lang="en-US" sz="1300" dirty="0"/>
          </a:p>
        </p:txBody>
      </p:sp>
      <p:sp>
        <p:nvSpPr>
          <p:cNvPr id="17" name="Text 15"/>
          <p:cNvSpPr txBox="1"/>
          <p:nvPr/>
        </p:nvSpPr>
        <p:spPr>
          <a:xfrm>
            <a:off x="3703320" y="3977640"/>
            <a:ext cx="6949440" cy="548640"/>
          </a:xfrm>
          <a:prstGeom prst="rect">
            <a:avLst/>
          </a:prstGeom>
          <a:noFill/>
          <a:ln/>
        </p:spPr>
        <p:txBody>
          <a:bodyPr wrap="square" lIns="0" tIns="0" rIns="0" bIns="0" rtlCol="0" anchor="ctr"/>
          <a:lstStyle/>
          <a:p>
            <a:pPr indent="0" marL="0">
              <a:buNone/>
            </a:pPr>
            <a:r>
              <a:rPr lang="en-US" sz="1100" dirty="0">
                <a:solidFill>
                  <a:srgbClr val="3D4F57"/>
                </a:solidFill>
                <a:latin typeface="Calibri" pitchFamily="34" charset="0"/>
                <a:ea typeface="Calibri" pitchFamily="34" charset="-122"/>
                <a:cs typeface="Calibri" pitchFamily="34" charset="-120"/>
              </a:rPr>
              <a:t>T.C. kimlik no, isimsiz bildiren kimliği: AES-256-GCM (HKDF ile ayrı anahtarlar); kör indeks HMAC-SHA256.</a:t>
            </a:r>
            <a:endParaRPr lang="en-US" sz="1100" dirty="0"/>
          </a:p>
        </p:txBody>
      </p:sp>
      <p:sp>
        <p:nvSpPr>
          <p:cNvPr id="18" name="Shape 16"/>
          <p:cNvSpPr/>
          <p:nvPr/>
        </p:nvSpPr>
        <p:spPr>
          <a:xfrm>
            <a:off x="1463040" y="4709160"/>
            <a:ext cx="9235440" cy="731520"/>
          </a:xfrm>
          <a:prstGeom prst="roundRect">
            <a:avLst>
              <a:gd name="adj" fmla="val 10000"/>
            </a:avLst>
          </a:prstGeom>
          <a:solidFill>
            <a:srgbClr val="E3F0EC"/>
          </a:solidFill>
          <a:ln w="12700">
            <a:solidFill>
              <a:srgbClr val="CFE6DF"/>
            </a:solidFill>
            <a:prstDash val="solid"/>
          </a:ln>
        </p:spPr>
      </p:sp>
      <p:sp>
        <p:nvSpPr>
          <p:cNvPr id="19" name="Text 17"/>
          <p:cNvSpPr txBox="1"/>
          <p:nvPr/>
        </p:nvSpPr>
        <p:spPr>
          <a:xfrm>
            <a:off x="1691640" y="4800600"/>
            <a:ext cx="2194560" cy="548640"/>
          </a:xfrm>
          <a:prstGeom prst="rect">
            <a:avLst/>
          </a:prstGeom>
          <a:noFill/>
          <a:ln/>
        </p:spPr>
        <p:txBody>
          <a:bodyPr wrap="square" lIns="0" tIns="0" rIns="0" bIns="0" rtlCol="0" anchor="ctr"/>
          <a:lstStyle/>
          <a:p>
            <a:pPr indent="0" marL="0">
              <a:buNone/>
            </a:pPr>
            <a:r>
              <a:rPr lang="en-US" sz="1300" b="1" dirty="0">
                <a:solidFill>
                  <a:srgbClr val="0E4F5C"/>
                </a:solidFill>
                <a:latin typeface="Calibri" pitchFamily="34" charset="0"/>
                <a:ea typeface="Calibri" pitchFamily="34" charset="-122"/>
                <a:cs typeface="Calibri" pitchFamily="34" charset="-120"/>
              </a:rPr>
              <a:t>Dosya güvenliği</a:t>
            </a:r>
            <a:endParaRPr lang="en-US" sz="1300" dirty="0"/>
          </a:p>
        </p:txBody>
      </p:sp>
      <p:sp>
        <p:nvSpPr>
          <p:cNvPr id="20" name="Text 18"/>
          <p:cNvSpPr txBox="1"/>
          <p:nvPr/>
        </p:nvSpPr>
        <p:spPr>
          <a:xfrm>
            <a:off x="3931920" y="4800600"/>
            <a:ext cx="6492240" cy="548640"/>
          </a:xfrm>
          <a:prstGeom prst="rect">
            <a:avLst/>
          </a:prstGeom>
          <a:noFill/>
          <a:ln/>
        </p:spPr>
        <p:txBody>
          <a:bodyPr wrap="square" lIns="0" tIns="0" rIns="0" bIns="0" rtlCol="0" anchor="ctr"/>
          <a:lstStyle/>
          <a:p>
            <a:pPr indent="0" marL="0">
              <a:buNone/>
            </a:pPr>
            <a:r>
              <a:rPr lang="en-US" sz="1100" dirty="0">
                <a:solidFill>
                  <a:srgbClr val="3D4F57"/>
                </a:solidFill>
                <a:latin typeface="Calibri" pitchFamily="34" charset="0"/>
                <a:ea typeface="Calibri" pitchFamily="34" charset="-122"/>
                <a:cs typeface="Calibri" pitchFamily="34" charset="-120"/>
              </a:rPr>
              <a:t>Tür imzadan doğrulama, 10 MB sınırı, şifreli saklama, özet doğrulama, nosniff, önbelleksiz indirme.</a:t>
            </a:r>
            <a:endParaRPr lang="en-US" sz="1100" dirty="0"/>
          </a:p>
        </p:txBody>
      </p:sp>
      <p:sp>
        <p:nvSpPr>
          <p:cNvPr id="21" name="Shape 19"/>
          <p:cNvSpPr/>
          <p:nvPr/>
        </p:nvSpPr>
        <p:spPr>
          <a:xfrm>
            <a:off x="1691640" y="5532120"/>
            <a:ext cx="8778240" cy="731520"/>
          </a:xfrm>
          <a:prstGeom prst="roundRect">
            <a:avLst>
              <a:gd name="adj" fmla="val 10000"/>
            </a:avLst>
          </a:prstGeom>
          <a:solidFill>
            <a:srgbClr val="F1F7F5"/>
          </a:solidFill>
          <a:ln w="12700">
            <a:solidFill>
              <a:srgbClr val="CFE6DF"/>
            </a:solidFill>
            <a:prstDash val="solid"/>
          </a:ln>
        </p:spPr>
      </p:sp>
      <p:sp>
        <p:nvSpPr>
          <p:cNvPr id="22" name="Text 20"/>
          <p:cNvSpPr txBox="1"/>
          <p:nvPr/>
        </p:nvSpPr>
        <p:spPr>
          <a:xfrm>
            <a:off x="1920240" y="5623560"/>
            <a:ext cx="2194560" cy="548640"/>
          </a:xfrm>
          <a:prstGeom prst="rect">
            <a:avLst/>
          </a:prstGeom>
          <a:noFill/>
          <a:ln/>
        </p:spPr>
        <p:txBody>
          <a:bodyPr wrap="square" lIns="0" tIns="0" rIns="0" bIns="0" rtlCol="0" anchor="ctr"/>
          <a:lstStyle/>
          <a:p>
            <a:pPr indent="0" marL="0">
              <a:buNone/>
            </a:pPr>
            <a:r>
              <a:rPr lang="en-US" sz="1300" b="1" dirty="0">
                <a:solidFill>
                  <a:srgbClr val="0E4F5C"/>
                </a:solidFill>
                <a:latin typeface="Calibri" pitchFamily="34" charset="0"/>
                <a:ea typeface="Calibri" pitchFamily="34" charset="-122"/>
                <a:cs typeface="Calibri" pitchFamily="34" charset="-120"/>
              </a:rPr>
              <a:t>Değiştirilemezlik</a:t>
            </a:r>
            <a:endParaRPr lang="en-US" sz="1300" dirty="0"/>
          </a:p>
        </p:txBody>
      </p:sp>
      <p:sp>
        <p:nvSpPr>
          <p:cNvPr id="23" name="Text 21"/>
          <p:cNvSpPr txBox="1"/>
          <p:nvPr/>
        </p:nvSpPr>
        <p:spPr>
          <a:xfrm>
            <a:off x="4160520" y="5623560"/>
            <a:ext cx="6035040" cy="548640"/>
          </a:xfrm>
          <a:prstGeom prst="rect">
            <a:avLst/>
          </a:prstGeom>
          <a:noFill/>
          <a:ln/>
        </p:spPr>
        <p:txBody>
          <a:bodyPr wrap="square" lIns="0" tIns="0" rIns="0" bIns="0" rtlCol="0" anchor="ctr"/>
          <a:lstStyle/>
          <a:p>
            <a:pPr indent="0" marL="0">
              <a:buNone/>
            </a:pPr>
            <a:r>
              <a:rPr lang="en-US" sz="1100" dirty="0">
                <a:solidFill>
                  <a:srgbClr val="3D4F57"/>
                </a:solidFill>
                <a:latin typeface="Calibri" pitchFamily="34" charset="0"/>
                <a:ea typeface="Calibri" pitchFamily="34" charset="-122"/>
                <a:cs typeface="Calibri" pitchFamily="34" charset="-120"/>
              </a:rPr>
              <a:t>Denetim izi, tahsilat, stok hareketleri, imzalı muayene, belge içeriği: veritabanı izinleri ve tetikleyicilerle korunur.</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Denetim izi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“Denetim İzi” ekranı: kim, ne zaman, hangi şubede, hangi IP’den, ne yaptı.</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49</a:t>
            </a:r>
            <a:endParaRPr lang="en-US" sz="900" dirty="0"/>
          </a:p>
        </p:txBody>
      </p:sp>
      <p:sp>
        <p:nvSpPr>
          <p:cNvPr id="6" name="Shape 4"/>
          <p:cNvSpPr/>
          <p:nvPr/>
        </p:nvSpPr>
        <p:spPr>
          <a:xfrm>
            <a:off x="512064" y="1380744"/>
            <a:ext cx="6291072" cy="3959352"/>
          </a:xfrm>
          <a:prstGeom prst="roundRect">
            <a:avLst>
              <a:gd name="adj" fmla="val 1386"/>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07-denetim-izi.jpg">    </p:cNvPr>
          <p:cNvPicPr>
            <a:picLocks noChangeAspect="1"/>
          </p:cNvPicPr>
          <p:nvPr/>
        </p:nvPicPr>
        <p:blipFill>
          <a:blip r:embed="rId1"/>
          <a:stretch>
            <a:fillRect/>
          </a:stretch>
        </p:blipFill>
        <p:spPr>
          <a:xfrm>
            <a:off x="548640" y="1417320"/>
            <a:ext cx="6217920" cy="3886200"/>
          </a:xfrm>
          <a:prstGeom prst="rect">
            <a:avLst/>
          </a:prstGeom>
        </p:spPr>
      </p:pic>
      <p:sp>
        <p:nvSpPr>
          <p:cNvPr id="8" name="Text 5"/>
          <p:cNvSpPr txBox="1"/>
          <p:nvPr/>
        </p:nvSpPr>
        <p:spPr>
          <a:xfrm>
            <a:off x="7040880" y="1463040"/>
            <a:ext cx="4572000" cy="4892040"/>
          </a:xfrm>
          <a:prstGeom prst="rect">
            <a:avLst/>
          </a:prstGeom>
          <a:noFill/>
          <a:ln/>
        </p:spPr>
        <p:txBody>
          <a:bodyPr wrap="square" lIns="0" tIns="0" rIns="0" bIns="0" rtlCol="0" anchor="t"/>
          <a:lstStyle/>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Hash zinciri: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her kayıt öncekinin SHA-256 özetini içerir; araya kayıt eklemek, değiştirmek veya silmek zinciri bozar.</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Değiştirilemez: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güncelleme ve silme veritabanında engelli.</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Okumalar da kayıtlı: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hasta kartı, açık kimlik no, muayene, muayene listesi, personel kartı, belge indirme, lot izleme.</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Vurgular: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“ACİL ERİŞİM” ve “Kasa FARKLI kapatıldı” gibi olaylar renkli.</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İsimsiz olay bildiriminde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kişi ve IP yazılmaz.</a:t>
            </a:r>
            <a:endParaRPr lang="en-US" sz="1100" dirty="0"/>
          </a:p>
          <a:p>
            <a:pPr marL="177800" indent="-177800">
              <a:spcAft>
                <a:spcPts val="500"/>
              </a:spcAft>
              <a:buSzPct val="100000"/>
              <a:buChar char="•"/>
            </a:pPr>
            <a:r>
              <a:rPr lang="en-US" sz="1100" b="1" dirty="0">
                <a:solidFill>
                  <a:srgbClr val="0E4F5C"/>
                </a:solidFill>
                <a:latin typeface="Calibri" pitchFamily="34" charset="0"/>
                <a:ea typeface="Calibri" pitchFamily="34" charset="-122"/>
                <a:cs typeface="Calibri" pitchFamily="34" charset="-120"/>
              </a:rPr>
              <a:t>Görme yetkisi: </a:t>
            </a:r>
            <a:pPr indent="0" marL="0">
              <a:spcAft>
                <a:spcPts val="500"/>
              </a:spcAft>
              <a:buNone/>
            </a:pPr>
            <a:r>
              <a:rPr lang="en-US" sz="1100" dirty="0">
                <a:solidFill>
                  <a:srgbClr val="13232A"/>
                </a:solidFill>
                <a:latin typeface="Calibri" pitchFamily="34" charset="0"/>
                <a:ea typeface="Calibri" pitchFamily="34" charset="-122"/>
                <a:cs typeface="Calibri" pitchFamily="34" charset="-120"/>
              </a:rPr>
              <a:t>sahip, genel müdür, mesul müdür, kalite sorumlusu. Tüm kayıt türleri için bkz. Ek.</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Görevler ayrılığı (dört göz) kuralları</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Kritik işlemler tek kişinin elinde tamamlanamaz.</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50</a:t>
            </a:r>
            <a:endParaRPr lang="en-US" sz="9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828800"/>
                <a:gridCol w="6035040"/>
                <a:gridCol w="320040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İşlem</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Kural</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Engellendiğinde</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Rol atama</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Kimse kendine rol atayamaz; sağlık rolünü mesul müdür, mesul müdürü sahip atar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Reddedilir, kayda geçer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Fiyat değişikliği</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Talep eden onaylayamaz (sahip doğrudan yayınlar)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“Kendi talebinizi onaylayamazsınız”</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Yüksek indirim</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%20 üstünü yalnız iade/iptal yetkilisi uygular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Düğme kapalı + uyarı</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İade</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Tahsilatı alan kişi iade edemez; iade tahsilatı aşamaz</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“Başka bir yetkili yapmalıdır”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Kasa</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Fark varsa açıklama; kapanmış güne hareket yok</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Reddedilir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Nöbet çizelgesi</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Onaya gönderen onaylayamaz; ihlalde gerekçe</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“Onaya kendi gönderdiğiniz…”</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Narkotik</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Çıkış/sayımda farklı sağlık meslek mensubu şahit</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“Şahit seçin” / “uygun değil”</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DÖF</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Tamamlayan etkinliği doğrulayamaz</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“Başka bir yetkili doğrulamalı”</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Tıbbi şikâyet</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Cevabı başhekim/mesul müdür verir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“Tıbbi içerikli şikâyeti…”</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Muayene imzası</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Parola yeniden istenir; imzalı kayıt değişmez</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50" dirty="0">
                          <a:solidFill>
                            <a:srgbClr val="13232A"/>
                          </a:solidFill>
                          <a:latin typeface="Calibri" pitchFamily="34" charset="0"/>
                          <a:ea typeface="Calibri" pitchFamily="34" charset="-122"/>
                          <a:cs typeface="Calibri" pitchFamily="34" charset="-120"/>
                        </a:rPr>
                        <a:t>Yanlış parola kayda geçer</a:t>
                      </a:r>
                      <a:endParaRPr lang="en-US" sz="1050" dirty="0">
                        <a:latin typeface="Calibri" charset="0"/>
                        <a:ea typeface="Calibri" charset="0"/>
                        <a:cs typeface="Calibri" charset="0"/>
                      </a:endParaRPr>
                    </a:p>
                  </a:txBody>
                  <a:tcPr marL="63500" marR="635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KVKK ve mevzuat yaklaşımı</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Uygulamadaki karşılıkları; hukuki metinler canlıdan önce uzman onayı bekliyor (K8).</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51</a:t>
            </a:r>
            <a:endParaRPr lang="en-US" sz="900" dirty="0"/>
          </a:p>
        </p:txBody>
      </p:sp>
      <p:sp>
        <p:nvSpPr>
          <p:cNvPr id="6" name="Shape 4"/>
          <p:cNvSpPr/>
          <p:nvPr/>
        </p:nvSpPr>
        <p:spPr>
          <a:xfrm>
            <a:off x="548640" y="1417320"/>
            <a:ext cx="5486400" cy="2331720"/>
          </a:xfrm>
          <a:prstGeom prst="roundRect">
            <a:avLst>
              <a:gd name="adj" fmla="val 3922"/>
            </a:avLst>
          </a:prstGeom>
          <a:solidFill>
            <a:srgbClr val="F1F7F5"/>
          </a:solidFill>
          <a:ln w="9525">
            <a:solidFill>
              <a:srgbClr val="CFE6DF"/>
            </a:solidFill>
            <a:prstDash val="solid"/>
          </a:ln>
        </p:spPr>
      </p:sp>
      <p:sp>
        <p:nvSpPr>
          <p:cNvPr id="7" name="Text 5"/>
          <p:cNvSpPr txBox="1"/>
          <p:nvPr/>
        </p:nvSpPr>
        <p:spPr>
          <a:xfrm>
            <a:off x="713232" y="1545336"/>
            <a:ext cx="515721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Kişisel veriler (KVKK)</a:t>
            </a:r>
            <a:endParaRPr lang="en-US" sz="1400" dirty="0"/>
          </a:p>
        </p:txBody>
      </p:sp>
      <p:sp>
        <p:nvSpPr>
          <p:cNvPr id="8" name="Text 6"/>
          <p:cNvSpPr txBox="1"/>
          <p:nvPr/>
        </p:nvSpPr>
        <p:spPr>
          <a:xfrm>
            <a:off x="713232" y="1920240"/>
            <a:ext cx="5157216" cy="173736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Aydınlatma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hasta kaydında zorunlu; metin sürümü ve kanal kayıtlı.</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Açık rıza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ayrı ayrı verilir ve geri çekilir (6 tür), tarihli.</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Veri en aza indirme: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rol bazlı görünürlük, maskeli kimlik no, uyarı gizliliği.</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Erişim hesap verebilirliği: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görüntülemeler kayıtlı.</a:t>
            </a:r>
            <a:endParaRPr lang="en-US" sz="1100" dirty="0"/>
          </a:p>
        </p:txBody>
      </p:sp>
      <p:sp>
        <p:nvSpPr>
          <p:cNvPr id="9" name="Shape 7"/>
          <p:cNvSpPr/>
          <p:nvPr/>
        </p:nvSpPr>
        <p:spPr>
          <a:xfrm>
            <a:off x="6172200" y="1417320"/>
            <a:ext cx="5440680" cy="2331720"/>
          </a:xfrm>
          <a:prstGeom prst="roundRect">
            <a:avLst>
              <a:gd name="adj" fmla="val 3922"/>
            </a:avLst>
          </a:prstGeom>
          <a:solidFill>
            <a:srgbClr val="F1F7F5"/>
          </a:solidFill>
          <a:ln w="9525">
            <a:solidFill>
              <a:srgbClr val="CFE6DF"/>
            </a:solidFill>
            <a:prstDash val="solid"/>
          </a:ln>
        </p:spPr>
      </p:sp>
      <p:sp>
        <p:nvSpPr>
          <p:cNvPr id="10" name="Text 8"/>
          <p:cNvSpPr txBox="1"/>
          <p:nvPr/>
        </p:nvSpPr>
        <p:spPr>
          <a:xfrm>
            <a:off x="6336792" y="1545336"/>
            <a:ext cx="511149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Sağlık mevzuatı</a:t>
            </a:r>
            <a:endParaRPr lang="en-US" sz="1400" dirty="0"/>
          </a:p>
        </p:txBody>
      </p:sp>
      <p:sp>
        <p:nvSpPr>
          <p:cNvPr id="11" name="Text 9"/>
          <p:cNvSpPr txBox="1"/>
          <p:nvPr/>
        </p:nvSpPr>
        <p:spPr>
          <a:xfrm>
            <a:off x="6336792" y="1920240"/>
            <a:ext cx="5111496" cy="173736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Mesul müdür, başhekim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sorumlulukları ayrı roller.</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Tanı/reçete yalnız hekim;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tıbbi kayıt sır saklama yükümlüsüne.</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Personel belgeleri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(ÇKYS, oda kaydı, malpraktis), ruhsat, tıbbi atık, NDK takibi.</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Narkotik şahit,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SKT’si geçmiş ürün engeli, lot izleme.</a:t>
            </a:r>
            <a:endParaRPr lang="en-US" sz="1100" dirty="0"/>
          </a:p>
        </p:txBody>
      </p:sp>
      <p:sp>
        <p:nvSpPr>
          <p:cNvPr id="12" name="Shape 10"/>
          <p:cNvSpPr/>
          <p:nvPr/>
        </p:nvSpPr>
        <p:spPr>
          <a:xfrm>
            <a:off x="548640" y="3931920"/>
            <a:ext cx="5486400" cy="2377440"/>
          </a:xfrm>
          <a:prstGeom prst="roundRect">
            <a:avLst>
              <a:gd name="adj" fmla="val 3846"/>
            </a:avLst>
          </a:prstGeom>
          <a:solidFill>
            <a:srgbClr val="F1F7F5"/>
          </a:solidFill>
          <a:ln w="9525">
            <a:solidFill>
              <a:srgbClr val="CFE6DF"/>
            </a:solidFill>
            <a:prstDash val="solid"/>
          </a:ln>
        </p:spPr>
      </p:sp>
      <p:sp>
        <p:nvSpPr>
          <p:cNvPr id="13" name="Text 11"/>
          <p:cNvSpPr txBox="1"/>
          <p:nvPr/>
        </p:nvSpPr>
        <p:spPr>
          <a:xfrm>
            <a:off x="713232" y="4059936"/>
            <a:ext cx="515721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Hasta güvenliği ve kalite</a:t>
            </a:r>
            <a:endParaRPr lang="en-US" sz="1400" dirty="0"/>
          </a:p>
        </p:txBody>
      </p:sp>
      <p:sp>
        <p:nvSpPr>
          <p:cNvPr id="14" name="Text 12"/>
          <p:cNvSpPr txBox="1"/>
          <p:nvPr/>
        </p:nvSpPr>
        <p:spPr>
          <a:xfrm>
            <a:off x="713232" y="4434840"/>
            <a:ext cx="5157216" cy="178308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İsimsiz, suçlamasız olay bildirimi;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kök neden şartı.</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Resmî şikâyette cevap süresi sayacı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(CİMER, SABİM, Bakanlık).</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DÖF etkinlik doğrulaması;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nöbette dinlenme kuralları.</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Alerji–reçete çakışma uyarısı.</a:t>
            </a:r>
            <a:pPr indent="0" marL="0">
              <a:spcAft>
                <a:spcPts val="300"/>
              </a:spcAft>
              <a:buNone/>
            </a:pPr>
            <a:endParaRPr lang="en-US" sz="1100" dirty="0"/>
          </a:p>
        </p:txBody>
      </p:sp>
      <p:sp>
        <p:nvSpPr>
          <p:cNvPr id="15" name="Shape 13"/>
          <p:cNvSpPr/>
          <p:nvPr/>
        </p:nvSpPr>
        <p:spPr>
          <a:xfrm>
            <a:off x="6172200" y="3931920"/>
            <a:ext cx="5440680" cy="2377440"/>
          </a:xfrm>
          <a:prstGeom prst="roundRect">
            <a:avLst>
              <a:gd name="adj" fmla="val 3846"/>
            </a:avLst>
          </a:prstGeom>
          <a:solidFill>
            <a:srgbClr val="FDF3E1"/>
          </a:solidFill>
          <a:ln w="9525">
            <a:solidFill>
              <a:srgbClr val="F2DDB5"/>
            </a:solidFill>
            <a:prstDash val="solid"/>
          </a:ln>
        </p:spPr>
      </p:sp>
      <p:sp>
        <p:nvSpPr>
          <p:cNvPr id="16" name="Text 14"/>
          <p:cNvSpPr txBox="1"/>
          <p:nvPr/>
        </p:nvSpPr>
        <p:spPr>
          <a:xfrm>
            <a:off x="6336792" y="4059936"/>
            <a:ext cx="5111496" cy="329184"/>
          </a:xfrm>
          <a:prstGeom prst="rect">
            <a:avLst/>
          </a:prstGeom>
          <a:noFill/>
          <a:ln/>
        </p:spPr>
        <p:txBody>
          <a:bodyPr wrap="square" lIns="0" tIns="0" rIns="0" bIns="0" rtlCol="0" anchor="t"/>
          <a:lstStyle/>
          <a:p>
            <a:pPr indent="0" marL="0">
              <a:buNone/>
            </a:pPr>
            <a:r>
              <a:rPr lang="en-US" sz="1400" b="1" dirty="0">
                <a:solidFill>
                  <a:srgbClr val="8A5A10"/>
                </a:solidFill>
                <a:latin typeface="Calibri" pitchFamily="34" charset="0"/>
                <a:ea typeface="Calibri" pitchFamily="34" charset="-122"/>
                <a:cs typeface="Calibri" pitchFamily="34" charset="-120"/>
              </a:rPr>
              <a:t>Taslak durumdakiler</a:t>
            </a:r>
            <a:endParaRPr lang="en-US" sz="1400" dirty="0"/>
          </a:p>
        </p:txBody>
      </p:sp>
      <p:sp>
        <p:nvSpPr>
          <p:cNvPr id="17" name="Text 15"/>
          <p:cNvSpPr txBox="1"/>
          <p:nvPr/>
        </p:nvSpPr>
        <p:spPr>
          <a:xfrm>
            <a:off x="6336792" y="4434840"/>
            <a:ext cx="5111496" cy="178308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Aydınlatma metni (taslak-0.1),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rıza metinleri.</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Şikâyet cevap süreleri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(30/7 gün).</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Mevzuat eşlemeleri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parametrik: değişince kod değişmeden güncellenir.</a:t>
            </a:r>
            <a:endParaRPr lang="en-US" sz="1100" dirty="0"/>
          </a:p>
          <a:p>
            <a:pPr marL="177800" indent="-177800">
              <a:spcAft>
                <a:spcPts val="300"/>
              </a:spcAft>
              <a:buSzPct val="100000"/>
              <a:buChar char="•"/>
            </a:pPr>
            <a:r>
              <a:rPr lang="en-US" sz="1100" b="1" dirty="0">
                <a:solidFill>
                  <a:srgbClr val="0E4F5C"/>
                </a:solidFill>
                <a:latin typeface="Calibri" pitchFamily="34" charset="0"/>
                <a:ea typeface="Calibri" pitchFamily="34" charset="-122"/>
                <a:cs typeface="Calibri" pitchFamily="34" charset="-120"/>
              </a:rPr>
              <a:t>Barındırma: </a:t>
            </a:r>
            <a:pPr indent="0" marL="0">
              <a:spcAft>
                <a:spcPts val="300"/>
              </a:spcAft>
              <a:buNone/>
            </a:pPr>
            <a:r>
              <a:rPr lang="en-US" sz="1100" dirty="0">
                <a:solidFill>
                  <a:srgbClr val="13232A"/>
                </a:solidFill>
                <a:latin typeface="Calibri" pitchFamily="34" charset="0"/>
                <a:ea typeface="Calibri" pitchFamily="34" charset="-122"/>
                <a:cs typeface="Calibri" pitchFamily="34" charset="-120"/>
              </a:rPr>
              <a:t>Türkiye’de bulut (K10).</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Mobil uyum ve erişilebilirlik</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Önce web; tablet ve telefonda aynı özellikler (mobil uygulama sonraki faz, K4).</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52</a:t>
            </a:r>
            <a:endParaRPr lang="en-US" sz="900" dirty="0"/>
          </a:p>
        </p:txBody>
      </p:sp>
      <p:sp>
        <p:nvSpPr>
          <p:cNvPr id="6" name="Shape 4"/>
          <p:cNvSpPr/>
          <p:nvPr/>
        </p:nvSpPr>
        <p:spPr>
          <a:xfrm>
            <a:off x="570514" y="1380744"/>
            <a:ext cx="2333692" cy="4965192"/>
          </a:xfrm>
          <a:prstGeom prst="roundRect">
            <a:avLst>
              <a:gd name="adj" fmla="val 2351"/>
            </a:avLst>
          </a:prstGeom>
          <a:solidFill>
            <a:srgbClr val="FFFFFF"/>
          </a:solidFill>
          <a:ln w="12700">
            <a:solidFill>
              <a:srgbClr val="E2DED4"/>
            </a:solidFill>
            <a:prstDash val="solid"/>
          </a:ln>
          <a:effectLst>
            <a:outerShdw sx="100000" sy="100000" kx="0" ky="0" algn="bl" rotWithShape="0" blurRad="76200" dist="25400" dir="5400000">
              <a:srgbClr val="000000">
                <a:alpha val="12000"/>
              </a:srgbClr>
            </a:outerShdw>
          </a:effectLst>
        </p:spPr>
      </p:sp>
      <p:pic>
        <p:nvPicPr>
          <p:cNvPr id="7" name="Image 0" descr="/tmp/claude-0/-home-user-DC-Doktor-Klinik/f408c0fa-c72f-514c-9fce-60dc20fb9e57/scratchpad/sunum/img/09-mobil.jpg">    </p:cNvPr>
          <p:cNvPicPr>
            <a:picLocks noChangeAspect="1"/>
          </p:cNvPicPr>
          <p:nvPr/>
        </p:nvPicPr>
        <p:blipFill>
          <a:blip r:embed="rId1"/>
          <a:stretch>
            <a:fillRect/>
          </a:stretch>
        </p:blipFill>
        <p:spPr>
          <a:xfrm>
            <a:off x="607090" y="1417320"/>
            <a:ext cx="2260540" cy="4892040"/>
          </a:xfrm>
          <a:prstGeom prst="rect">
            <a:avLst/>
          </a:prstGeom>
        </p:spPr>
      </p:pic>
      <p:sp>
        <p:nvSpPr>
          <p:cNvPr id="8" name="Text 5"/>
          <p:cNvSpPr txBox="1"/>
          <p:nvPr/>
        </p:nvSpPr>
        <p:spPr>
          <a:xfrm>
            <a:off x="3291840" y="1463040"/>
            <a:ext cx="8321040" cy="489204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0E4F5C"/>
                </a:solidFill>
                <a:latin typeface="Calibri" pitchFamily="34" charset="0"/>
                <a:ea typeface="Calibri" pitchFamily="34" charset="-122"/>
                <a:cs typeface="Calibri" pitchFamily="34" charset="-120"/>
              </a:rPr>
              <a:t>Duyarlı tasarım: </a:t>
            </a:r>
            <a:pPr indent="0" marL="0">
              <a:spcAft>
                <a:spcPts val="500"/>
              </a:spcAft>
              <a:buNone/>
            </a:pPr>
            <a:r>
              <a:rPr lang="en-US" sz="1200" dirty="0">
                <a:solidFill>
                  <a:srgbClr val="13232A"/>
                </a:solidFill>
                <a:latin typeface="Calibri" pitchFamily="34" charset="0"/>
                <a:ea typeface="Calibri" pitchFamily="34" charset="-122"/>
                <a:cs typeface="Calibri" pitchFamily="34" charset="-120"/>
              </a:rPr>
              <a:t>dar ekranda menü düğmesi; hiçbir sayfada yatay taşma yok (her tarayıcı testinde 390 px genişlikte denetlenir). Geniş tablolar ve nöbet ızgarası kendi içinde kayar.</a:t>
            </a:r>
            <a:endParaRPr lang="en-US" sz="1200" dirty="0"/>
          </a:p>
          <a:p>
            <a:pPr marL="177800" indent="-177800">
              <a:spcAft>
                <a:spcPts val="500"/>
              </a:spcAft>
              <a:buSzPct val="100000"/>
              <a:buChar char="•"/>
            </a:pPr>
            <a:r>
              <a:rPr lang="en-US" sz="1200" b="1" dirty="0">
                <a:solidFill>
                  <a:srgbClr val="0E4F5C"/>
                </a:solidFill>
                <a:latin typeface="Calibri" pitchFamily="34" charset="0"/>
                <a:ea typeface="Calibri" pitchFamily="34" charset="-122"/>
                <a:cs typeface="Calibri" pitchFamily="34" charset="-120"/>
              </a:rPr>
              <a:t>Etiketli formlar: </a:t>
            </a:r>
            <a:pPr indent="0" marL="0">
              <a:spcAft>
                <a:spcPts val="500"/>
              </a:spcAft>
              <a:buNone/>
            </a:pPr>
            <a:r>
              <a:rPr lang="en-US" sz="1200" dirty="0">
                <a:solidFill>
                  <a:srgbClr val="13232A"/>
                </a:solidFill>
                <a:latin typeface="Calibri" pitchFamily="34" charset="0"/>
                <a:ea typeface="Calibri" pitchFamily="34" charset="-122"/>
                <a:cs typeface="Calibri" pitchFamily="34" charset="-120"/>
              </a:rPr>
              <a:t>her alanın görünür etiketi; ipucu ve hata metni ekran okuyucuya açıklama olarak bağlı; hatalar “alert” olarak duyurulur.</a:t>
            </a:r>
            <a:endParaRPr lang="en-US" sz="1200" dirty="0"/>
          </a:p>
          <a:p>
            <a:pPr marL="177800" indent="-177800">
              <a:spcAft>
                <a:spcPts val="500"/>
              </a:spcAft>
              <a:buSzPct val="100000"/>
              <a:buChar char="•"/>
            </a:pPr>
            <a:r>
              <a:rPr lang="en-US" sz="1200" b="1" dirty="0">
                <a:solidFill>
                  <a:srgbClr val="0E4F5C"/>
                </a:solidFill>
                <a:latin typeface="Calibri" pitchFamily="34" charset="0"/>
                <a:ea typeface="Calibri" pitchFamily="34" charset="-122"/>
                <a:cs typeface="Calibri" pitchFamily="34" charset="-120"/>
              </a:rPr>
              <a:t>Klavye ile kullanım: </a:t>
            </a:r>
            <a:pPr indent="0" marL="0">
              <a:spcAft>
                <a:spcPts val="500"/>
              </a:spcAft>
              <a:buNone/>
            </a:pPr>
            <a:r>
              <a:rPr lang="en-US" sz="1200" dirty="0">
                <a:solidFill>
                  <a:srgbClr val="13232A"/>
                </a:solidFill>
                <a:latin typeface="Calibri" pitchFamily="34" charset="0"/>
                <a:ea typeface="Calibri" pitchFamily="34" charset="-122"/>
                <a:cs typeface="Calibri" pitchFamily="34" charset="-120"/>
              </a:rPr>
              <a:t>belirgin odak halkası (mercan), düğmeler en az 44 px dokunma alanı.</a:t>
            </a:r>
            <a:endParaRPr lang="en-US" sz="1200" dirty="0"/>
          </a:p>
          <a:p>
            <a:pPr marL="177800" indent="-177800">
              <a:spcAft>
                <a:spcPts val="500"/>
              </a:spcAft>
              <a:buSzPct val="100000"/>
              <a:buChar char="•"/>
            </a:pPr>
            <a:r>
              <a:rPr lang="en-US" sz="1200" b="1" dirty="0">
                <a:solidFill>
                  <a:srgbClr val="0E4F5C"/>
                </a:solidFill>
                <a:latin typeface="Calibri" pitchFamily="34" charset="0"/>
                <a:ea typeface="Calibri" pitchFamily="34" charset="-122"/>
                <a:cs typeface="Calibri" pitchFamily="34" charset="-120"/>
              </a:rPr>
              <a:t>Renk tek başına anlam taşımaz: </a:t>
            </a:r>
            <a:pPr indent="0" marL="0">
              <a:spcAft>
                <a:spcPts val="500"/>
              </a:spcAft>
              <a:buNone/>
            </a:pPr>
            <a:r>
              <a:rPr lang="en-US" sz="1200" dirty="0">
                <a:solidFill>
                  <a:srgbClr val="13232A"/>
                </a:solidFill>
                <a:latin typeface="Calibri" pitchFamily="34" charset="0"/>
                <a:ea typeface="Calibri" pitchFamily="34" charset="-122"/>
                <a:cs typeface="Calibri" pitchFamily="34" charset="-120"/>
              </a:rPr>
              <a:t>her durum rozeti metinlidir (“20 gün kaldı”, “Kritik”); grafik tablo olarak da görüntülenir.</a:t>
            </a:r>
            <a:endParaRPr lang="en-US" sz="1200" dirty="0"/>
          </a:p>
          <a:p>
            <a:pPr marL="177800" indent="-177800">
              <a:spcAft>
                <a:spcPts val="500"/>
              </a:spcAft>
              <a:buSzPct val="100000"/>
              <a:buChar char="•"/>
            </a:pPr>
            <a:r>
              <a:rPr lang="en-US" sz="1200" b="1" dirty="0">
                <a:solidFill>
                  <a:srgbClr val="0E4F5C"/>
                </a:solidFill>
                <a:latin typeface="Calibri" pitchFamily="34" charset="0"/>
                <a:ea typeface="Calibri" pitchFamily="34" charset="-122"/>
                <a:cs typeface="Calibri" pitchFamily="34" charset="-120"/>
              </a:rPr>
              <a:t>Tarih ve saat </a:t>
            </a:r>
            <a:pPr indent="0" marL="0">
              <a:spcAft>
                <a:spcPts val="500"/>
              </a:spcAft>
              <a:buNone/>
            </a:pPr>
            <a:r>
              <a:rPr lang="en-US" sz="1200" dirty="0">
                <a:solidFill>
                  <a:srgbClr val="13232A"/>
                </a:solidFill>
                <a:latin typeface="Calibri" pitchFamily="34" charset="0"/>
                <a:ea typeface="Calibri" pitchFamily="34" charset="-122"/>
                <a:cs typeface="Calibri" pitchFamily="34" charset="-120"/>
              </a:rPr>
              <a:t>her yerde Türkiye saatiyle (gece yarısı kaymaları düzeltildi).</a:t>
            </a:r>
            <a:endParaRPr lang="en-US" sz="1200" dirty="0"/>
          </a:p>
          <a:p>
            <a:pPr marL="177800" indent="-177800">
              <a:spcAft>
                <a:spcPts val="500"/>
              </a:spcAft>
              <a:buSzPct val="100000"/>
              <a:buChar char="•"/>
            </a:pPr>
            <a:r>
              <a:rPr lang="en-US" sz="1200" b="1" dirty="0">
                <a:solidFill>
                  <a:srgbClr val="0E4F5C"/>
                </a:solidFill>
                <a:latin typeface="Calibri" pitchFamily="34" charset="0"/>
                <a:ea typeface="Calibri" pitchFamily="34" charset="-122"/>
                <a:cs typeface="Calibri" pitchFamily="34" charset="-120"/>
              </a:rPr>
              <a:t>Tipografi: </a:t>
            </a:r>
            <a:pPr indent="0" marL="0">
              <a:spcAft>
                <a:spcPts val="500"/>
              </a:spcAft>
              <a:buNone/>
            </a:pPr>
            <a:r>
              <a:rPr lang="en-US" sz="1200" dirty="0">
                <a:solidFill>
                  <a:srgbClr val="13232A"/>
                </a:solidFill>
                <a:latin typeface="Calibri" pitchFamily="34" charset="0"/>
                <a:ea typeface="Calibri" pitchFamily="34" charset="-122"/>
                <a:cs typeface="Calibri" pitchFamily="34" charset="-120"/>
              </a:rPr>
              <a:t>IBM Plex Sans ve Plex Mono; marka renkleri petrol, mercan, nane.</a:t>
            </a:r>
            <a:endParaRPr lang="en-US" sz="1200" dirty="0"/>
          </a:p>
          <a:p>
            <a:pPr marL="177800" indent="-177800">
              <a:spcAft>
                <a:spcPts val="500"/>
              </a:spcAft>
              <a:buSzPct val="100000"/>
              <a:buChar char="•"/>
            </a:pPr>
            <a:r>
              <a:rPr lang="en-US" sz="1200" b="1" dirty="0">
                <a:solidFill>
                  <a:srgbClr val="0E4F5C"/>
                </a:solidFill>
                <a:latin typeface="Calibri" pitchFamily="34" charset="0"/>
                <a:ea typeface="Calibri" pitchFamily="34" charset="-122"/>
                <a:cs typeface="Calibri" pitchFamily="34" charset="-120"/>
              </a:rPr>
              <a:t>Çok dil (TR, EN, AR sağdan sola, RU, DE): </a:t>
            </a:r>
            <a:pPr indent="0" marL="0">
              <a:spcAft>
                <a:spcPts val="500"/>
              </a:spcAft>
              <a:buNone/>
            </a:pPr>
            <a:r>
              <a:rPr lang="en-US" sz="1200" dirty="0">
                <a:solidFill>
                  <a:srgbClr val="13232A"/>
                </a:solidFill>
                <a:latin typeface="Calibri" pitchFamily="34" charset="0"/>
                <a:ea typeface="Calibri" pitchFamily="34" charset="-122"/>
                <a:cs typeface="Calibri" pitchFamily="34" charset="-120"/>
              </a:rPr>
              <a:t>tüm metinler sözlük dosyasında; diller sıradaki adım (K6).</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Rol bazlı bir gün</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Aynı uygulama, her role kendi işini gösterir.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53</a:t>
            </a:r>
            <a:endParaRPr lang="en-US" sz="900" dirty="0"/>
          </a:p>
        </p:txBody>
      </p:sp>
      <p:sp>
        <p:nvSpPr>
          <p:cNvPr id="6" name="Shape 4"/>
          <p:cNvSpPr/>
          <p:nvPr/>
        </p:nvSpPr>
        <p:spPr>
          <a:xfrm>
            <a:off x="548640" y="1463040"/>
            <a:ext cx="2103120" cy="4754880"/>
          </a:xfrm>
          <a:prstGeom prst="roundRect">
            <a:avLst>
              <a:gd name="adj" fmla="val 4348"/>
            </a:avLst>
          </a:prstGeom>
          <a:solidFill>
            <a:srgbClr val="E3F0EC"/>
          </a:solidFill>
          <a:ln w="12700">
            <a:solidFill>
              <a:srgbClr val="CFE6DF"/>
            </a:solidFill>
            <a:prstDash val="solid"/>
          </a:ln>
        </p:spPr>
      </p:sp>
      <p:sp>
        <p:nvSpPr>
          <p:cNvPr id="7" name="Shape 5"/>
          <p:cNvSpPr/>
          <p:nvPr/>
        </p:nvSpPr>
        <p:spPr>
          <a:xfrm>
            <a:off x="1280160" y="1645920"/>
            <a:ext cx="640080" cy="640080"/>
          </a:xfrm>
          <a:prstGeom prst="ellipse">
            <a:avLst/>
          </a:prstGeom>
          <a:solidFill>
            <a:srgbClr val="0E4F5C"/>
          </a:solidFill>
          <a:ln w="12700">
            <a:solidFill>
              <a:srgbClr val="FFFFFF"/>
            </a:solidFill>
            <a:prstDash val="solid"/>
          </a:ln>
        </p:spPr>
      </p:sp>
      <p:sp>
        <p:nvSpPr>
          <p:cNvPr id="8" name="Text 6"/>
          <p:cNvSpPr txBox="1"/>
          <p:nvPr/>
        </p:nvSpPr>
        <p:spPr>
          <a:xfrm>
            <a:off x="1280160"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a:t>
            </a:r>
            <a:endParaRPr lang="en-US" sz="2200" dirty="0"/>
          </a:p>
        </p:txBody>
      </p:sp>
      <p:sp>
        <p:nvSpPr>
          <p:cNvPr id="9" name="Text 7"/>
          <p:cNvSpPr txBox="1"/>
          <p:nvPr/>
        </p:nvSpPr>
        <p:spPr>
          <a:xfrm>
            <a:off x="640080" y="2423160"/>
            <a:ext cx="1920240" cy="365760"/>
          </a:xfrm>
          <a:prstGeom prst="rect">
            <a:avLst/>
          </a:prstGeom>
          <a:noFill/>
          <a:ln/>
        </p:spPr>
        <p:txBody>
          <a:bodyPr wrap="square" lIns="0" tIns="0" rIns="0" bIns="0" rtlCol="0" anchor="t"/>
          <a:lstStyle/>
          <a:p>
            <a:pPr algn="ctr" indent="0" marL="0">
              <a:buNone/>
            </a:pPr>
            <a:r>
              <a:rPr lang="en-US" sz="1500" b="1" dirty="0">
                <a:solidFill>
                  <a:srgbClr val="0E4F5C"/>
                </a:solidFill>
                <a:latin typeface="Calibri" pitchFamily="34" charset="0"/>
                <a:ea typeface="Calibri" pitchFamily="34" charset="-122"/>
                <a:cs typeface="Calibri" pitchFamily="34" charset="-120"/>
              </a:rPr>
              <a:t>Sekreter</a:t>
            </a:r>
            <a:endParaRPr lang="en-US" sz="1500" dirty="0"/>
          </a:p>
        </p:txBody>
      </p:sp>
      <p:sp>
        <p:nvSpPr>
          <p:cNvPr id="10" name="Text 8"/>
          <p:cNvSpPr txBox="1"/>
          <p:nvPr/>
        </p:nvSpPr>
        <p:spPr>
          <a:xfrm>
            <a:off x="731520" y="2926080"/>
            <a:ext cx="1783080" cy="32004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Hasta kaydı + KVKK</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Randevu verme, kabul</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Tahsilat, hesap</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Kasa kapanışı</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Şikâyet kaydı</a:t>
            </a:r>
            <a:endParaRPr lang="en-US" sz="1100" dirty="0"/>
          </a:p>
        </p:txBody>
      </p:sp>
      <p:sp>
        <p:nvSpPr>
          <p:cNvPr id="11" name="Shape 9"/>
          <p:cNvSpPr/>
          <p:nvPr/>
        </p:nvSpPr>
        <p:spPr>
          <a:xfrm>
            <a:off x="2788920" y="1463040"/>
            <a:ext cx="2103120" cy="4754880"/>
          </a:xfrm>
          <a:prstGeom prst="roundRect">
            <a:avLst>
              <a:gd name="adj" fmla="val 4348"/>
            </a:avLst>
          </a:prstGeom>
          <a:solidFill>
            <a:srgbClr val="F1F7F5"/>
          </a:solidFill>
          <a:ln w="12700">
            <a:solidFill>
              <a:srgbClr val="CFE6DF"/>
            </a:solidFill>
            <a:prstDash val="solid"/>
          </a:ln>
        </p:spPr>
      </p:sp>
      <p:sp>
        <p:nvSpPr>
          <p:cNvPr id="12" name="Shape 10"/>
          <p:cNvSpPr/>
          <p:nvPr/>
        </p:nvSpPr>
        <p:spPr>
          <a:xfrm>
            <a:off x="3520440" y="1645920"/>
            <a:ext cx="640080" cy="640080"/>
          </a:xfrm>
          <a:prstGeom prst="ellipse">
            <a:avLst/>
          </a:prstGeom>
          <a:solidFill>
            <a:srgbClr val="0E4F5C"/>
          </a:solidFill>
          <a:ln w="12700">
            <a:solidFill>
              <a:srgbClr val="FFFFFF"/>
            </a:solidFill>
            <a:prstDash val="solid"/>
          </a:ln>
        </p:spPr>
      </p:sp>
      <p:sp>
        <p:nvSpPr>
          <p:cNvPr id="13" name="Text 11"/>
          <p:cNvSpPr txBox="1"/>
          <p:nvPr/>
        </p:nvSpPr>
        <p:spPr>
          <a:xfrm>
            <a:off x="3520440"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a:t>
            </a:r>
            <a:endParaRPr lang="en-US" sz="2200" dirty="0"/>
          </a:p>
        </p:txBody>
      </p:sp>
      <p:sp>
        <p:nvSpPr>
          <p:cNvPr id="14" name="Text 12"/>
          <p:cNvSpPr txBox="1"/>
          <p:nvPr/>
        </p:nvSpPr>
        <p:spPr>
          <a:xfrm>
            <a:off x="2880360" y="2423160"/>
            <a:ext cx="1920240" cy="365760"/>
          </a:xfrm>
          <a:prstGeom prst="rect">
            <a:avLst/>
          </a:prstGeom>
          <a:noFill/>
          <a:ln/>
        </p:spPr>
        <p:txBody>
          <a:bodyPr wrap="square" lIns="0" tIns="0" rIns="0" bIns="0" rtlCol="0" anchor="t"/>
          <a:lstStyle/>
          <a:p>
            <a:pPr algn="ctr" indent="0" marL="0">
              <a:buNone/>
            </a:pPr>
            <a:r>
              <a:rPr lang="en-US" sz="1500" b="1" dirty="0">
                <a:solidFill>
                  <a:srgbClr val="0E4F5C"/>
                </a:solidFill>
                <a:latin typeface="Calibri" pitchFamily="34" charset="0"/>
                <a:ea typeface="Calibri" pitchFamily="34" charset="-122"/>
                <a:cs typeface="Calibri" pitchFamily="34" charset="-120"/>
              </a:rPr>
              <a:t>Hemşire</a:t>
            </a:r>
            <a:endParaRPr lang="en-US" sz="1500" dirty="0"/>
          </a:p>
        </p:txBody>
      </p:sp>
      <p:sp>
        <p:nvSpPr>
          <p:cNvPr id="15" name="Text 13"/>
          <p:cNvSpPr txBox="1"/>
          <p:nvPr/>
        </p:nvSpPr>
        <p:spPr>
          <a:xfrm>
            <a:off x="2971800" y="2926080"/>
            <a:ext cx="1783080" cy="32004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Vital ve şikâyet girişi</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Hastaya ilaç/malzeme kullanımı</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Olay bildirimi</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Görevlerim, Belgelerim</a:t>
            </a:r>
            <a:endParaRPr lang="en-US" sz="1100" dirty="0"/>
          </a:p>
        </p:txBody>
      </p:sp>
      <p:sp>
        <p:nvSpPr>
          <p:cNvPr id="16" name="Shape 14"/>
          <p:cNvSpPr/>
          <p:nvPr/>
        </p:nvSpPr>
        <p:spPr>
          <a:xfrm>
            <a:off x="5029200" y="1463040"/>
            <a:ext cx="2103120" cy="4754880"/>
          </a:xfrm>
          <a:prstGeom prst="roundRect">
            <a:avLst>
              <a:gd name="adj" fmla="val 4348"/>
            </a:avLst>
          </a:prstGeom>
          <a:solidFill>
            <a:srgbClr val="E3F0EC"/>
          </a:solidFill>
          <a:ln w="12700">
            <a:solidFill>
              <a:srgbClr val="CFE6DF"/>
            </a:solidFill>
            <a:prstDash val="solid"/>
          </a:ln>
        </p:spPr>
      </p:sp>
      <p:sp>
        <p:nvSpPr>
          <p:cNvPr id="17" name="Shape 15"/>
          <p:cNvSpPr/>
          <p:nvPr/>
        </p:nvSpPr>
        <p:spPr>
          <a:xfrm>
            <a:off x="5760720" y="1645920"/>
            <a:ext cx="640080" cy="640080"/>
          </a:xfrm>
          <a:prstGeom prst="ellipse">
            <a:avLst/>
          </a:prstGeom>
          <a:solidFill>
            <a:srgbClr val="0E4F5C"/>
          </a:solidFill>
          <a:ln w="12700">
            <a:solidFill>
              <a:srgbClr val="FFFFFF"/>
            </a:solidFill>
            <a:prstDash val="solid"/>
          </a:ln>
        </p:spPr>
      </p:sp>
      <p:sp>
        <p:nvSpPr>
          <p:cNvPr id="18" name="Text 16"/>
          <p:cNvSpPr txBox="1"/>
          <p:nvPr/>
        </p:nvSpPr>
        <p:spPr>
          <a:xfrm>
            <a:off x="5760720"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a:t>
            </a:r>
            <a:endParaRPr lang="en-US" sz="2200" dirty="0"/>
          </a:p>
        </p:txBody>
      </p:sp>
      <p:sp>
        <p:nvSpPr>
          <p:cNvPr id="19" name="Text 17"/>
          <p:cNvSpPr txBox="1"/>
          <p:nvPr/>
        </p:nvSpPr>
        <p:spPr>
          <a:xfrm>
            <a:off x="5120640" y="2423160"/>
            <a:ext cx="1920240" cy="365760"/>
          </a:xfrm>
          <a:prstGeom prst="rect">
            <a:avLst/>
          </a:prstGeom>
          <a:noFill/>
          <a:ln/>
        </p:spPr>
        <p:txBody>
          <a:bodyPr wrap="square" lIns="0" tIns="0" rIns="0" bIns="0" rtlCol="0" anchor="t"/>
          <a:lstStyle/>
          <a:p>
            <a:pPr algn="ctr" indent="0" marL="0">
              <a:buNone/>
            </a:pPr>
            <a:r>
              <a:rPr lang="en-US" sz="1500" b="1" dirty="0">
                <a:solidFill>
                  <a:srgbClr val="0E4F5C"/>
                </a:solidFill>
                <a:latin typeface="Calibri" pitchFamily="34" charset="0"/>
                <a:ea typeface="Calibri" pitchFamily="34" charset="-122"/>
                <a:cs typeface="Calibri" pitchFamily="34" charset="-120"/>
              </a:rPr>
              <a:t>Hekim</a:t>
            </a:r>
            <a:endParaRPr lang="en-US" sz="1500" dirty="0"/>
          </a:p>
        </p:txBody>
      </p:sp>
      <p:sp>
        <p:nvSpPr>
          <p:cNvPr id="20" name="Text 18"/>
          <p:cNvSpPr txBox="1"/>
          <p:nvPr/>
        </p:nvSpPr>
        <p:spPr>
          <a:xfrm>
            <a:off x="5212080" y="2926080"/>
            <a:ext cx="1783080" cy="32004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Günlük randevular</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Muayene, tanı, reçete</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Parolalı imza, ek not</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Kontrol randevusu</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Belge askı uyarısı</a:t>
            </a:r>
            <a:endParaRPr lang="en-US" sz="1100" dirty="0"/>
          </a:p>
        </p:txBody>
      </p:sp>
      <p:sp>
        <p:nvSpPr>
          <p:cNvPr id="21" name="Shape 19"/>
          <p:cNvSpPr/>
          <p:nvPr/>
        </p:nvSpPr>
        <p:spPr>
          <a:xfrm>
            <a:off x="7269480" y="1463040"/>
            <a:ext cx="2103120" cy="4754880"/>
          </a:xfrm>
          <a:prstGeom prst="roundRect">
            <a:avLst>
              <a:gd name="adj" fmla="val 4348"/>
            </a:avLst>
          </a:prstGeom>
          <a:solidFill>
            <a:srgbClr val="F1F7F5"/>
          </a:solidFill>
          <a:ln w="12700">
            <a:solidFill>
              <a:srgbClr val="CFE6DF"/>
            </a:solidFill>
            <a:prstDash val="solid"/>
          </a:ln>
        </p:spPr>
      </p:sp>
      <p:sp>
        <p:nvSpPr>
          <p:cNvPr id="22" name="Shape 20"/>
          <p:cNvSpPr/>
          <p:nvPr/>
        </p:nvSpPr>
        <p:spPr>
          <a:xfrm>
            <a:off x="8001000" y="1645920"/>
            <a:ext cx="640080" cy="640080"/>
          </a:xfrm>
          <a:prstGeom prst="ellipse">
            <a:avLst/>
          </a:prstGeom>
          <a:solidFill>
            <a:srgbClr val="0E4F5C"/>
          </a:solidFill>
          <a:ln w="12700">
            <a:solidFill>
              <a:srgbClr val="FFFFFF"/>
            </a:solidFill>
            <a:prstDash val="solid"/>
          </a:ln>
        </p:spPr>
      </p:sp>
      <p:sp>
        <p:nvSpPr>
          <p:cNvPr id="23" name="Text 21"/>
          <p:cNvSpPr txBox="1"/>
          <p:nvPr/>
        </p:nvSpPr>
        <p:spPr>
          <a:xfrm>
            <a:off x="8001000"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M</a:t>
            </a:r>
            <a:endParaRPr lang="en-US" sz="2200" dirty="0"/>
          </a:p>
        </p:txBody>
      </p:sp>
      <p:sp>
        <p:nvSpPr>
          <p:cNvPr id="24" name="Text 22"/>
          <p:cNvSpPr txBox="1"/>
          <p:nvPr/>
        </p:nvSpPr>
        <p:spPr>
          <a:xfrm>
            <a:off x="7360920" y="2423160"/>
            <a:ext cx="1920240" cy="365760"/>
          </a:xfrm>
          <a:prstGeom prst="rect">
            <a:avLst/>
          </a:prstGeom>
          <a:noFill/>
          <a:ln/>
        </p:spPr>
        <p:txBody>
          <a:bodyPr wrap="square" lIns="0" tIns="0" rIns="0" bIns="0" rtlCol="0" anchor="t"/>
          <a:lstStyle/>
          <a:p>
            <a:pPr algn="ctr" indent="0" marL="0">
              <a:buNone/>
            </a:pPr>
            <a:r>
              <a:rPr lang="en-US" sz="1500" b="1" dirty="0">
                <a:solidFill>
                  <a:srgbClr val="0E4F5C"/>
                </a:solidFill>
                <a:latin typeface="Calibri" pitchFamily="34" charset="0"/>
                <a:ea typeface="Calibri" pitchFamily="34" charset="-122"/>
                <a:cs typeface="Calibri" pitchFamily="34" charset="-120"/>
              </a:rPr>
              <a:t>Mesul müdür</a:t>
            </a:r>
            <a:endParaRPr lang="en-US" sz="1500" dirty="0"/>
          </a:p>
        </p:txBody>
      </p:sp>
      <p:sp>
        <p:nvSpPr>
          <p:cNvPr id="25" name="Text 23"/>
          <p:cNvSpPr txBox="1"/>
          <p:nvPr/>
        </p:nvSpPr>
        <p:spPr>
          <a:xfrm>
            <a:off x="7452360" y="2926080"/>
            <a:ext cx="1783080" cy="32004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Sağlık rollerini onaylama</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Nöbet onayı</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Narkotik ve sayım</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Tıbbi şikâyet cevabı</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Denetim izi, alarmlar</a:t>
            </a:r>
            <a:endParaRPr lang="en-US" sz="1100" dirty="0"/>
          </a:p>
        </p:txBody>
      </p:sp>
      <p:sp>
        <p:nvSpPr>
          <p:cNvPr id="26" name="Shape 24"/>
          <p:cNvSpPr/>
          <p:nvPr/>
        </p:nvSpPr>
        <p:spPr>
          <a:xfrm>
            <a:off x="9509760" y="1463040"/>
            <a:ext cx="2103120" cy="4754880"/>
          </a:xfrm>
          <a:prstGeom prst="roundRect">
            <a:avLst>
              <a:gd name="adj" fmla="val 4348"/>
            </a:avLst>
          </a:prstGeom>
          <a:solidFill>
            <a:srgbClr val="E3F0EC"/>
          </a:solidFill>
          <a:ln w="12700">
            <a:solidFill>
              <a:srgbClr val="CFE6DF"/>
            </a:solidFill>
            <a:prstDash val="solid"/>
          </a:ln>
        </p:spPr>
      </p:sp>
      <p:sp>
        <p:nvSpPr>
          <p:cNvPr id="27" name="Shape 25"/>
          <p:cNvSpPr/>
          <p:nvPr/>
        </p:nvSpPr>
        <p:spPr>
          <a:xfrm>
            <a:off x="10241280" y="1645920"/>
            <a:ext cx="640080" cy="640080"/>
          </a:xfrm>
          <a:prstGeom prst="ellipse">
            <a:avLst/>
          </a:prstGeom>
          <a:solidFill>
            <a:srgbClr val="D9694A"/>
          </a:solidFill>
          <a:ln w="12700">
            <a:solidFill>
              <a:srgbClr val="FFFFFF"/>
            </a:solidFill>
            <a:prstDash val="solid"/>
          </a:ln>
        </p:spPr>
      </p:sp>
      <p:sp>
        <p:nvSpPr>
          <p:cNvPr id="28" name="Text 26"/>
          <p:cNvSpPr txBox="1"/>
          <p:nvPr/>
        </p:nvSpPr>
        <p:spPr>
          <a:xfrm>
            <a:off x="10241280"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K</a:t>
            </a:r>
            <a:endParaRPr lang="en-US" sz="2200" dirty="0"/>
          </a:p>
        </p:txBody>
      </p:sp>
      <p:sp>
        <p:nvSpPr>
          <p:cNvPr id="29" name="Text 27"/>
          <p:cNvSpPr txBox="1"/>
          <p:nvPr/>
        </p:nvSpPr>
        <p:spPr>
          <a:xfrm>
            <a:off x="9601200" y="2423160"/>
            <a:ext cx="1920240" cy="365760"/>
          </a:xfrm>
          <a:prstGeom prst="rect">
            <a:avLst/>
          </a:prstGeom>
          <a:noFill/>
          <a:ln/>
        </p:spPr>
        <p:txBody>
          <a:bodyPr wrap="square" lIns="0" tIns="0" rIns="0" bIns="0" rtlCol="0" anchor="t"/>
          <a:lstStyle/>
          <a:p>
            <a:pPr algn="ctr" indent="0" marL="0">
              <a:buNone/>
            </a:pPr>
            <a:r>
              <a:rPr lang="en-US" sz="1500" b="1" dirty="0">
                <a:solidFill>
                  <a:srgbClr val="0E4F5C"/>
                </a:solidFill>
                <a:latin typeface="Calibri" pitchFamily="34" charset="0"/>
                <a:ea typeface="Calibri" pitchFamily="34" charset="-122"/>
                <a:cs typeface="Calibri" pitchFamily="34" charset="-120"/>
              </a:rPr>
              <a:t>Kurum sahibi</a:t>
            </a:r>
            <a:endParaRPr lang="en-US" sz="1500" dirty="0"/>
          </a:p>
        </p:txBody>
      </p:sp>
      <p:sp>
        <p:nvSpPr>
          <p:cNvPr id="30" name="Text 28"/>
          <p:cNvSpPr txBox="1"/>
          <p:nvPr/>
        </p:nvSpPr>
        <p:spPr>
          <a:xfrm>
            <a:off x="9692640" y="2926080"/>
            <a:ext cx="1783080" cy="32004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Komuta Merkezi</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Fiyat onayı, iade</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Personel ve ruhsatlar</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Mesul müdür atama</a:t>
            </a:r>
            <a:endParaRPr lang="en-US" sz="1100" dirty="0"/>
          </a:p>
          <a:p>
            <a:pPr marL="177800" indent="-177800">
              <a:spcAft>
                <a:spcPts val="500"/>
              </a:spcAft>
              <a:buSzPct val="100000"/>
              <a:buChar char="•"/>
            </a:pPr>
            <a:r>
              <a:rPr lang="en-US" sz="1100" dirty="0">
                <a:solidFill>
                  <a:srgbClr val="13232A"/>
                </a:solidFill>
                <a:latin typeface="Calibri" pitchFamily="34" charset="0"/>
                <a:ea typeface="Calibri" pitchFamily="34" charset="-122"/>
                <a:cs typeface="Calibri" pitchFamily="34" charset="-120"/>
              </a:rPr>
              <a:t>Kritik alarmlar</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Yol haritası</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Bugün çalışanlar ve sıradaki adaylar (docs/09-yol-haritasi.md).</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54</a:t>
            </a:r>
            <a:endParaRPr lang="en-US" sz="900" dirty="0"/>
          </a:p>
        </p:txBody>
      </p:sp>
      <p:sp>
        <p:nvSpPr>
          <p:cNvPr id="6" name="Shape 4"/>
          <p:cNvSpPr/>
          <p:nvPr/>
        </p:nvSpPr>
        <p:spPr>
          <a:xfrm>
            <a:off x="548640" y="1417320"/>
            <a:ext cx="5486400" cy="4892040"/>
          </a:xfrm>
          <a:prstGeom prst="roundRect">
            <a:avLst>
              <a:gd name="adj" fmla="val 1869"/>
            </a:avLst>
          </a:prstGeom>
          <a:solidFill>
            <a:srgbClr val="F1F7F5"/>
          </a:solidFill>
          <a:ln w="9525">
            <a:solidFill>
              <a:srgbClr val="CFE6DF"/>
            </a:solidFill>
            <a:prstDash val="solid"/>
          </a:ln>
        </p:spPr>
      </p:sp>
      <p:sp>
        <p:nvSpPr>
          <p:cNvPr id="7" name="Text 5"/>
          <p:cNvSpPr txBox="1"/>
          <p:nvPr/>
        </p:nvSpPr>
        <p:spPr>
          <a:xfrm>
            <a:off x="713232" y="1545336"/>
            <a:ext cx="5157216" cy="329184"/>
          </a:xfrm>
          <a:prstGeom prst="rect">
            <a:avLst/>
          </a:prstGeom>
          <a:noFill/>
          <a:ln/>
        </p:spPr>
        <p:txBody>
          <a:bodyPr wrap="square" lIns="0" tIns="0" rIns="0" bIns="0" rtlCol="0" anchor="t"/>
          <a:lstStyle/>
          <a:p>
            <a:pPr indent="0" marL="0">
              <a:buNone/>
            </a:pPr>
            <a:r>
              <a:rPr lang="en-US" sz="1400" b="1" dirty="0">
                <a:solidFill>
                  <a:srgbClr val="0E4F5C"/>
                </a:solidFill>
                <a:latin typeface="Calibri" pitchFamily="34" charset="0"/>
                <a:ea typeface="Calibri" pitchFamily="34" charset="-122"/>
                <a:cs typeface="Calibri" pitchFamily="34" charset="-120"/>
              </a:rPr>
              <a:t>Kodlandı ve test edildi</a:t>
            </a:r>
            <a:endParaRPr lang="en-US" sz="1400" dirty="0"/>
          </a:p>
        </p:txBody>
      </p:sp>
      <p:sp>
        <p:nvSpPr>
          <p:cNvPr id="8" name="Text 6"/>
          <p:cNvSpPr txBox="1"/>
          <p:nvPr/>
        </p:nvSpPr>
        <p:spPr>
          <a:xfrm>
            <a:off x="713232" y="1920240"/>
            <a:ext cx="5157216" cy="42976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Çok kiracılı SaaS, kayıt sihirbazı, kurum tipi profilleri</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Rol + kilitli yasal yetki, hash zincirli denetim izi</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Hasta, KVKK, randevu, kabul, bekleme salonu</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Muayene: tedavi ilişkisi, acil erişim, ICD-10, imza</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Finans: fiyat onayı, tahsilat, iade, kasa, Komuta</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Personel ve belgeler, askıya alma, alarm motoru</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Nöbet ve vardiya, izinler</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Stok ve ilaç, narkotik, lot izleme</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Kalite: olay, şikâyet, DÖF</a:t>
            </a:r>
            <a:endParaRPr lang="en-US" sz="1200" dirty="0"/>
          </a:p>
        </p:txBody>
      </p:sp>
      <p:sp>
        <p:nvSpPr>
          <p:cNvPr id="9" name="Shape 7"/>
          <p:cNvSpPr/>
          <p:nvPr/>
        </p:nvSpPr>
        <p:spPr>
          <a:xfrm>
            <a:off x="6172200" y="1417320"/>
            <a:ext cx="5440680" cy="4892040"/>
          </a:xfrm>
          <a:prstGeom prst="roundRect">
            <a:avLst>
              <a:gd name="adj" fmla="val 1869"/>
            </a:avLst>
          </a:prstGeom>
          <a:solidFill>
            <a:srgbClr val="FDF3E1"/>
          </a:solidFill>
          <a:ln w="9525">
            <a:solidFill>
              <a:srgbClr val="F2DDB5"/>
            </a:solidFill>
            <a:prstDash val="solid"/>
          </a:ln>
        </p:spPr>
      </p:sp>
      <p:sp>
        <p:nvSpPr>
          <p:cNvPr id="10" name="Text 8"/>
          <p:cNvSpPr txBox="1"/>
          <p:nvPr/>
        </p:nvSpPr>
        <p:spPr>
          <a:xfrm>
            <a:off x="6336792" y="1545336"/>
            <a:ext cx="5111496" cy="329184"/>
          </a:xfrm>
          <a:prstGeom prst="rect">
            <a:avLst/>
          </a:prstGeom>
          <a:noFill/>
          <a:ln/>
        </p:spPr>
        <p:txBody>
          <a:bodyPr wrap="square" lIns="0" tIns="0" rIns="0" bIns="0" rtlCol="0" anchor="t"/>
          <a:lstStyle/>
          <a:p>
            <a:pPr indent="0" marL="0">
              <a:buNone/>
            </a:pPr>
            <a:r>
              <a:rPr lang="en-US" sz="1400" b="1" dirty="0">
                <a:solidFill>
                  <a:srgbClr val="8A5A10"/>
                </a:solidFill>
                <a:latin typeface="Calibri" pitchFamily="34" charset="0"/>
                <a:ea typeface="Calibri" pitchFamily="34" charset="-122"/>
                <a:cs typeface="Calibri" pitchFamily="34" charset="-120"/>
              </a:rPr>
              <a:t>Sıradaki adaylar</a:t>
            </a:r>
            <a:endParaRPr lang="en-US" sz="1400" dirty="0"/>
          </a:p>
        </p:txBody>
      </p:sp>
      <p:sp>
        <p:nvSpPr>
          <p:cNvPr id="11" name="Text 9"/>
          <p:cNvSpPr txBox="1"/>
          <p:nvPr/>
        </p:nvSpPr>
        <p:spPr>
          <a:xfrm>
            <a:off x="6336792" y="1920240"/>
            <a:ext cx="5111496" cy="42976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Çok dil: İngilizce, Arapça (RTL), Rusça, Almanca</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İletişim: SMS / e-posta hatırlatma, anket</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Resmî entegrasyonlar (aracı servis): e-Nabız, e-Reçete, e-Fatura/e-Arşiv, MEDULA</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Hekim hakedişi, gider ve kârlılık raporları</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Cihaz, bakım/kalibrasyon, sterilizasyon</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Tipe özgü: odontogram, estetik seans ve foto, veteriner aşı/yatılı</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Personel e-posta daveti, destek personeli (girişsiz) kaydı</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Kurum ayarları: “yalnızca uyar” belge politikası</a:t>
            </a:r>
            <a:endParaRPr lang="en-US" sz="1200" dirty="0"/>
          </a:p>
          <a:p>
            <a:pPr marL="177800" indent="-177800">
              <a:spcAft>
                <a:spcPts val="300"/>
              </a:spcAft>
              <a:buSzPct val="100000"/>
              <a:buChar char="•"/>
            </a:pPr>
            <a:r>
              <a:rPr lang="en-US" sz="1200" dirty="0">
                <a:solidFill>
                  <a:srgbClr val="13232A"/>
                </a:solidFill>
                <a:latin typeface="Calibri" pitchFamily="34" charset="0"/>
                <a:ea typeface="Calibri" pitchFamily="34" charset="-122"/>
                <a:cs typeface="Calibri" pitchFamily="34" charset="-120"/>
              </a:rPr>
              <a:t>Mobil uygulama</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E4F5C"/>
        </a:solidFill>
      </p:bgPr>
    </p:bg>
    <p:spTree>
      <p:nvGrpSpPr>
        <p:cNvPr id="1" name=""/>
        <p:cNvGrpSpPr/>
        <p:nvPr/>
      </p:nvGrpSpPr>
      <p:grpSpPr>
        <a:xfrm>
          <a:off x="0" y="0"/>
          <a:ext cx="0" cy="0"/>
          <a:chOff x="0" y="0"/>
          <a:chExt cx="0" cy="0"/>
        </a:xfrm>
      </p:grpSpPr>
      <p:sp>
        <p:nvSpPr>
          <p:cNvPr id="2" name="Text 0"/>
          <p:cNvSpPr txBox="1"/>
          <p:nvPr/>
        </p:nvSpPr>
        <p:spPr>
          <a:xfrm>
            <a:off x="731520" y="1188720"/>
            <a:ext cx="2743200" cy="1280160"/>
          </a:xfrm>
          <a:prstGeom prst="rect">
            <a:avLst/>
          </a:prstGeom>
          <a:noFill/>
          <a:ln/>
        </p:spPr>
        <p:txBody>
          <a:bodyPr wrap="square" lIns="0" tIns="0" rIns="0" bIns="0" rtlCol="0" anchor="t"/>
          <a:lstStyle/>
          <a:p>
            <a:pPr indent="0" marL="0">
              <a:buNone/>
            </a:pPr>
            <a:r>
              <a:rPr lang="en-US" sz="8800" b="1" dirty="0">
                <a:solidFill>
                  <a:srgbClr val="D9694A"/>
                </a:solidFill>
                <a:latin typeface="Calibri" pitchFamily="34" charset="0"/>
                <a:ea typeface="Calibri" pitchFamily="34" charset="-122"/>
                <a:cs typeface="Calibri" pitchFamily="34" charset="-120"/>
              </a:rPr>
              <a:t>E</a:t>
            </a:r>
            <a:endParaRPr lang="en-US" sz="8800" dirty="0"/>
          </a:p>
        </p:txBody>
      </p:sp>
      <p:sp>
        <p:nvSpPr>
          <p:cNvPr id="3" name="Text 1"/>
          <p:cNvSpPr txBox="1"/>
          <p:nvPr/>
        </p:nvSpPr>
        <p:spPr>
          <a:xfrm>
            <a:off x="731520" y="2560320"/>
            <a:ext cx="7315200" cy="9144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Ekler</a:t>
            </a:r>
            <a:endParaRPr lang="en-US" sz="4000" dirty="0"/>
          </a:p>
        </p:txBody>
      </p:sp>
      <p:sp>
        <p:nvSpPr>
          <p:cNvPr id="4" name="Text 2"/>
          <p:cNvSpPr txBox="1"/>
          <p:nvPr/>
        </p:nvSpPr>
        <p:spPr>
          <a:xfrm>
            <a:off x="731520" y="3520440"/>
            <a:ext cx="6766560" cy="1097280"/>
          </a:xfrm>
          <a:prstGeom prst="rect">
            <a:avLst/>
          </a:prstGeom>
          <a:noFill/>
          <a:ln/>
        </p:spPr>
        <p:txBody>
          <a:bodyPr wrap="square" lIns="0" tIns="0" rIns="0" bIns="0" rtlCol="0" anchor="t"/>
          <a:lstStyle/>
          <a:p>
            <a:pPr indent="0" marL="0">
              <a:buNone/>
            </a:pPr>
            <a:r>
              <a:rPr lang="en-US" sz="1600" dirty="0">
                <a:solidFill>
                  <a:srgbClr val="CFE6DF"/>
                </a:solidFill>
                <a:latin typeface="Calibri" pitchFamily="34" charset="0"/>
                <a:ea typeface="Calibri" pitchFamily="34" charset="-122"/>
                <a:cs typeface="Calibri" pitchFamily="34" charset="-120"/>
              </a:rPr>
              <a:t>Başvuru için tam listeler: ürünün kendi kataloglarından birebir üretilmiştir.</a:t>
            </a:r>
            <a:endParaRPr lang="en-US" sz="1600" dirty="0"/>
          </a:p>
        </p:txBody>
      </p:sp>
      <p:sp>
        <p:nvSpPr>
          <p:cNvPr id="5" name="Text 3"/>
          <p:cNvSpPr txBox="1"/>
          <p:nvPr/>
        </p:nvSpPr>
        <p:spPr>
          <a:xfrm>
            <a:off x="8138160" y="1371600"/>
            <a:ext cx="3566160" cy="4389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İzin kataloğu</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Denetim kaydı türleri</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Hata mesajları</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API uç noktaları</a:t>
            </a:r>
            <a:endParaRPr lang="en-US" sz="1500" dirty="0"/>
          </a:p>
          <a:p>
            <a:pPr marL="203200" indent="-2032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Alınan kararlar</a:t>
            </a:r>
            <a:endParaRPr lang="en-US" sz="1500" dirty="0"/>
          </a:p>
        </p:txBody>
      </p:sp>
      <p:pic>
        <p:nvPicPr>
          <p:cNvPr id="6" name="Image 0" descr="preencoded.png">    </p:cNvPr>
          <p:cNvPicPr>
            <a:picLocks noChangeAspect="1"/>
          </p:cNvPicPr>
          <p:nvPr/>
        </p:nvPicPr>
        <p:blipFill>
          <a:blip r:embed="rId1">
            <a:alphaModFix amt="80000"/>
          </a:blip>
          <a:stretch>
            <a:fillRect/>
          </a:stretch>
        </p:blipFill>
        <p:spPr>
          <a:xfrm>
            <a:off x="10957255" y="5806440"/>
            <a:ext cx="640080" cy="64008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Ek: izin kataloğu</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Seviye: hekim = yalnız hekim meslekleri · sağlık = sağlık meslek mensupları · serbest = rolle herkese.</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56</a:t>
            </a:r>
            <a:endParaRPr lang="en-US" sz="9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40680" cy="914400"/>
        </p:xfrm>
        <a:graphic>
          <a:graphicData uri="http://schemas.openxmlformats.org/drawingml/2006/table">
            <a:tbl>
              <a:tblPr/>
              <a:tblGrid>
                <a:gridCol w="1737360"/>
                <a:gridCol w="3017520"/>
                <a:gridCol w="68580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İzin kodu</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Açıklama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Seviye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komuta.goruntule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Komuta Merkezi’ni görüntüleme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tibbi.istatistik.anonim</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Anonim / toplu klinik istatistik</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hasta.demografik.goruntule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Hasta kimlik ve iletişim bilgisi görüntüleme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hasta.kaydet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Hasta kaydı oluşturma ve güncelleme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tibbi.kayit.goruntule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Tıbbi kaydı görüntüleme (tedavi ilişkisi şartıyla)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saglik</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tibbi.kayit.yaz</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Tıbbi kayda giriş (vital, hemşirelik notu, uygulama)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saglik</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tibbi.kayit.denetim</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Tüm tıbbi kayıtları kurumsal denetim amacıyla görüntüleme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hekim</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tani.koy</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Tanı koyma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hekim</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recete.yaz</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Reçete yazma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hekim</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rapor.yaz</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Rapor ve epikriz düzenleme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hekim</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onam.al</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Aydınlatılmış onam alma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saglik</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onam.imzaya.sun</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Onam formunu imzaya sunma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randevu.goruntule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Randevuları görüntüleme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randevu.yonet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Randevu verme, değiştirme, iptal</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finans.goruntule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Gelir, gider ve kârlılığı görüntüleme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finans.tahsilat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Tahsilat alma ve kasa işlemleri</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finans.iade.onayla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İade ve fatura iptalini onaylama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graphicFrame>
        <p:nvGraphicFramePr>
          <p:cNvPr id="113" name="Table 1"/>
          <p:cNvGraphicFramePr>
            <a:graphicFrameLocks noGrp="1"/>
          </p:cNvGraphicFramePr>
          <p:nvPr>
            <p:extLst>
              <p:ext uri="{D42A27DB-BD31-4B8C-83A1-F6EECF244321}">
                <p14:modId xmlns:p14="http://schemas.microsoft.com/office/powerpoint/2010/main" val="1579011935"/>
              </p:ext>
            </p:extLst>
          </p:nvPr>
        </p:nvGraphicFramePr>
        <p:xfrm>
          <a:off x="6126480" y="1371600"/>
          <a:ext cx="5440680" cy="914400"/>
        </p:xfrm>
        <a:graphic>
          <a:graphicData uri="http://schemas.openxmlformats.org/drawingml/2006/table">
            <a:tbl>
              <a:tblPr/>
              <a:tblGrid>
                <a:gridCol w="1737360"/>
                <a:gridCol w="3017520"/>
                <a:gridCol w="68580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İzin kodu</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Açıklama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Seviye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fiyat.yonet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Fiyat listesini düzenleme (onaya düşer)</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fiyat.onayla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Fiyat listesi değişikliğini onaylama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stok.goruntule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Stoku görüntüleme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stok.yonet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Stok giriş, çıkış, sayım</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narkotik.yonet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Narkotik ve psikotrop ilaç hareketleri</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saglik</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personel.goruntule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Personel bilgilerini görüntüleme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personel.yonet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Personel özlük ve belge yönetimi</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belge.kurum.yonet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Ruhsat ve kurum belgelerini yönetme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nobet.planla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Nöbet ve vardiya planlama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nobet.onayla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Nöbet listesini onaylayıp yayınlama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kullanici.yonet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Kullanıcı davet etme ve idari rol atama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mesul.mudur.ata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Mesul müdür atama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yetki.saglik.onayla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Sağlık rolü atamalarını onaylama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hekim</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kalite.yonet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Kalite, SKS ve DÖF yönetimi</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olay.bildir</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Olay bildirimi yapma</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denetim.goruntule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Denetim izini (erişim kayıtları) görüntüleme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ayar.yonet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Kurum ayarlarını yönetme</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serbest</a:t>
                      </a:r>
                      <a:endParaRPr lang="en-US" sz="800" dirty="0">
                        <a:latin typeface="Calibri" charset="0"/>
                        <a:ea typeface="Calibri" charset="0"/>
                        <a:cs typeface="Calibri" charset="0"/>
                      </a:endParaRPr>
                    </a:p>
                  </a:txBody>
                  <a:tcPr marL="38100" marR="381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Ek: denetim izine yazılan olay türleri</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71 farklı olay türü; her biri kullanıcı, zaman, şube, IP ve ayrıntıyla.</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57</a:t>
            </a:r>
            <a:endParaRPr lang="en-US" sz="9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3611880" cy="914400"/>
        </p:xfrm>
        <a:graphic>
          <a:graphicData uri="http://schemas.openxmlformats.org/drawingml/2006/table">
            <a:tbl>
              <a:tblPr/>
              <a:tblGrid>
                <a:gridCol w="1600200"/>
                <a:gridCol w="201168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Kod</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Görünen ad</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kurum.kayit</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Kurum kaydı oluşturuldu</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giris.basarili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Giriş yapıldı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giris.basarisiz</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Başarısız giriş denemesi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kullanici.olusturuldu</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Kullanıcı 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rol.atandi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Rol atandı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rol.atama.reddedildi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Rol ataması reddedildi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erisim.reddedildi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Yetkisiz erişim denemesi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hasta.olusturuldu</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 kaydedildi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hasta.goruntulendi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 kartı görüntülendi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hasta.arandi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 araması yapıldı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hasta.guncellendi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 bilgileri güncellendi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hasta.kimlik.goruntulendi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Açık kimlik no görüntülendi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hasta.uyari.eklendi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 uyarısı 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hasta.uyari.kaldirildi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Hasta uyarısı kaldırıldı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riza.verildi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Açık rıza verildi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riza.geri.cekildi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Açık rıza geri çekildi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hayvan.olusturuldu</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Hayvan kaydedildi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randevu.olusturuldu</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Randevu verildi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randevu.durum</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Randevu durumu değişti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randevu.tasindi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Randevu taşındı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kaynak.olusturuldu</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Oda / cihaz 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muayene.acildi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 kaydı açıldı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muayene.goruntulendi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 kaydı görüntülendi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muayene.guncellendi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 kaydı güncellendi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graphicFrame>
        <p:nvGraphicFramePr>
          <p:cNvPr id="115" name="Table 1"/>
          <p:cNvGraphicFramePr>
            <a:graphicFrameLocks noGrp="1"/>
          </p:cNvGraphicFramePr>
          <p:nvPr>
            <p:extLst>
              <p:ext uri="{D42A27DB-BD31-4B8C-83A1-F6EECF244321}">
                <p14:modId xmlns:p14="http://schemas.microsoft.com/office/powerpoint/2010/main" val="1579011935"/>
              </p:ext>
            </p:extLst>
          </p:nvPr>
        </p:nvGraphicFramePr>
        <p:xfrm>
          <a:off x="4270248" y="1325880"/>
          <a:ext cx="3611880" cy="914400"/>
        </p:xfrm>
        <a:graphic>
          <a:graphicData uri="http://schemas.openxmlformats.org/drawingml/2006/table">
            <a:tbl>
              <a:tblPr/>
              <a:tblGrid>
                <a:gridCol w="1600200"/>
                <a:gridCol w="201168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Kod</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Görünen ad</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muayene.imzalandi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 kaydı imzalandı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muayene.imza.reddedildi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İmza reddedildi (parola)</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muayene.ek.not</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Muayeneye ek not 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muayene.listelendi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Muayene geçmişi görüntülendi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acil.erisim</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ACİL ERİŞİM açıldı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hizmet.olusturuldu</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Hizmet 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fiyat.degisti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Fiyat değiştirildi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fiyat.talep</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Fiyat onaya gönderildi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fiyat.onaylandi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Fiyat onaylandı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fiyat.reddedildi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Fiyat talebi reddedildi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hesap.kalem</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Hesaba hizmet 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hesap.kalem.iptal</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Hesap kalemi iptal 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tahsilat</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Tahsilat alındı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iade</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İade yapıldı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kasa.kapandi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Kasa kapatıldı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kasa.kapandi.farkli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Kasa FARKLI kapatıldı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belge.eklendi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Belge 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belge.kaldirildi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Belge kaldırıldı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belge.dosya.indirildi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Belge dosyası indirildi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personel.goruntulendi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Personel kartı görüntülendi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personel.guncellendi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Personel bilgileri güncellendi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cizelge.olusturuldu</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Nöbet çizelgesi oluşturuldu</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gorev.eklendi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Çizelgeye görev 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gorev.silindi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Çizelgeden görev silindi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graphicFrame>
        <p:nvGraphicFramePr>
          <p:cNvPr id="172" name="Table 2"/>
          <p:cNvGraphicFramePr>
            <a:graphicFrameLocks noGrp="1"/>
          </p:cNvGraphicFramePr>
          <p:nvPr>
            <p:extLst>
              <p:ext uri="{D42A27DB-BD31-4B8C-83A1-F6EECF244321}">
                <p14:modId xmlns:p14="http://schemas.microsoft.com/office/powerpoint/2010/main" val="1579011935"/>
              </p:ext>
            </p:extLst>
          </p:nvPr>
        </p:nvGraphicFramePr>
        <p:xfrm>
          <a:off x="7991856" y="1325880"/>
          <a:ext cx="3611880" cy="914400"/>
        </p:xfrm>
        <a:graphic>
          <a:graphicData uri="http://schemas.openxmlformats.org/drawingml/2006/table">
            <a:tbl>
              <a:tblPr/>
              <a:tblGrid>
                <a:gridCol w="1600200"/>
                <a:gridCol w="201168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Kod</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Görünen ad</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cizelge.onaya.gonderildi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Çizelge onaya gönderildi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cizelge.onaylandi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Çizelge onaylandı ve yayınlandı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cizelge.ihlalle.onaylandi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Çizelge KURAL İHLALİYLE onaylandı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cizelge.reddedildi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Çizelge reddedildi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cizelge.revizyon</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Çizelge taslağa alındı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cizelge.karar.reddedildi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Çizelge onayı reddedildi (kendi çizelgesi)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nobet.ayar</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Nöbet kuralları değişti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izin.eklendi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Personel izni 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izin.iptal</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Personel izni iptal 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urun.olusturuldu</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Stok ürünü eklendi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urun.guncellendi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Stok ürünü güncellendi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stok.hareket</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Stok hareketi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stok.sayim.farki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Stok sayım düzeltmesi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lot.izleme</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Lot izleme (hasta listesi) sorgulandı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olay.bildirildi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Olay bildirildi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olay.guncellendi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Olay incelemesi güncellendi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olay.kapatildi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Olay kapatıldı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sikayet.kaydedildi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Şikâyet kaydedildi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sikayet.cevaplandi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Şikâyet cevaplandı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sikayet.kapatildi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Şikâyet kapatıldı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dof.acildi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DÖF açıldı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dof.tamamlandi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DÖF tamamlandı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dof.dogrulandi</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750" dirty="0">
                          <a:solidFill>
                            <a:srgbClr val="13232A"/>
                          </a:solidFill>
                          <a:latin typeface="Calibri" pitchFamily="34" charset="0"/>
                          <a:ea typeface="Calibri" pitchFamily="34" charset="-122"/>
                          <a:cs typeface="Calibri" pitchFamily="34" charset="-120"/>
                        </a:rPr>
                        <a:t>DÖF etkinliği doğrulandı</a:t>
                      </a:r>
                      <a:endParaRPr lang="en-US" sz="75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Ek: kullanıcıya gösterilen hata mesajları (1/2)</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Toplam 74 kod; her ret kodla ve anlaşılır Türkçe mesajla döner.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58</a:t>
            </a:r>
            <a:endParaRPr lang="en-US" sz="9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440680" cy="914400"/>
        </p:xfrm>
        <a:graphic>
          <a:graphicData uri="http://schemas.openxmlformats.org/drawingml/2006/table">
            <a:tbl>
              <a:tblPr/>
              <a:tblGrid>
                <a:gridCol w="1783080"/>
                <a:gridCol w="365760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Kod</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Mesaj</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GIRIS_BASARISIZ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E-posta veya parola hatalı.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EPOSTA_KULLANIMDA</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e-posta adresiyle kayıtlı bir kullanıcı 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KIMLIK_GEREKLI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Oturumunuz sona erdi. Lütfen tekrar giriş yapın.</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YETKI_YOK</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işlem için yetkiniz yok.</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MESLEK_UYGUN_DEGIL</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rol, kişinin mesleğine atanamaz.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KENDI_YETKISI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Kendinize rol atayamazsınız; başka bir yetkili atamalıdır.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ROL_ZATEN_ATANMIS</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rol bu kapsamda zaten atanmış.</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SUBE_BULUNAMADI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Şube bulunamadı.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GECERSIZ_ISTEK</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Bazı alanlar geçersiz.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HASTA_BULUNAMADI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Hasta bulunamadı.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HASTA_ZATEN_KAYITLI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kimlik numarasıyla kayıtlı bir hasta 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BENZER_KAYIT_VAR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Benzer bilgilere sahip kayıtlı hasta 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VETERINER_SUBE_YOK</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Hayvan kaydı için kurumda veteriner şubesi bulunmalı.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HEKIM_DOLU</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Hekimin bu saatte başka bir randevusu 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KAYNAK_DOLU</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Oda / cihaz bu saatte başka bir randevuda kullanılıyor.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SUBE_SECILMELI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Randevu işlemleri için bir şube seçin.</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GECERSIZ_DURUM_GECISI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Randevu bu duruma geçirilemez.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HEKIM_UYGUN_DEGIL</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Seçilen kişiye bu şubede randevu verilemez.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HAYVAN_GEREKLI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Veteriner şubesinde randevu bir hayvan için verilir.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graphicFrame>
        <p:nvGraphicFramePr>
          <p:cNvPr id="117" name="Table 1"/>
          <p:cNvGraphicFramePr>
            <a:graphicFrameLocks noGrp="1"/>
          </p:cNvGraphicFramePr>
          <p:nvPr>
            <p:extLst>
              <p:ext uri="{D42A27DB-BD31-4B8C-83A1-F6EECF244321}">
                <p14:modId xmlns:p14="http://schemas.microsoft.com/office/powerpoint/2010/main" val="1579011935"/>
              </p:ext>
            </p:extLst>
          </p:nvPr>
        </p:nvGraphicFramePr>
        <p:xfrm>
          <a:off x="6126480" y="1325880"/>
          <a:ext cx="5440680" cy="914400"/>
        </p:xfrm>
        <a:graphic>
          <a:graphicData uri="http://schemas.openxmlformats.org/drawingml/2006/table">
            <a:tbl>
              <a:tblPr/>
              <a:tblGrid>
                <a:gridCol w="1783080"/>
                <a:gridCol w="365760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Kod</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Mesaj</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TASINAMAZ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Yalnızca henüz gelinmemiş randevular taşınabilir.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KAYNAK_ADI_KULLANIMDA</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şubede aynı adlı bir oda / cihaz 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RANDEVU_BULUNAMADI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Randevu bulunamadı.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TEDAVI_ILISKISI_YOK</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hastayla tedavi ilişkiniz yok.</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HASTA_GELMEDI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Muayene kaydı, hasta kabul edildikten sonra açılır.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TANI_GEREKLI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Önce tanı girin.</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MUAYENE_IMZALI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İmzalanmış kayıt değiştirilemez; ek not ekleyin.</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KAYDIN_HEKIMI_DEGIL</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işlemi yalnızca muayeneyi yapan hekim yapabilir.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PAROLA_HATALI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Parola hatalı; kayıt imzalanmadı.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MUAYENE_BULUNAMADI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Muayene kaydı bulunamadı.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HIZMET_ONAYSIZ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Hizmetin fiyatı henüz onaylanmadı.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HIZMET_KODU_KULLANIMDA</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kodla bir hizmet 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BEKLEYEN_TALEP_VAR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hizmet için onay bekleyen bir fiyat talebi 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KENDI_TALEBI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Kendi talebinizi onaylayamazsınız.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INDIRIM_ONAY_GEREKLI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orandaki indirimi yalnızca yetkili yönetici uygulayabilir.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GOREVLER_AYRILIGI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Tahsilatı alan kişi iadesini yapamaz; başka bir yetkili yapmalıdır.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IADE_TUTARI_ASIMI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İade toplamı tahsil edilen tutarı aşamaz.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KASA_KAPALI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Bugünün kasası kapatıldı; yeni hareket girilemez.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Ek: kullanıcıya gösterilen hata mesajları (2/2)</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Toplam 74 kod; her ret kodla ve anlaşılır Türkçe mesajla döner.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59</a:t>
            </a:r>
            <a:endParaRPr lang="en-US" sz="9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440680" cy="914400"/>
        </p:xfrm>
        <a:graphic>
          <a:graphicData uri="http://schemas.openxmlformats.org/drawingml/2006/table">
            <a:tbl>
              <a:tblPr/>
              <a:tblGrid>
                <a:gridCol w="1783080"/>
                <a:gridCol w="365760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Kod</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Mesaj</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KASA_ZATEN_KAPALI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günün kasası zaten kapatılmış.</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FARK_ACIKLAMASI_GEREKLI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Kasada fark var; açıklama yazın.</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MIKROCIP_KAYITLI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mikroçip numarasıyla kayıtlı bir hayvan 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BELGE_SURESI_DOLDU</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Zorunlu belgenizin süresi dolduğu için bu işlem askıya alındı. Yenilenmiş belgeyi personel birimine iletin.</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DOSYA_TURU</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Yalnızca PDF, JPEG veya PNG dosyası yüklenebilir.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DOSYA_BUYUK</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Dosya en çok 10 MB olabilir.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PERSONEL_BULUNAMADI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Personel bulunamadı.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BELGE_BULUNAMADI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Belge bulunamadı.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BELGE_KALDIRILMIS</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Belge zaten kaldırılmış.</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DOSYA_YOK</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belgeye dosya eklenmemiş.</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GOREV_CAKISMASI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Kişinin bu saatlerde başka bir görevi 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IZINLI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Kişi bu tarihte izinli.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IZIN_GOREV_CAKISMASI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tarihlerde kişinin çizelgede görevi var; önce görevi değiştirin.</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CIZELGE_KILITLI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Onaya gönderilmiş veya yayındaki çizelge değiştirilemez.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KENDI_CIZELGESI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Onaya kendi gönderdiğiniz çizelgeyi onaylayamazsınız.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IHLAL_GEREKCESI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Çizelgede kural ihlali var; onay için gerekçe yazın.</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CIZELGE_BOS</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Boş çizelge onaya gönderilemez.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AY_DISI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Görev, çizelgenin ayında başlamalı.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SUBE_PERSONELI_DEGIL</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kişinin bu şubede rolü yok.</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graphicFrame>
        <p:nvGraphicFramePr>
          <p:cNvPr id="119" name="Table 1"/>
          <p:cNvGraphicFramePr>
            <a:graphicFrameLocks noGrp="1"/>
          </p:cNvGraphicFramePr>
          <p:nvPr>
            <p:extLst>
              <p:ext uri="{D42A27DB-BD31-4B8C-83A1-F6EECF244321}">
                <p14:modId xmlns:p14="http://schemas.microsoft.com/office/powerpoint/2010/main" val="1579011935"/>
              </p:ext>
            </p:extLst>
          </p:nvPr>
        </p:nvGraphicFramePr>
        <p:xfrm>
          <a:off x="6126480" y="1325880"/>
          <a:ext cx="5440680" cy="914400"/>
        </p:xfrm>
        <a:graphic>
          <a:graphicData uri="http://schemas.openxmlformats.org/drawingml/2006/table">
            <a:tbl>
              <a:tblPr/>
              <a:tblGrid>
                <a:gridCol w="1783080"/>
                <a:gridCol w="365760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Kod</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Mesaj</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URUN_KODU_KULLANIMDA</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kodla bir ürün var.</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URUN_BULUNAMADI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Ürün bulunamadı.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URUN_PASIF</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Pasif ürüne giriş yapılamaz.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NARKOTIK_YETKI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Narkotik ve psikotrop ilaç hareketi için yetkiniz yok.</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SAHIT_GEREKLI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ilaç için şahit seçin.</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SAHIT_UYGUN_DEGIL</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Şahit, işlemi yapandan farklı bir sağlık meslek mensubu olmalı.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STOK_YETERSIZ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Lot bakiyesi yetersiz.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SKT_GECMIS</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Son kullanma tarihi geçmiş ürün hastaya kullanılamaz; fire olarak imha edin.</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LOT_SKT_FARKLI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lot numarası farklı bir SKT ile kayıtlı.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OLAY_BULUNAMADI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takip koduyla bildirim bulunamadı.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OLAY_KAPALI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Kapatılmış olay değiştirilemez.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KOK_NEDEN_GEREKLI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Orta ve ciddi olay, kök neden ve alınan önlem yazılmadan kapatılamaz.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SIKAYET_BULUNAMADI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Şikâyet bulunamadı.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SIKAYET_CEVAPLANMIS</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Bu şikâyet zaten cevaplandı.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TIBBI_DEGERLENDIRME</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Tıbbi içerikli şikâyeti başhekim veya mesul müdür cevaplamalı.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GELECEK_TARIH</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Alınış tarihi ileri bir gün olamaz.</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DOF_BULUNAMADI</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DÖF bulunamadı.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KENDI_DOF</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800" dirty="0">
                          <a:solidFill>
                            <a:srgbClr val="13232A"/>
                          </a:solidFill>
                          <a:latin typeface="Calibri" pitchFamily="34" charset="0"/>
                          <a:ea typeface="Calibri" pitchFamily="34" charset="-122"/>
                          <a:cs typeface="Calibri" pitchFamily="34" charset="-120"/>
                        </a:rPr>
                        <a:t>Tamamladığınız DÖF’ün etkinliğini başka bir yetkili doğrulamalı.</a:t>
                      </a:r>
                      <a:endParaRPr lang="en-US" sz="800" dirty="0">
                        <a:latin typeface="Calibri" charset="0"/>
                        <a:ea typeface="Calibri" charset="0"/>
                        <a:cs typeface="Calibri" charset="0"/>
                      </a:endParaRPr>
                    </a:p>
                  </a:txBody>
                  <a:tcPr marL="25400" marR="25400" marT="12700" marB="127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Ek: API uç noktaları (1/2)</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Tümü /api/v1 altında; x-sube-id başlığı şube bağlamını verir.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60</a:t>
            </a:r>
            <a:endParaRPr lang="en-US" sz="9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303520"/>
                <a:gridCol w="5760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Uç nokta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Açıklama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 /kurum-tipleri · POST /kurum-tipleri/onizleme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Kayıt sihirbazı: tipler ve seçime göre modül/rol/belge/entegrasyon listesi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POST /kimlik/kayit</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Kurum kaydı (veteriner + insan sağlığı seçilirse ayrı şubeler açılır)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POST /kimlik/giris</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Giriş, 8 saatlik oturum anahtarı</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 /ben</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Oturumdaki kullanıcı, şubeler, roller ve (`x-sube-id` başlığına göre) etkin izinler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GET/POST /kullanicilar · POST /kullanicilar/:id/roller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Kullanıcı ekleme ve kurallı rol atama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GET/POST /hastalar · GET/PATCH /hastalar/:id</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Hasta arama (Türkçe karakterden bağımsız), kayıt (KVKK aydınlatma zorunlu, mükerrer önleme), kart</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 /hastalar/:id/kimlik-no · POST /hastalar/:id/rizalar · …/uyarilar · …/hayvanlar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Açık kimlik no (kayıtlı), rıza verme/geri çekme, role göre görünen uyarılar, hayvan kaydı</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GET/POST /kaynaklar · GET /randevular/takvim · POST /randevular · …/:id/durum · …/:id/tasi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Oda/cihaz, günlük takvim, çakışmasız randevu, kabul (sıra no), muayene, iptal, taşıma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POST /muayeneler · GET/PATCH /muayeneler/:id · …/imzala · …/ek-not · GET /hastalar/:id/muayeneler · POST /hastalar/:id/acil-erisim · GET /icd10</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Muayene kaydı (tedavi ilişkisi şartı), parolalı imza ve kilit, ek not, geçmiş, gerekçeli acil erişim, ICD-10 arama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GET/POST /hizmetler · POST /hizmetler/:id/fiyat · GET /fiyat-talepleri · POST /fiyat-talepleri/:id/karar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Hizmet kataloğu; fiyat değişikliği dört göz ilkesiyle (talep eden onaylayamaz)</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 /hastalar/:id/hesap · POST …/hesap/kalemler · …/kalemler/:id/iptal · POST /hastalar/:id/tahsilatlar · POST /tahsilatlar/:id/iade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Hasta hesabı; %20 üstü indirim ve iade yönetici onaylı; tahsilatı alan iade edemez</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 /kasa · POST /kasa/kapanis</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Ödeme türüne göre gün sonu kasa; fark açıklamasız kapatılamaz, kapalı güne hareket girilmez</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Ek: API uç noktaları (2/2)</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Tümü /api/v1 altında; x-sube-id başlığı şube bağlamını verir.</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61</a:t>
            </a:r>
            <a:endParaRPr lang="en-US" sz="9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303520"/>
                <a:gridCol w="5760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Uç nokta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Açıklama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 /personel · GET/PATCH /personel/:id</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Personel listesi (belge durumu özetiyle), personel kartı (kişi kendi kartını görür), özlük bilgileri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POST /belgeler · POST /belgeler/:id/kaldir · GET /belgeler/:id/dosya · GET /kurum-belgeleri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Personel ve kurum belgeleri; dosya türü imzadan doğrulanır, içerik şifreli saklanır, indirme kayda geçer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GET/POST /cizelge · POST /cizelge/:id/gorevler · …/onaya-gonder · …/karar · …/revizyon · POST /gorevler/:id/sil · GET /gorevlerim</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Aylık nöbet/vardiya çizelgesi: çakışma ve izin engeli, süre kuralı ihlalleri, dört göz onayı</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GET/PATCH /nobet/ayarlar · GET/POST /personel/:id/izinler · POST /izinler/:id/iptal</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Nöbet kuralları (kurum ayarı) ve personel izinleri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GET/POST /urunler · GET/PATCH /urunler/:id · POST /urunler/:id/hareketler · GET /urunler/:id/lot-izleme · GET /stok/sahitler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Stok: lot/SKT, FEFO, hastaya kullanım, fire, sayım farkı; SKT geçmiş ürün kullanılamaz; narkotik şahitli; lot → hasta izleme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POST /olaylar · GET /olaylar/takip/:kod · GET /olaylarim · GET/PATCH /olaylar(/:id)</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Olay bildirimi (isimsiz seçenekli, takip kodu), inceleme ve kök nedenle kapatma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GET/POST /sikayetler · …/:id/cevap · …/:id/kapat</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Şikâyet: resmî kanalda cevap süresi sayacı; tıbbi şikâyete başhekim/mesul cevap verir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GET/POST /dofler · …/:id/tamamla · …/:id/dogrula · GET /kalite/kisiler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DÖF: sorumlu tamamlar, başka kalite yetkilisi etkinliği doğrular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 /alarmlar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Alarm motoru: süresi yaklaşan/geçen ve eksik zorunlu belgeler; görünürlük eskalasyon kuralına göre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 /komuta/ozet</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Komuta Merkezi: bugünkü randevu, ciro, alacak, bekleme süresi, 14 günlük tahsilat</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GET /denetim-izi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Hash zincirli, değiştirilemez erişim ve işlem kayıtları</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Ek: alınan kararlar (1/3)</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Tam metinler: docs/11-alinan-kararlar.md</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62</a:t>
            </a:r>
            <a:endParaRPr lang="en-US" sz="9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48640"/>
                <a:gridCol w="1737360"/>
                <a:gridCol w="877824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Konu</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Karar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İş modeli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Çok kliniğe satılacak SaaS ürünü</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K2</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Kurum tipleri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Tüm kurum tipleri tek uygulamada. Kayıtta seçilen kurum tipi (tıp merkezi, diş, estetik, veteriner, evde sağlık…) o tipe ait modülleri, alanları, formları, rolleri ve mevzuat kurallarını otomatik getirir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K3</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Resmî entegrasyonlar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Başlangıçta tescilli bir aracı entegrasyon servisi kullanılacak; ileride kendi tescilimize geçiş opsiyonu açık tutulacak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K4</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Geliştirme ve platform</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Kodu Claude yazacak; önce web (tablet uyumlu), mobil uygulamalar sonraki fazda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K5</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Muhasebe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Ön muhasebe + aktarım. Resmî defter ve bordro dış programlarda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K6</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Ek özellik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Çok dil ilk sürümde: Türkçe, İngilizce, Arapça (sağdan sola), Rusça, Almanca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K7</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Marka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“DC Doktor Klinik” ürün adıdır; logo/renk kimliği tarafımızdan önerilecek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Ek: alınan kararlar (2/3)</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Tam metinler: docs/11-alinan-kararlar.md</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63</a:t>
            </a:r>
            <a:endParaRPr lang="en-US" sz="9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48640"/>
                <a:gridCol w="1737360"/>
                <a:gridCol w="877824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Konu</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Karar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K8</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Hukuk ve pilot</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Şimdilik avukat ve pilot kurum yok. Hukuki metin taslakları Claude tarafından hazırlanacak, canlıya çıkmadan önce hukukçu onayı alınacak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K9</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Fiyatlandırma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Şube başına temel ücret + aktif hekim sayısı + isteğe bağlı ek modüller (SGK/MEDULA, evde sağlık, turizm, SMS paketi)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K10</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Barındırma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Türkiye’de bulut; somut sağlayıcı canlıya yakın karşılaştırılıp seçilecek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K11</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Teknoloji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Claude’a bırakıldı → TypeScript + NestJS (modüler monolit), PostgreSQL, React + Next.js; mobil için ileride React Native</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K12</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e-Fatura ve SGK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Esnek yapı: e-Fatura birden fazla entegratöre bağlanabilir adaptörle; MEDULA açılıp kapatılabilen ek modül (SGK anlaşması olmayan kurumda görünmez)</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K13</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Sonraki adım</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Logo/renk önerisi + ekran taslakları (Komuta Merkezi, randevu, muayene, kurum kayıt sihirbazı), onaydan sonra kodlama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K14</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Veteriner önceliği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Veteriner çekirdekte kalır, öncelik insan sağlığı kliniklerindedir. Ortak altyapı (hasta/sahip–hayvan, randevu, stok, kasa, yetki) her iki tarafa hizmet eder; veterinere özgü modüller (yatılı tedavi, pansiyon, pet-shop, aşı hatırlatma, TOB kayıt sistemleri) insan sağlığı ürünü satışa hazır olduktan sonra, ayrı bir “Vet” sürümü/tanıtımıyla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0E4F5C"/>
                </a:solidFill>
                <a:latin typeface="Calibri" pitchFamily="34" charset="0"/>
                <a:ea typeface="Calibri" pitchFamily="34" charset="-122"/>
                <a:cs typeface="Calibri" pitchFamily="34" charset="-120"/>
              </a:rPr>
              <a:t>Ek: alınan kararlar (3/3)</a:t>
            </a:r>
            <a:endParaRPr lang="en-US" sz="2800" dirty="0"/>
          </a:p>
        </p:txBody>
      </p:sp>
      <p:sp>
        <p:nvSpPr>
          <p:cNvPr id="3" name="Text 1"/>
          <p:cNvSpPr txBox="1"/>
          <p:nvPr/>
        </p:nvSpPr>
        <p:spPr>
          <a:xfrm>
            <a:off x="548640" y="932688"/>
            <a:ext cx="11094415" cy="365760"/>
          </a:xfrm>
          <a:prstGeom prst="rect">
            <a:avLst/>
          </a:prstGeom>
          <a:noFill/>
          <a:ln/>
        </p:spPr>
        <p:txBody>
          <a:bodyPr wrap="square" lIns="0" tIns="0" rIns="0" bIns="0" rtlCol="0" anchor="t"/>
          <a:lstStyle/>
          <a:p>
            <a:pPr indent="0" marL="0">
              <a:buNone/>
            </a:pPr>
            <a:r>
              <a:rPr lang="en-US" sz="1400" dirty="0">
                <a:solidFill>
                  <a:srgbClr val="3D4F57"/>
                </a:solidFill>
                <a:latin typeface="Calibri" pitchFamily="34" charset="0"/>
                <a:ea typeface="Calibri" pitchFamily="34" charset="-122"/>
                <a:cs typeface="Calibri" pitchFamily="34" charset="-120"/>
              </a:rPr>
              <a:t>Tam metinler: docs/11-alinan-kararlar.md</a:t>
            </a:r>
            <a:endParaRPr lang="en-US" sz="14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00" dirty="0">
                <a:solidFill>
                  <a:srgbClr val="6B7B80"/>
                </a:solidFill>
                <a:latin typeface="Calibri" pitchFamily="34" charset="0"/>
                <a:ea typeface="Calibri" pitchFamily="34" charset="-122"/>
                <a:cs typeface="Calibri" pitchFamily="34" charset="-120"/>
              </a:rPr>
              <a:t>DC Doktor Klinik · Ürün sunumu</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t"/>
          <a:lstStyle/>
          <a:p>
            <a:pPr algn="r" indent="0" marL="0">
              <a:buNone/>
            </a:pPr>
            <a:r>
              <a:rPr lang="en-US" sz="900" dirty="0">
                <a:solidFill>
                  <a:srgbClr val="6B7B80"/>
                </a:solidFill>
                <a:latin typeface="Calibri" pitchFamily="34" charset="0"/>
                <a:ea typeface="Calibri" pitchFamily="34" charset="-122"/>
                <a:cs typeface="Calibri" pitchFamily="34" charset="-120"/>
              </a:rPr>
              <a:t>64</a:t>
            </a:r>
            <a:endParaRPr lang="en-US" sz="9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48640"/>
                <a:gridCol w="1737360"/>
                <a:gridCol w="877824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Konu</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Karar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0E4F5C"/>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K15</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Belge süresi dolunca</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Yalnızca süresi geçmiş belge işlem askıya alır; hiç yüklenmemiş belge uyarı üretir. Şimdilik askıya alan tek belge malpraktis sigortasıdır (tanı, reçete, rapor, onam, tıbbi kayda giriş kapanır; görüntüleme açık kalır). Personel yöneticisi kendi belgesini de ekleyebilir; bu kayıt “kişinin kendisi ekledi” olarak işaretlenir ve denetim izine dosya özetiyle yazılır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K16</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Nöbet kuralları</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Yasal varsayılanlar: haftada en çok 45 saat, nöbet sonrası en az 24 saat dinlenme, en çok 2 gece üst üste; kurum ayarlardan değiştirebilir. Çakışan görev ve izinli güne görev veritabanında engellenir; süre kuralı ihlali engellemez, onaylayanın gerekçesiyle yayınlanabilir. Çizelgeyi onaya gönderen onaylayamaz</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K17</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Olay bildirimi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İsimsiz bildirim seçeneği olacak. Bildiren isterse adı kalite ekibinden gizlenir; sistem kaydı denetim izinde kalır (suçlamasız bildirim kültürü, SKS)</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K18</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Sürüm yönetimi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Bir `main` dalı açılıp çalışma PR ile birleştirilecek</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7FAF9"/>
                    </a:solidFill>
                  </a:tcPr>
                </a:tc>
              </a:tr>
              <a:tr h="0">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K19</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Narkotik yetkisi</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c>
                  <a:txBody>
                    <a:bodyPr/>
                    <a:lstStyle/>
                    <a:p>
                      <a:pPr indent="0" marL="0">
                        <a:buNone/>
                      </a:pPr>
                      <a:r>
                        <a:rPr lang="en-US" sz="1000" dirty="0">
                          <a:solidFill>
                            <a:srgbClr val="13232A"/>
                          </a:solidFill>
                          <a:latin typeface="Calibri" pitchFamily="34" charset="0"/>
                          <a:ea typeface="Calibri" pitchFamily="34" charset="-122"/>
                          <a:cs typeface="Calibri" pitchFamily="34" charset="-120"/>
                        </a:rPr>
                        <a:t>Narkotik/psikotrop ilacın her hareketini narkotik sorumlusu (mesul müdür, başhemşire) yapar; depo sorumlusu yapamaz. Çıkış ve sayımda işlemi yapandan farklı bir sağlık meslek mensubu şahit zorunludur; sayım farkı mesul müdüre kritik alarm üretir</a:t>
                      </a:r>
                      <a:endParaRPr lang="en-US" sz="1000" dirty="0">
                        <a:latin typeface="Calibri" charset="0"/>
                        <a:ea typeface="Calibri" charset="0"/>
                        <a:cs typeface="Calibri" charset="0"/>
                      </a:endParaRPr>
                    </a:p>
                  </a:txBody>
                  <a:tcPr marL="50800" marR="50800" marT="38100" marB="38100" anchor="ctr">
                    <a:lnL w="6350" cap="flat" cmpd="sng" algn="ctr">
                      <a:solidFill>
                        <a:srgbClr val="E2DED4"/>
                      </a:solidFill>
                      <a:prstDash val="solid"/>
                      <a:round/>
                      <a:headEnd type="none" w="med" len="med"/>
                      <a:tailEnd type="none" w="med" len="med"/>
                    </a:lnL>
                    <a:lnR w="6350" cap="flat" cmpd="sng" algn="ctr">
                      <a:solidFill>
                        <a:srgbClr val="E2DED4"/>
                      </a:solidFill>
                      <a:prstDash val="solid"/>
                      <a:round/>
                      <a:headEnd type="none" w="med" len="med"/>
                      <a:tailEnd type="none" w="med" len="med"/>
                    </a:lnR>
                    <a:lnT w="6350" cap="flat" cmpd="sng" algn="ctr">
                      <a:solidFill>
                        <a:srgbClr val="E2DED4"/>
                      </a:solidFill>
                      <a:prstDash val="solid"/>
                      <a:round/>
                      <a:headEnd type="none" w="med" len="med"/>
                      <a:tailEnd type="none" w="med" len="med"/>
                    </a:lnT>
                    <a:lnB w="6350" cap="flat" cmpd="sng" algn="ctr">
                      <a:solidFill>
                        <a:srgbClr val="E2DED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E4F5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822960"/>
            <a:ext cx="914400" cy="914400"/>
          </a:xfrm>
          <a:prstGeom prst="rect">
            <a:avLst/>
          </a:prstGeom>
        </p:spPr>
      </p:pic>
      <p:sp>
        <p:nvSpPr>
          <p:cNvPr id="3" name="Text 0"/>
          <p:cNvSpPr txBox="1"/>
          <p:nvPr/>
        </p:nvSpPr>
        <p:spPr>
          <a:xfrm>
            <a:off x="731520" y="2103120"/>
            <a:ext cx="7315200" cy="7315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Kaynaklar</a:t>
            </a:r>
            <a:endParaRPr lang="en-US" sz="3600" dirty="0"/>
          </a:p>
        </p:txBody>
      </p:sp>
      <p:sp>
        <p:nvSpPr>
          <p:cNvPr id="4" name="Text 1"/>
          <p:cNvSpPr txBox="1"/>
          <p:nvPr/>
        </p:nvSpPr>
        <p:spPr>
          <a:xfrm>
            <a:off x="731520" y="2926080"/>
            <a:ext cx="10058400" cy="23774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CFE6DF"/>
                </a:solidFill>
                <a:latin typeface="Calibri" pitchFamily="34" charset="0"/>
                <a:ea typeface="Calibri" pitchFamily="34" charset="-122"/>
                <a:cs typeface="Calibri" pitchFamily="34" charset="-120"/>
              </a:rPr>
              <a:t>README.md — kurulum, klasörler, API tablosu</a:t>
            </a:r>
            <a:endParaRPr lang="en-US" sz="1600" dirty="0"/>
          </a:p>
          <a:p>
            <a:pPr marL="203200" indent="-203200">
              <a:spcAft>
                <a:spcPts val="800"/>
              </a:spcAft>
              <a:buSzPct val="100000"/>
              <a:buChar char="•"/>
            </a:pPr>
            <a:r>
              <a:rPr lang="en-US" sz="1600" dirty="0">
                <a:solidFill>
                  <a:srgbClr val="CFE6DF"/>
                </a:solidFill>
                <a:latin typeface="Calibri" pitchFamily="34" charset="0"/>
                <a:ea typeface="Calibri" pitchFamily="34" charset="-122"/>
                <a:cs typeface="Calibri" pitchFamily="34" charset="-120"/>
              </a:rPr>
              <a:t>docs/01–13 ve docs/moduller — tasarım dokümanları</a:t>
            </a:r>
            <a:endParaRPr lang="en-US" sz="1600" dirty="0"/>
          </a:p>
          <a:p>
            <a:pPr marL="203200" indent="-203200">
              <a:spcAft>
                <a:spcPts val="800"/>
              </a:spcAft>
              <a:buSzPct val="100000"/>
              <a:buChar char="•"/>
            </a:pPr>
            <a:r>
              <a:rPr lang="en-US" sz="1600" dirty="0">
                <a:solidFill>
                  <a:srgbClr val="CFE6DF"/>
                </a:solidFill>
                <a:latin typeface="Calibri" pitchFamily="34" charset="0"/>
                <a:ea typeface="Calibri" pitchFamily="34" charset="-122"/>
                <a:cs typeface="Calibri" pitchFamily="34" charset="-120"/>
              </a:rPr>
              <a:t>docs/11-alinan-kararlar.md — K1–K19</a:t>
            </a:r>
            <a:endParaRPr lang="en-US" sz="1600" dirty="0"/>
          </a:p>
          <a:p>
            <a:pPr marL="203200" indent="-203200">
              <a:spcAft>
                <a:spcPts val="800"/>
              </a:spcAft>
              <a:buSzPct val="100000"/>
              <a:buChar char="•"/>
            </a:pPr>
            <a:r>
              <a:rPr lang="en-US" sz="1600" dirty="0">
                <a:solidFill>
                  <a:srgbClr val="CFE6DF"/>
                </a:solidFill>
                <a:latin typeface="Calibri" pitchFamily="34" charset="0"/>
                <a:ea typeface="Calibri" pitchFamily="34" charset="-122"/>
                <a:cs typeface="Calibri" pitchFamily="34" charset="-120"/>
              </a:rPr>
              <a:t>docs/09-yol-haritasi.md — uygulama durumu ve sıradakiler</a:t>
            </a:r>
            <a:endParaRPr lang="en-US" sz="1600" dirty="0"/>
          </a:p>
          <a:p>
            <a:pPr marL="203200" indent="-203200">
              <a:spcAft>
                <a:spcPts val="800"/>
              </a:spcAft>
              <a:buSzPct val="100000"/>
              <a:buChar char="•"/>
            </a:pPr>
            <a:r>
              <a:rPr lang="en-US" sz="1600" dirty="0">
                <a:solidFill>
                  <a:srgbClr val="CFE6DF"/>
                </a:solidFill>
                <a:latin typeface="Calibri" pitchFamily="34" charset="0"/>
                <a:ea typeface="Calibri" pitchFamily="34" charset="-122"/>
                <a:cs typeface="Calibri" pitchFamily="34" charset="-120"/>
              </a:rPr>
              <a:t>apps/web/e2e — her modülün tarayıcı akış testi (canlı kullanım örneği)</a:t>
            </a:r>
            <a:endParaRPr lang="en-US" sz="1600" dirty="0"/>
          </a:p>
        </p:txBody>
      </p:sp>
      <p:sp>
        <p:nvSpPr>
          <p:cNvPr id="5" name="Text 2"/>
          <p:cNvSpPr txBox="1"/>
          <p:nvPr/>
        </p:nvSpPr>
        <p:spPr>
          <a:xfrm>
            <a:off x="731520" y="5852160"/>
            <a:ext cx="9144000" cy="365760"/>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DC Doktor Klinik · Klinik yönetimi, tek ekranda.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DC Doktor Klinik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Doktor Klinik — Ürün Sunumu</dc:title>
  <dc:subject>PptxGenJS Presentation</dc:subject>
  <dc:creator>PptxGenJS</dc:creator>
  <cp:lastModifiedBy>PptxGenJS</cp:lastModifiedBy>
  <cp:revision>1</cp:revision>
  <dcterms:created xsi:type="dcterms:W3CDTF">2026-09-25T10:25:20Z</dcterms:created>
  <dcterms:modified xsi:type="dcterms:W3CDTF">2026-09-25T10:25:20Z</dcterms:modified>
</cp:coreProperties>
</file>